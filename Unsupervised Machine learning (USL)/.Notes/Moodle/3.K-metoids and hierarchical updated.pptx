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6"/>
  </p:notesMasterIdLst>
  <p:sldIdLst>
    <p:sldId id="256" r:id="rId5"/>
    <p:sldId id="275" r:id="rId6"/>
    <p:sldId id="289" r:id="rId7"/>
    <p:sldId id="276" r:id="rId8"/>
    <p:sldId id="278" r:id="rId9"/>
    <p:sldId id="280" r:id="rId10"/>
    <p:sldId id="274" r:id="rId11"/>
    <p:sldId id="282" r:id="rId12"/>
    <p:sldId id="283" r:id="rId13"/>
    <p:sldId id="284" r:id="rId14"/>
    <p:sldId id="285" r:id="rId15"/>
    <p:sldId id="286" r:id="rId16"/>
    <p:sldId id="287" r:id="rId17"/>
    <p:sldId id="288" r:id="rId18"/>
    <p:sldId id="267" r:id="rId19"/>
    <p:sldId id="290" r:id="rId20"/>
    <p:sldId id="291" r:id="rId21"/>
    <p:sldId id="299" r:id="rId22"/>
    <p:sldId id="298" r:id="rId23"/>
    <p:sldId id="297" r:id="rId24"/>
    <p:sldId id="300" r:id="rId25"/>
    <p:sldId id="293" r:id="rId26"/>
    <p:sldId id="317" r:id="rId27"/>
    <p:sldId id="319" r:id="rId28"/>
    <p:sldId id="320" r:id="rId29"/>
    <p:sldId id="318" r:id="rId30"/>
    <p:sldId id="321" r:id="rId31"/>
    <p:sldId id="322" r:id="rId32"/>
    <p:sldId id="323" r:id="rId33"/>
    <p:sldId id="301" r:id="rId34"/>
    <p:sldId id="302" r:id="rId35"/>
    <p:sldId id="303" r:id="rId36"/>
    <p:sldId id="304" r:id="rId37"/>
    <p:sldId id="305" r:id="rId38"/>
    <p:sldId id="306" r:id="rId39"/>
    <p:sldId id="307" r:id="rId40"/>
    <p:sldId id="308" r:id="rId41"/>
    <p:sldId id="309" r:id="rId42"/>
    <p:sldId id="324" r:id="rId43"/>
    <p:sldId id="325" r:id="rId44"/>
    <p:sldId id="279" r:id="rId45"/>
    <p:sldId id="311" r:id="rId46"/>
    <p:sldId id="281" r:id="rId47"/>
    <p:sldId id="312" r:id="rId48"/>
    <p:sldId id="313" r:id="rId49"/>
    <p:sldId id="326" r:id="rId50"/>
    <p:sldId id="327" r:id="rId51"/>
    <p:sldId id="328" r:id="rId52"/>
    <p:sldId id="314" r:id="rId53"/>
    <p:sldId id="315" r:id="rId54"/>
    <p:sldId id="316"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11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40"/>
  </p:normalViewPr>
  <p:slideViewPr>
    <p:cSldViewPr>
      <p:cViewPr varScale="1">
        <p:scale>
          <a:sx n="83" d="100"/>
          <a:sy n="83" d="100"/>
        </p:scale>
        <p:origin x="1426" y="5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C9C558-FAF8-4CA0-A309-1CF8F58B4995}" type="datetimeFigureOut">
              <a:rPr lang="en-US" smtClean="0"/>
              <a:t>2/27/2025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6C19ED-1F4E-4AC5-84FE-DB46026FA174}" type="slidenum">
              <a:rPr lang="en-US" smtClean="0"/>
              <a:t>‹#›</a:t>
            </a:fld>
            <a:endParaRPr lang="en-US"/>
          </a:p>
        </p:txBody>
      </p:sp>
    </p:spTree>
    <p:extLst>
      <p:ext uri="{BB962C8B-B14F-4D97-AF65-F5344CB8AC3E}">
        <p14:creationId xmlns:p14="http://schemas.microsoft.com/office/powerpoint/2010/main" val="530455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txBox="1">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itchFamily="18" charset="0"/>
                <a:ea typeface="ＭＳ Ｐゴシック" pitchFamily="34" charset="-128"/>
              </a:rPr>
              <a:t>Have class break into groups and invent clustering algorithms.</a:t>
            </a:r>
          </a:p>
        </p:txBody>
      </p:sp>
    </p:spTree>
    <p:extLst>
      <p:ext uri="{BB962C8B-B14F-4D97-AF65-F5344CB8AC3E}">
        <p14:creationId xmlns:p14="http://schemas.microsoft.com/office/powerpoint/2010/main" val="1481635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FCCF35B-D249-42FB-9EDC-DC939374698D}" type="datetimeFigureOut">
              <a:rPr lang="en-US" smtClean="0"/>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2357458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CCF35B-D249-42FB-9EDC-DC939374698D}" type="datetimeFigureOut">
              <a:rPr lang="en-US" smtClean="0"/>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3261656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CCF35B-D249-42FB-9EDC-DC939374698D}" type="datetimeFigureOut">
              <a:rPr lang="en-US" smtClean="0"/>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3447454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FCCF35B-D249-42FB-9EDC-DC939374698D}" type="datetimeFigureOut">
              <a:rPr lang="en-US" smtClean="0"/>
              <a:t>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1533335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FCCF35B-D249-42FB-9EDC-DC939374698D}" type="datetimeFigureOut">
              <a:rPr lang="en-US" smtClean="0"/>
              <a:t>2/27/2025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1513727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FCCF35B-D249-42FB-9EDC-DC939374698D}" type="datetimeFigureOut">
              <a:rPr lang="en-US" smtClean="0"/>
              <a:t>2/27/2025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1243657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CCF35B-D249-42FB-9EDC-DC939374698D}" type="datetimeFigureOut">
              <a:rPr lang="en-US" smtClean="0"/>
              <a:t>2/27/2025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739184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CCF35B-D249-42FB-9EDC-DC939374698D}" type="datetimeFigureOut">
              <a:rPr lang="en-US" smtClean="0"/>
              <a:t>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1182798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CCF35B-D249-42FB-9EDC-DC939374698D}" type="datetimeFigureOut">
              <a:rPr lang="en-US" smtClean="0"/>
              <a:t>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1008681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CCF35B-D249-42FB-9EDC-DC939374698D}" type="datetimeFigureOut">
              <a:rPr lang="en-US" smtClean="0"/>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179872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CCF35B-D249-42FB-9EDC-DC939374698D}" type="datetimeFigureOut">
              <a:rPr lang="en-US" smtClean="0"/>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1751822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CCF35B-D249-42FB-9EDC-DC939374698D}" type="datetimeFigureOut">
              <a:rPr lang="en-US" smtClean="0"/>
              <a:t>2/27/2025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47F7FE-C4A6-4328-A3FB-5EE701EC2924}" type="slidenum">
              <a:rPr lang="en-US" smtClean="0"/>
              <a:t>‹#›</a:t>
            </a:fld>
            <a:endParaRPr lang="en-US"/>
          </a:p>
        </p:txBody>
      </p:sp>
    </p:spTree>
    <p:extLst>
      <p:ext uri="{BB962C8B-B14F-4D97-AF65-F5344CB8AC3E}">
        <p14:creationId xmlns:p14="http://schemas.microsoft.com/office/powerpoint/2010/main" val="677490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png"/><Relationship Id="rId7"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17.png"/><Relationship Id="rId12"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19.png"/><Relationship Id="rId5" Type="http://schemas.openxmlformats.org/officeDocument/2006/relationships/image" Target="../media/image15.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5I3Ei69I40s" TargetMode="External"/><Relationship Id="rId2" Type="http://schemas.openxmlformats.org/officeDocument/2006/relationships/hyperlink" Target="https://www.youtube.com/watch?v=nXY6PxAaOk0"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24.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www.codecogs.com/eqnedit.php?latex==\sum&amp;space;_%7bx\in&amp;space;C_k%7d2(c_k-x_k)&amp;space;=0" TargetMode="External"/><Relationship Id="rId3" Type="http://schemas.openxmlformats.org/officeDocument/2006/relationships/image" Target="../media/image26.gif"/><Relationship Id="rId7" Type="http://schemas.openxmlformats.org/officeDocument/2006/relationships/image" Target="../media/image28.gif"/><Relationship Id="rId12" Type="http://schemas.openxmlformats.org/officeDocument/2006/relationships/image" Target="../media/image31.gif"/><Relationship Id="rId2" Type="http://schemas.openxmlformats.org/officeDocument/2006/relationships/hyperlink" Target="http://www.codecogs.com/eqnedit.php?latex=\frac%7b\partial&amp;space;\textup%7bCost%7d%7d%7b\partial&amp;space;c_k%7d&amp;space;=&amp;space;\frac%7b\partial&amp;space;%7d%7b\partial&amp;space;c_k%7d\left&amp;space;(\sum_%7bi=1%7d%5eK\sum&amp;space;_%7bx\in&amp;space;C_i%7d\textup%7bdist%7d(c_i,x)%5e2&amp;space;\right&amp;space;)" TargetMode="External"/><Relationship Id="rId1" Type="http://schemas.openxmlformats.org/officeDocument/2006/relationships/slideLayout" Target="../slideLayouts/slideLayout2.xml"/><Relationship Id="rId6" Type="http://schemas.openxmlformats.org/officeDocument/2006/relationships/hyperlink" Target="http://www.codecogs.com/eqnedit.php?latex==&amp;space;\sum_%7bi=1%7d%5eK\sum&amp;space;_%7bx\in&amp;space;C_i%7d\frac%7b\partial&amp;space;%7d%7b\partial&amp;space;c_k%7d(c_i-x)%5e2" TargetMode="External"/><Relationship Id="rId11" Type="http://schemas.openxmlformats.org/officeDocument/2006/relationships/image" Target="../media/image30.gif"/><Relationship Id="rId5" Type="http://schemas.openxmlformats.org/officeDocument/2006/relationships/image" Target="../media/image27.gif"/><Relationship Id="rId10" Type="http://schemas.openxmlformats.org/officeDocument/2006/relationships/hyperlink" Target="http://www.codecogs.com/eqnedit.php?latex=\Rightarrow&amp;space;m_kc_k=\sum&amp;space;_%7bx\in&amp;space;C_k%7dx_k&amp;space;\textup%7b,&amp;space;Where&amp;space;%7dm_k\textup%7b&amp;space;is&amp;space;the&amp;space;number&amp;space;of&amp;space;points&amp;space;in&amp;space;cluster&amp;space;k%7d" TargetMode="External"/><Relationship Id="rId4" Type="http://schemas.openxmlformats.org/officeDocument/2006/relationships/hyperlink" Target="http://www.codecogs.com/eqnedit.php?latex==&amp;space;\sum_%7bi=1%7d%5eK\sum&amp;space;_%7bx\in&amp;space;C_i%7d\frac%7b\partial&amp;space;%7d%7b\partial&amp;space;c_k%7d\textup%7bdist%7d(c_i,x)%5e2" TargetMode="External"/><Relationship Id="rId9" Type="http://schemas.openxmlformats.org/officeDocument/2006/relationships/image" Target="../media/image29.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png"/><Relationship Id="rId7"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0.png"/><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0.png"/><Relationship Id="rId1" Type="http://schemas.openxmlformats.org/officeDocument/2006/relationships/slideLayout" Target="../slideLayouts/slideLayout6.xml"/><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image" Target="../media/image8.png"/></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0.png"/><Relationship Id="rId1" Type="http://schemas.openxmlformats.org/officeDocument/2006/relationships/slideLayout" Target="../slideLayouts/slideLayout6.xml"/><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image" Target="../media/image8.png"/></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0.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41.png"/><Relationship Id="rId5" Type="http://schemas.openxmlformats.org/officeDocument/2006/relationships/image" Target="../media/image10.png"/><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Clustering</a:t>
            </a:r>
          </a:p>
        </p:txBody>
      </p:sp>
      <p:sp>
        <p:nvSpPr>
          <p:cNvPr id="3" name="Subtitle 2"/>
          <p:cNvSpPr>
            <a:spLocks noGrp="1"/>
          </p:cNvSpPr>
          <p:nvPr>
            <p:ph type="subTitle" idx="1"/>
          </p:nvPr>
        </p:nvSpPr>
        <p:spPr/>
        <p:txBody>
          <a:bodyPr/>
          <a:lstStyle/>
          <a:p>
            <a:r>
              <a:rPr lang="en-US" dirty="0" smtClean="0"/>
              <a:t> </a:t>
            </a:r>
            <a:endParaRPr lang="en-US" dirty="0"/>
          </a:p>
        </p:txBody>
      </p:sp>
    </p:spTree>
    <p:extLst>
      <p:ext uri="{BB962C8B-B14F-4D97-AF65-F5344CB8AC3E}">
        <p14:creationId xmlns:p14="http://schemas.microsoft.com/office/powerpoint/2010/main" val="2675763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1315642" y="1085851"/>
            <a:ext cx="6112669" cy="775097"/>
          </a:xfrm>
        </p:spPr>
        <p:txBody>
          <a:bodyPr/>
          <a:lstStyle/>
          <a:p>
            <a:pPr>
              <a:defRPr/>
            </a:pPr>
            <a:r>
              <a:rPr lang="en-US" dirty="0">
                <a:effectLst>
                  <a:outerShdw blurRad="38100" dist="38100" dir="2700000" algn="tl">
                    <a:srgbClr val="DDDDDD"/>
                  </a:outerShdw>
                </a:effectLst>
              </a:rPr>
              <a:t>Two Types of Clustering</a:t>
            </a:r>
          </a:p>
        </p:txBody>
      </p:sp>
      <p:sp>
        <p:nvSpPr>
          <p:cNvPr id="164867" name="Rectangle 3"/>
          <p:cNvSpPr>
            <a:spLocks noChangeArrowheads="1"/>
          </p:cNvSpPr>
          <p:nvPr/>
        </p:nvSpPr>
        <p:spPr bwMode="auto">
          <a:xfrm>
            <a:off x="1943100" y="3314701"/>
            <a:ext cx="1928813" cy="415498"/>
          </a:xfrm>
          <a:prstGeom prst="rect">
            <a:avLst/>
          </a:prstGeom>
          <a:noFill/>
          <a:ln w="9525">
            <a:noFill/>
            <a:miter lim="800000"/>
            <a:headEnd/>
            <a:tailEnd/>
          </a:ln>
          <a:effectLst/>
        </p:spPr>
        <p:txBody>
          <a:bodyPr>
            <a:spAutoFit/>
          </a:bodyPr>
          <a:lstStyle/>
          <a:p>
            <a:pPr>
              <a:defRPr/>
            </a:pPr>
            <a:r>
              <a:rPr lang="en-US" sz="2100" b="1" dirty="0">
                <a:solidFill>
                  <a:schemeClr val="tx2"/>
                </a:solidFill>
                <a:effectLst>
                  <a:outerShdw blurRad="38100" dist="38100" dir="2700000" algn="tl">
                    <a:srgbClr val="DDDDDD"/>
                  </a:outerShdw>
                </a:effectLst>
                <a:latin typeface="Arial" pitchFamily="-111" charset="0"/>
                <a:ea typeface="ＭＳ Ｐゴシック" pitchFamily="-111" charset="-128"/>
                <a:cs typeface="ＭＳ Ｐゴシック" pitchFamily="-111" charset="-128"/>
              </a:rPr>
              <a:t>Hierarchical</a:t>
            </a:r>
          </a:p>
        </p:txBody>
      </p:sp>
      <p:sp>
        <p:nvSpPr>
          <p:cNvPr id="15364" name="Text Box 4"/>
          <p:cNvSpPr txBox="1">
            <a:spLocks noChangeArrowheads="1"/>
          </p:cNvSpPr>
          <p:nvPr/>
        </p:nvSpPr>
        <p:spPr bwMode="auto">
          <a:xfrm>
            <a:off x="1315641" y="2057400"/>
            <a:ext cx="633293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buFontTx/>
              <a:buChar char="•"/>
            </a:pPr>
            <a:r>
              <a:rPr lang="en-US" altLang="en-US" sz="1800" b="1"/>
              <a:t> Partitional algorithms:</a:t>
            </a:r>
            <a:r>
              <a:rPr lang="en-US" altLang="en-US" sz="1800"/>
              <a:t> Construct various partitions and then evaluate them by some criterion</a:t>
            </a:r>
            <a:endParaRPr lang="en-US" altLang="en-US" sz="1500"/>
          </a:p>
          <a:p>
            <a:pPr>
              <a:buFontTx/>
              <a:buChar char="•"/>
            </a:pPr>
            <a:r>
              <a:rPr lang="en-US" altLang="en-US" sz="1800" b="1"/>
              <a:t> Hierarchical algorithms:</a:t>
            </a:r>
            <a:r>
              <a:rPr lang="en-US" altLang="en-US" sz="1800"/>
              <a:t> Create a hierarchical decomposition of the set of objects using some criterion</a:t>
            </a:r>
          </a:p>
          <a:p>
            <a:endParaRPr lang="en-US" altLang="en-US" sz="1800"/>
          </a:p>
        </p:txBody>
      </p:sp>
      <p:sp>
        <p:nvSpPr>
          <p:cNvPr id="164869" name="Rectangle 5"/>
          <p:cNvSpPr>
            <a:spLocks noChangeArrowheads="1"/>
          </p:cNvSpPr>
          <p:nvPr/>
        </p:nvSpPr>
        <p:spPr bwMode="auto">
          <a:xfrm>
            <a:off x="5582842" y="3276601"/>
            <a:ext cx="1574006" cy="415498"/>
          </a:xfrm>
          <a:prstGeom prst="rect">
            <a:avLst/>
          </a:prstGeom>
          <a:noFill/>
          <a:ln w="9525">
            <a:noFill/>
            <a:miter lim="800000"/>
            <a:headEnd/>
            <a:tailEnd/>
          </a:ln>
          <a:effectLst/>
        </p:spPr>
        <p:txBody>
          <a:bodyPr>
            <a:spAutoFit/>
          </a:bodyPr>
          <a:lstStyle/>
          <a:p>
            <a:pPr>
              <a:defRPr/>
            </a:pPr>
            <a:r>
              <a:rPr lang="en-US" sz="2100" b="1">
                <a:solidFill>
                  <a:schemeClr val="tx2"/>
                </a:solidFill>
                <a:effectLst>
                  <a:outerShdw blurRad="38100" dist="38100" dir="2700000" algn="tl">
                    <a:srgbClr val="DDDDDD"/>
                  </a:outerShdw>
                </a:effectLst>
                <a:latin typeface="Arial" pitchFamily="-111" charset="0"/>
                <a:ea typeface="ＭＳ Ｐゴシック" pitchFamily="-111" charset="-128"/>
                <a:cs typeface="ＭＳ Ｐゴシック" pitchFamily="-111" charset="-128"/>
              </a:rPr>
              <a:t>Partitional</a:t>
            </a:r>
          </a:p>
        </p:txBody>
      </p:sp>
      <p:sp>
        <p:nvSpPr>
          <p:cNvPr id="15366" name="Rectangle 6"/>
          <p:cNvSpPr>
            <a:spLocks noChangeArrowheads="1"/>
          </p:cNvSpPr>
          <p:nvPr/>
        </p:nvSpPr>
        <p:spPr bwMode="auto">
          <a:xfrm>
            <a:off x="1257300" y="3611167"/>
            <a:ext cx="4057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grpSp>
        <p:nvGrpSpPr>
          <p:cNvPr id="15367" name="Group 7"/>
          <p:cNvGrpSpPr>
            <a:grpSpLocks/>
          </p:cNvGrpSpPr>
          <p:nvPr/>
        </p:nvGrpSpPr>
        <p:grpSpPr bwMode="auto">
          <a:xfrm>
            <a:off x="5086351" y="4171950"/>
            <a:ext cx="2721769" cy="1600200"/>
            <a:chOff x="120" y="2532"/>
            <a:chExt cx="2286" cy="1344"/>
          </a:xfrm>
        </p:grpSpPr>
        <p:grpSp>
          <p:nvGrpSpPr>
            <p:cNvPr id="15390" name="Group 8"/>
            <p:cNvGrpSpPr>
              <a:grpSpLocks/>
            </p:cNvGrpSpPr>
            <p:nvPr/>
          </p:nvGrpSpPr>
          <p:grpSpPr bwMode="auto">
            <a:xfrm>
              <a:off x="120" y="2532"/>
              <a:ext cx="2286" cy="1344"/>
              <a:chOff x="156" y="2634"/>
              <a:chExt cx="2286" cy="1344"/>
            </a:xfrm>
          </p:grpSpPr>
          <p:sp>
            <p:nvSpPr>
              <p:cNvPr id="15400" name="Rectangle 9"/>
              <p:cNvSpPr>
                <a:spLocks noChangeArrowheads="1"/>
              </p:cNvSpPr>
              <p:nvPr/>
            </p:nvSpPr>
            <p:spPr bwMode="auto">
              <a:xfrm>
                <a:off x="156" y="2634"/>
                <a:ext cx="1080" cy="1344"/>
              </a:xfrm>
              <a:prstGeom prst="rect">
                <a:avLst/>
              </a:prstGeom>
              <a:solidFill>
                <a:srgbClr val="FFFFFF"/>
              </a:solidFill>
              <a:ln w="1587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15401" name="Rectangle 10"/>
              <p:cNvSpPr>
                <a:spLocks noChangeArrowheads="1"/>
              </p:cNvSpPr>
              <p:nvPr/>
            </p:nvSpPr>
            <p:spPr bwMode="auto">
              <a:xfrm>
                <a:off x="1362" y="2634"/>
                <a:ext cx="1080" cy="1344"/>
              </a:xfrm>
              <a:prstGeom prst="rect">
                <a:avLst/>
              </a:prstGeom>
              <a:solidFill>
                <a:srgbClr val="FFFFFF"/>
              </a:solidFill>
              <a:ln w="1587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grpSp>
        <p:pic>
          <p:nvPicPr>
            <p:cNvPr id="15391" name="Picture 11" descr="Edna Krabappe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 y="3190"/>
              <a:ext cx="303" cy="6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5392" name="Picture 12" descr="Principal Seymour  Skinn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68" y="2571"/>
              <a:ext cx="304" cy="65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5393" name="Picture 13" descr="Groundskeeper Willi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02" y="2589"/>
              <a:ext cx="336" cy="5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5394" name="Picture 1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70" y="3253"/>
              <a:ext cx="375" cy="5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5395" name="Picture 1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28" y="2551"/>
              <a:ext cx="343" cy="61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5396" name="Picture 16"/>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72" y="2763"/>
              <a:ext cx="375" cy="64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5397" name="Picture 1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46" y="3338"/>
              <a:ext cx="269" cy="44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5398" name="Picture 18"/>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59" y="3432"/>
              <a:ext cx="181" cy="41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5399" name="Picture 19" descr="C:\Documents and Settings\eamonn\Desktop\bios_family_marge.gif"/>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55" y="2617"/>
              <a:ext cx="272" cy="8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5368" name="Group 20"/>
          <p:cNvGrpSpPr>
            <a:grpSpLocks/>
          </p:cNvGrpSpPr>
          <p:nvPr/>
        </p:nvGrpSpPr>
        <p:grpSpPr bwMode="auto">
          <a:xfrm>
            <a:off x="1509712" y="3850482"/>
            <a:ext cx="2690813" cy="1912144"/>
            <a:chOff x="98" y="300"/>
            <a:chExt cx="3214" cy="2284"/>
          </a:xfrm>
        </p:grpSpPr>
        <p:pic>
          <p:nvPicPr>
            <p:cNvPr id="15370" name="Picture 21" descr="Edna Krabappe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 y="1440"/>
              <a:ext cx="504" cy="1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1" name="Picture 2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68" y="1824"/>
              <a:ext cx="308" cy="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2" name="Picture 23" descr="C:\Documents and Settings\eamonn\Desktop\bios_family_marge.gif"/>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200" y="1278"/>
              <a:ext cx="424" cy="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373" name="Group 24"/>
            <p:cNvGrpSpPr>
              <a:grpSpLocks/>
            </p:cNvGrpSpPr>
            <p:nvPr/>
          </p:nvGrpSpPr>
          <p:grpSpPr bwMode="auto">
            <a:xfrm>
              <a:off x="1865" y="1505"/>
              <a:ext cx="1447" cy="1031"/>
              <a:chOff x="252" y="2364"/>
              <a:chExt cx="2258" cy="1608"/>
            </a:xfrm>
          </p:grpSpPr>
          <p:pic>
            <p:nvPicPr>
              <p:cNvPr id="15388" name="Picture 25"/>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89" name="Picture 26"/>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374" name="Line 27"/>
            <p:cNvSpPr>
              <a:spLocks noChangeShapeType="1"/>
            </p:cNvSpPr>
            <p:nvPr/>
          </p:nvSpPr>
          <p:spPr bwMode="auto">
            <a:xfrm flipH="1" flipV="1">
              <a:off x="255" y="444"/>
              <a:ext cx="0" cy="90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15375" name="Line 28"/>
            <p:cNvSpPr>
              <a:spLocks noChangeShapeType="1"/>
            </p:cNvSpPr>
            <p:nvPr/>
          </p:nvSpPr>
          <p:spPr bwMode="auto">
            <a:xfrm flipH="1" flipV="1">
              <a:off x="2919" y="1167"/>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15376" name="Line 29"/>
            <p:cNvSpPr>
              <a:spLocks noChangeShapeType="1"/>
            </p:cNvSpPr>
            <p:nvPr/>
          </p:nvSpPr>
          <p:spPr bwMode="auto">
            <a:xfrm flipH="1" flipV="1">
              <a:off x="2227" y="1167"/>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15377" name="Line 30"/>
            <p:cNvSpPr>
              <a:spLocks noChangeShapeType="1"/>
            </p:cNvSpPr>
            <p:nvPr/>
          </p:nvSpPr>
          <p:spPr bwMode="auto">
            <a:xfrm flipH="1">
              <a:off x="2221" y="1167"/>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5378" name="Line 31"/>
            <p:cNvSpPr>
              <a:spLocks noChangeShapeType="1"/>
            </p:cNvSpPr>
            <p:nvPr/>
          </p:nvSpPr>
          <p:spPr bwMode="auto">
            <a:xfrm flipH="1">
              <a:off x="1193" y="710"/>
              <a:ext cx="138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5379" name="Line 32"/>
            <p:cNvSpPr>
              <a:spLocks noChangeShapeType="1"/>
            </p:cNvSpPr>
            <p:nvPr/>
          </p:nvSpPr>
          <p:spPr bwMode="auto">
            <a:xfrm rot="5400000" flipH="1">
              <a:off x="2343" y="943"/>
              <a:ext cx="457"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5380" name="Line 33"/>
            <p:cNvSpPr>
              <a:spLocks noChangeShapeType="1"/>
            </p:cNvSpPr>
            <p:nvPr/>
          </p:nvSpPr>
          <p:spPr bwMode="auto">
            <a:xfrm rot="5400000" flipH="1">
              <a:off x="1712" y="574"/>
              <a:ext cx="26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nvGrpSpPr>
            <p:cNvPr id="15381" name="Group 34"/>
            <p:cNvGrpSpPr>
              <a:grpSpLocks/>
            </p:cNvGrpSpPr>
            <p:nvPr/>
          </p:nvGrpSpPr>
          <p:grpSpPr bwMode="auto">
            <a:xfrm>
              <a:off x="859" y="969"/>
              <a:ext cx="703" cy="377"/>
              <a:chOff x="2112" y="2976"/>
              <a:chExt cx="703" cy="377"/>
            </a:xfrm>
          </p:grpSpPr>
          <p:sp>
            <p:nvSpPr>
              <p:cNvPr id="15385" name="Line 35"/>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15386" name="Line 36"/>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15387" name="Line 37"/>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15382" name="Line 38"/>
            <p:cNvSpPr>
              <a:spLocks noChangeShapeType="1"/>
            </p:cNvSpPr>
            <p:nvPr/>
          </p:nvSpPr>
          <p:spPr bwMode="auto">
            <a:xfrm rot="5400000" flipH="1">
              <a:off x="1065" y="844"/>
              <a:ext cx="25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5383" name="Line 39"/>
            <p:cNvSpPr>
              <a:spLocks noChangeShapeType="1"/>
            </p:cNvSpPr>
            <p:nvPr/>
          </p:nvSpPr>
          <p:spPr bwMode="auto">
            <a:xfrm flipH="1">
              <a:off x="253" y="446"/>
              <a:ext cx="158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5384" name="Line 40"/>
            <p:cNvSpPr>
              <a:spLocks noChangeShapeType="1"/>
            </p:cNvSpPr>
            <p:nvPr/>
          </p:nvSpPr>
          <p:spPr bwMode="auto">
            <a:xfrm rot="5400000" flipH="1">
              <a:off x="989" y="370"/>
              <a:ext cx="13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15369" name="TextBox 40"/>
          <p:cNvSpPr txBox="1">
            <a:spLocks noChangeArrowheads="1"/>
          </p:cNvSpPr>
          <p:nvPr/>
        </p:nvSpPr>
        <p:spPr bwMode="auto">
          <a:xfrm>
            <a:off x="4676776" y="956073"/>
            <a:ext cx="313739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Slide based on one by Eamonn Keogh</a:t>
            </a:r>
          </a:p>
        </p:txBody>
      </p:sp>
    </p:spTree>
    <p:extLst>
      <p:ext uri="{BB962C8B-B14F-4D97-AF65-F5344CB8AC3E}">
        <p14:creationId xmlns:p14="http://schemas.microsoft.com/office/powerpoint/2010/main" val="1245067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https://miro.medium.com/max/1000/0*EkVHmsUShFTV1qO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295400"/>
            <a:ext cx="4762500" cy="3762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3897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11924" y="2263834"/>
            <a:ext cx="7265276" cy="3170099"/>
          </a:xfrm>
          <a:prstGeom prst="rect">
            <a:avLst/>
          </a:prstGeom>
        </p:spPr>
        <p:txBody>
          <a:bodyPr wrap="square">
            <a:spAutoFit/>
          </a:bodyPr>
          <a:lstStyle/>
          <a:p>
            <a:r>
              <a:rPr lang="en-US" sz="2500" dirty="0">
                <a:solidFill>
                  <a:srgbClr val="292929"/>
                </a:solidFill>
                <a:latin typeface="source-serif-pro"/>
              </a:rPr>
              <a:t>The most popular class of clustering algorithms that we have is the iterative relocation algorithms. These algorithms minimize a given clustering criterion by iteratively relocating data points between clusters until a (locally) optimal partition is attained. There are many algorithms that come under partitioning method some of the popular ones are K-Means, PAM(k-</a:t>
            </a:r>
            <a:r>
              <a:rPr lang="en-US" sz="2500" dirty="0" err="1">
                <a:solidFill>
                  <a:srgbClr val="292929"/>
                </a:solidFill>
                <a:latin typeface="source-serif-pro"/>
              </a:rPr>
              <a:t>Medoid</a:t>
            </a:r>
            <a:r>
              <a:rPr lang="en-US" sz="2500" dirty="0">
                <a:solidFill>
                  <a:srgbClr val="292929"/>
                </a:solidFill>
                <a:latin typeface="source-serif-pro"/>
              </a:rPr>
              <a:t>), CLARA algorithm (Clustering Large Applications) etc.</a:t>
            </a:r>
            <a:endParaRPr lang="en-US" sz="2500" dirty="0"/>
          </a:p>
        </p:txBody>
      </p:sp>
    </p:spTree>
    <p:extLst>
      <p:ext uri="{BB962C8B-B14F-4D97-AF65-F5344CB8AC3E}">
        <p14:creationId xmlns:p14="http://schemas.microsoft.com/office/powerpoint/2010/main" val="2926332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10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3151" y="5200651"/>
            <a:ext cx="307181" cy="664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5" name="Picture 10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1" y="5200651"/>
            <a:ext cx="350044" cy="650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556" name="Group 1028"/>
          <p:cNvGrpSpPr>
            <a:grpSpLocks/>
          </p:cNvGrpSpPr>
          <p:nvPr/>
        </p:nvGrpSpPr>
        <p:grpSpPr bwMode="auto">
          <a:xfrm>
            <a:off x="4400550" y="2341960"/>
            <a:ext cx="3257550" cy="3565922"/>
            <a:chOff x="2736" y="1247"/>
            <a:chExt cx="2736" cy="2995"/>
          </a:xfrm>
        </p:grpSpPr>
        <p:grpSp>
          <p:nvGrpSpPr>
            <p:cNvPr id="23562" name="Group 1029"/>
            <p:cNvGrpSpPr>
              <a:grpSpLocks/>
            </p:cNvGrpSpPr>
            <p:nvPr/>
          </p:nvGrpSpPr>
          <p:grpSpPr bwMode="auto">
            <a:xfrm>
              <a:off x="3312" y="2016"/>
              <a:ext cx="2160" cy="2160"/>
              <a:chOff x="1632" y="1248"/>
              <a:chExt cx="2160" cy="2160"/>
            </a:xfrm>
          </p:grpSpPr>
          <p:grpSp>
            <p:nvGrpSpPr>
              <p:cNvPr id="23573" name="Group 1030"/>
              <p:cNvGrpSpPr>
                <a:grpSpLocks/>
              </p:cNvGrpSpPr>
              <p:nvPr/>
            </p:nvGrpSpPr>
            <p:grpSpPr bwMode="auto">
              <a:xfrm>
                <a:off x="1632" y="1248"/>
                <a:ext cx="432" cy="432"/>
                <a:chOff x="1776" y="1920"/>
                <a:chExt cx="432" cy="432"/>
              </a:xfrm>
            </p:grpSpPr>
            <p:sp>
              <p:nvSpPr>
                <p:cNvPr id="23646" name="Rectangle 1031"/>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47" name="Text Box 1032"/>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0</a:t>
                  </a:r>
                </a:p>
              </p:txBody>
            </p:sp>
          </p:grpSp>
          <p:grpSp>
            <p:nvGrpSpPr>
              <p:cNvPr id="23574" name="Group 1033"/>
              <p:cNvGrpSpPr>
                <a:grpSpLocks/>
              </p:cNvGrpSpPr>
              <p:nvPr/>
            </p:nvGrpSpPr>
            <p:grpSpPr bwMode="auto">
              <a:xfrm>
                <a:off x="2064" y="1248"/>
                <a:ext cx="432" cy="432"/>
                <a:chOff x="1776" y="1920"/>
                <a:chExt cx="432" cy="432"/>
              </a:xfrm>
            </p:grpSpPr>
            <p:sp>
              <p:nvSpPr>
                <p:cNvPr id="23644" name="Rectangle 1034"/>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45" name="Text Box 1035"/>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8</a:t>
                  </a:r>
                </a:p>
              </p:txBody>
            </p:sp>
          </p:grpSp>
          <p:grpSp>
            <p:nvGrpSpPr>
              <p:cNvPr id="23575" name="Group 1036"/>
              <p:cNvGrpSpPr>
                <a:grpSpLocks/>
              </p:cNvGrpSpPr>
              <p:nvPr/>
            </p:nvGrpSpPr>
            <p:grpSpPr bwMode="auto">
              <a:xfrm>
                <a:off x="2496" y="1248"/>
                <a:ext cx="432" cy="432"/>
                <a:chOff x="1776" y="1920"/>
                <a:chExt cx="432" cy="432"/>
              </a:xfrm>
            </p:grpSpPr>
            <p:sp>
              <p:nvSpPr>
                <p:cNvPr id="23642" name="Rectangle 1037"/>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43" name="Text Box 1038"/>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8</a:t>
                  </a:r>
                </a:p>
              </p:txBody>
            </p:sp>
          </p:grpSp>
          <p:grpSp>
            <p:nvGrpSpPr>
              <p:cNvPr id="23576" name="Group 1039"/>
              <p:cNvGrpSpPr>
                <a:grpSpLocks/>
              </p:cNvGrpSpPr>
              <p:nvPr/>
            </p:nvGrpSpPr>
            <p:grpSpPr bwMode="auto">
              <a:xfrm>
                <a:off x="2928" y="1248"/>
                <a:ext cx="432" cy="432"/>
                <a:chOff x="1776" y="1920"/>
                <a:chExt cx="432" cy="432"/>
              </a:xfrm>
            </p:grpSpPr>
            <p:sp>
              <p:nvSpPr>
                <p:cNvPr id="23640" name="Rectangle 1040"/>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41" name="Text Box 1041"/>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7</a:t>
                  </a:r>
                </a:p>
              </p:txBody>
            </p:sp>
          </p:grpSp>
          <p:grpSp>
            <p:nvGrpSpPr>
              <p:cNvPr id="23577" name="Group 1042"/>
              <p:cNvGrpSpPr>
                <a:grpSpLocks/>
              </p:cNvGrpSpPr>
              <p:nvPr/>
            </p:nvGrpSpPr>
            <p:grpSpPr bwMode="auto">
              <a:xfrm>
                <a:off x="3360" y="1248"/>
                <a:ext cx="432" cy="432"/>
                <a:chOff x="1776" y="1920"/>
                <a:chExt cx="432" cy="432"/>
              </a:xfrm>
            </p:grpSpPr>
            <p:sp>
              <p:nvSpPr>
                <p:cNvPr id="23638" name="Rectangle 1043"/>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39" name="Text Box 1044"/>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7</a:t>
                  </a:r>
                </a:p>
              </p:txBody>
            </p:sp>
          </p:grpSp>
          <p:grpSp>
            <p:nvGrpSpPr>
              <p:cNvPr id="23578" name="Group 1045"/>
              <p:cNvGrpSpPr>
                <a:grpSpLocks/>
              </p:cNvGrpSpPr>
              <p:nvPr/>
            </p:nvGrpSpPr>
            <p:grpSpPr bwMode="auto">
              <a:xfrm>
                <a:off x="1632" y="1680"/>
                <a:ext cx="432" cy="432"/>
                <a:chOff x="1776" y="1920"/>
                <a:chExt cx="432" cy="432"/>
              </a:xfrm>
            </p:grpSpPr>
            <p:sp>
              <p:nvSpPr>
                <p:cNvPr id="23636" name="Rectangle 1046"/>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37" name="Text Box 1047"/>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79" name="Group 1048"/>
              <p:cNvGrpSpPr>
                <a:grpSpLocks/>
              </p:cNvGrpSpPr>
              <p:nvPr/>
            </p:nvGrpSpPr>
            <p:grpSpPr bwMode="auto">
              <a:xfrm>
                <a:off x="2064" y="1680"/>
                <a:ext cx="432" cy="432"/>
                <a:chOff x="1776" y="1920"/>
                <a:chExt cx="432" cy="432"/>
              </a:xfrm>
            </p:grpSpPr>
            <p:sp>
              <p:nvSpPr>
                <p:cNvPr id="23634" name="Rectangle 1049"/>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35" name="Text Box 1050"/>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0</a:t>
                  </a:r>
                </a:p>
              </p:txBody>
            </p:sp>
          </p:grpSp>
          <p:grpSp>
            <p:nvGrpSpPr>
              <p:cNvPr id="23580" name="Group 1051"/>
              <p:cNvGrpSpPr>
                <a:grpSpLocks/>
              </p:cNvGrpSpPr>
              <p:nvPr/>
            </p:nvGrpSpPr>
            <p:grpSpPr bwMode="auto">
              <a:xfrm>
                <a:off x="2496" y="1680"/>
                <a:ext cx="432" cy="432"/>
                <a:chOff x="1776" y="1920"/>
                <a:chExt cx="432" cy="432"/>
              </a:xfrm>
            </p:grpSpPr>
            <p:sp>
              <p:nvSpPr>
                <p:cNvPr id="23632" name="Rectangle 1052"/>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33" name="Text Box 1053"/>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2</a:t>
                  </a:r>
                </a:p>
              </p:txBody>
            </p:sp>
          </p:grpSp>
          <p:grpSp>
            <p:nvGrpSpPr>
              <p:cNvPr id="23581" name="Group 1054"/>
              <p:cNvGrpSpPr>
                <a:grpSpLocks/>
              </p:cNvGrpSpPr>
              <p:nvPr/>
            </p:nvGrpSpPr>
            <p:grpSpPr bwMode="auto">
              <a:xfrm>
                <a:off x="2928" y="1680"/>
                <a:ext cx="432" cy="432"/>
                <a:chOff x="1776" y="1920"/>
                <a:chExt cx="432" cy="432"/>
              </a:xfrm>
            </p:grpSpPr>
            <p:sp>
              <p:nvSpPr>
                <p:cNvPr id="23630" name="Rectangle 1055"/>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31" name="Text Box 1056"/>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4</a:t>
                  </a:r>
                </a:p>
              </p:txBody>
            </p:sp>
          </p:grpSp>
          <p:grpSp>
            <p:nvGrpSpPr>
              <p:cNvPr id="23582" name="Group 1057"/>
              <p:cNvGrpSpPr>
                <a:grpSpLocks/>
              </p:cNvGrpSpPr>
              <p:nvPr/>
            </p:nvGrpSpPr>
            <p:grpSpPr bwMode="auto">
              <a:xfrm>
                <a:off x="3360" y="1680"/>
                <a:ext cx="432" cy="432"/>
                <a:chOff x="1776" y="1920"/>
                <a:chExt cx="432" cy="432"/>
              </a:xfrm>
            </p:grpSpPr>
            <p:sp>
              <p:nvSpPr>
                <p:cNvPr id="23628" name="Rectangle 1058"/>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29" name="Text Box 1059"/>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4</a:t>
                  </a:r>
                </a:p>
              </p:txBody>
            </p:sp>
          </p:grpSp>
          <p:grpSp>
            <p:nvGrpSpPr>
              <p:cNvPr id="23583" name="Group 1060"/>
              <p:cNvGrpSpPr>
                <a:grpSpLocks/>
              </p:cNvGrpSpPr>
              <p:nvPr/>
            </p:nvGrpSpPr>
            <p:grpSpPr bwMode="auto">
              <a:xfrm>
                <a:off x="1632" y="2112"/>
                <a:ext cx="432" cy="432"/>
                <a:chOff x="1776" y="1920"/>
                <a:chExt cx="432" cy="432"/>
              </a:xfrm>
            </p:grpSpPr>
            <p:sp>
              <p:nvSpPr>
                <p:cNvPr id="23626" name="Rectangle 1061"/>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27" name="Text Box 1062"/>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84" name="Group 1063"/>
              <p:cNvGrpSpPr>
                <a:grpSpLocks/>
              </p:cNvGrpSpPr>
              <p:nvPr/>
            </p:nvGrpSpPr>
            <p:grpSpPr bwMode="auto">
              <a:xfrm>
                <a:off x="2064" y="2112"/>
                <a:ext cx="432" cy="432"/>
                <a:chOff x="1776" y="1920"/>
                <a:chExt cx="432" cy="432"/>
              </a:xfrm>
            </p:grpSpPr>
            <p:sp>
              <p:nvSpPr>
                <p:cNvPr id="23624" name="Rectangle 1064"/>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25" name="Text Box 1065"/>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85" name="Group 1066"/>
              <p:cNvGrpSpPr>
                <a:grpSpLocks/>
              </p:cNvGrpSpPr>
              <p:nvPr/>
            </p:nvGrpSpPr>
            <p:grpSpPr bwMode="auto">
              <a:xfrm>
                <a:off x="2496" y="2112"/>
                <a:ext cx="432" cy="432"/>
                <a:chOff x="1776" y="1920"/>
                <a:chExt cx="432" cy="432"/>
              </a:xfrm>
            </p:grpSpPr>
            <p:sp>
              <p:nvSpPr>
                <p:cNvPr id="23622" name="Rectangle 1067"/>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23" name="Text Box 1068"/>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0</a:t>
                  </a:r>
                </a:p>
              </p:txBody>
            </p:sp>
          </p:grpSp>
          <p:grpSp>
            <p:nvGrpSpPr>
              <p:cNvPr id="23586" name="Group 1069"/>
              <p:cNvGrpSpPr>
                <a:grpSpLocks/>
              </p:cNvGrpSpPr>
              <p:nvPr/>
            </p:nvGrpSpPr>
            <p:grpSpPr bwMode="auto">
              <a:xfrm>
                <a:off x="2928" y="2112"/>
                <a:ext cx="432" cy="432"/>
                <a:chOff x="1776" y="1920"/>
                <a:chExt cx="432" cy="432"/>
              </a:xfrm>
            </p:grpSpPr>
            <p:sp>
              <p:nvSpPr>
                <p:cNvPr id="23620" name="Rectangle 1070"/>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21" name="Text Box 1071"/>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3</a:t>
                  </a:r>
                </a:p>
              </p:txBody>
            </p:sp>
          </p:grpSp>
          <p:grpSp>
            <p:nvGrpSpPr>
              <p:cNvPr id="23587" name="Group 1072"/>
              <p:cNvGrpSpPr>
                <a:grpSpLocks/>
              </p:cNvGrpSpPr>
              <p:nvPr/>
            </p:nvGrpSpPr>
            <p:grpSpPr bwMode="auto">
              <a:xfrm>
                <a:off x="3360" y="2112"/>
                <a:ext cx="432" cy="432"/>
                <a:chOff x="1776" y="1920"/>
                <a:chExt cx="432" cy="432"/>
              </a:xfrm>
            </p:grpSpPr>
            <p:sp>
              <p:nvSpPr>
                <p:cNvPr id="23618" name="Rectangle 1073"/>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19" name="Text Box 1074"/>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3</a:t>
                  </a:r>
                </a:p>
              </p:txBody>
            </p:sp>
          </p:grpSp>
          <p:grpSp>
            <p:nvGrpSpPr>
              <p:cNvPr id="23588" name="Group 1075"/>
              <p:cNvGrpSpPr>
                <a:grpSpLocks/>
              </p:cNvGrpSpPr>
              <p:nvPr/>
            </p:nvGrpSpPr>
            <p:grpSpPr bwMode="auto">
              <a:xfrm>
                <a:off x="1632" y="2544"/>
                <a:ext cx="432" cy="432"/>
                <a:chOff x="1776" y="1920"/>
                <a:chExt cx="432" cy="432"/>
              </a:xfrm>
            </p:grpSpPr>
            <p:sp>
              <p:nvSpPr>
                <p:cNvPr id="23616" name="Rectangle 1076"/>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17" name="Text Box 1077"/>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89" name="Group 1078"/>
              <p:cNvGrpSpPr>
                <a:grpSpLocks/>
              </p:cNvGrpSpPr>
              <p:nvPr/>
            </p:nvGrpSpPr>
            <p:grpSpPr bwMode="auto">
              <a:xfrm>
                <a:off x="2064" y="2544"/>
                <a:ext cx="432" cy="432"/>
                <a:chOff x="1776" y="1920"/>
                <a:chExt cx="432" cy="432"/>
              </a:xfrm>
            </p:grpSpPr>
            <p:sp>
              <p:nvSpPr>
                <p:cNvPr id="23614" name="Rectangle 1079"/>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15" name="Text Box 1080"/>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90" name="Group 1081"/>
              <p:cNvGrpSpPr>
                <a:grpSpLocks/>
              </p:cNvGrpSpPr>
              <p:nvPr/>
            </p:nvGrpSpPr>
            <p:grpSpPr bwMode="auto">
              <a:xfrm>
                <a:off x="2496" y="2544"/>
                <a:ext cx="432" cy="432"/>
                <a:chOff x="1776" y="1920"/>
                <a:chExt cx="432" cy="432"/>
              </a:xfrm>
            </p:grpSpPr>
            <p:sp>
              <p:nvSpPr>
                <p:cNvPr id="23612" name="Rectangle 1082"/>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13" name="Text Box 1083"/>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91" name="Group 1084"/>
              <p:cNvGrpSpPr>
                <a:grpSpLocks/>
              </p:cNvGrpSpPr>
              <p:nvPr/>
            </p:nvGrpSpPr>
            <p:grpSpPr bwMode="auto">
              <a:xfrm>
                <a:off x="2928" y="2544"/>
                <a:ext cx="432" cy="432"/>
                <a:chOff x="1776" y="1920"/>
                <a:chExt cx="432" cy="432"/>
              </a:xfrm>
            </p:grpSpPr>
            <p:sp>
              <p:nvSpPr>
                <p:cNvPr id="23610" name="Rectangle 1085"/>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11" name="Text Box 1086"/>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0</a:t>
                  </a:r>
                </a:p>
              </p:txBody>
            </p:sp>
          </p:grpSp>
          <p:grpSp>
            <p:nvGrpSpPr>
              <p:cNvPr id="23592" name="Group 1087"/>
              <p:cNvGrpSpPr>
                <a:grpSpLocks/>
              </p:cNvGrpSpPr>
              <p:nvPr/>
            </p:nvGrpSpPr>
            <p:grpSpPr bwMode="auto">
              <a:xfrm>
                <a:off x="3360" y="2544"/>
                <a:ext cx="432" cy="432"/>
                <a:chOff x="1776" y="1920"/>
                <a:chExt cx="432" cy="432"/>
              </a:xfrm>
            </p:grpSpPr>
            <p:sp>
              <p:nvSpPr>
                <p:cNvPr id="23608" name="Rectangle 1088"/>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09" name="Text Box 1089"/>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1</a:t>
                  </a:r>
                </a:p>
              </p:txBody>
            </p:sp>
          </p:grpSp>
          <p:grpSp>
            <p:nvGrpSpPr>
              <p:cNvPr id="23593" name="Group 1090"/>
              <p:cNvGrpSpPr>
                <a:grpSpLocks/>
              </p:cNvGrpSpPr>
              <p:nvPr/>
            </p:nvGrpSpPr>
            <p:grpSpPr bwMode="auto">
              <a:xfrm>
                <a:off x="1632" y="2976"/>
                <a:ext cx="432" cy="432"/>
                <a:chOff x="1776" y="1920"/>
                <a:chExt cx="432" cy="432"/>
              </a:xfrm>
            </p:grpSpPr>
            <p:sp>
              <p:nvSpPr>
                <p:cNvPr id="23606" name="Rectangle 1091"/>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07" name="Text Box 1092"/>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94" name="Group 1093"/>
              <p:cNvGrpSpPr>
                <a:grpSpLocks/>
              </p:cNvGrpSpPr>
              <p:nvPr/>
            </p:nvGrpSpPr>
            <p:grpSpPr bwMode="auto">
              <a:xfrm>
                <a:off x="2064" y="2976"/>
                <a:ext cx="432" cy="432"/>
                <a:chOff x="1776" y="1920"/>
                <a:chExt cx="432" cy="432"/>
              </a:xfrm>
            </p:grpSpPr>
            <p:sp>
              <p:nvSpPr>
                <p:cNvPr id="23604" name="Rectangle 1094"/>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05" name="Text Box 1095"/>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95" name="Group 1096"/>
              <p:cNvGrpSpPr>
                <a:grpSpLocks/>
              </p:cNvGrpSpPr>
              <p:nvPr/>
            </p:nvGrpSpPr>
            <p:grpSpPr bwMode="auto">
              <a:xfrm>
                <a:off x="2496" y="2976"/>
                <a:ext cx="432" cy="432"/>
                <a:chOff x="1776" y="1920"/>
                <a:chExt cx="432" cy="432"/>
              </a:xfrm>
            </p:grpSpPr>
            <p:sp>
              <p:nvSpPr>
                <p:cNvPr id="23602" name="Rectangle 1097"/>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03" name="Text Box 1098"/>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96" name="Group 1099"/>
              <p:cNvGrpSpPr>
                <a:grpSpLocks/>
              </p:cNvGrpSpPr>
              <p:nvPr/>
            </p:nvGrpSpPr>
            <p:grpSpPr bwMode="auto">
              <a:xfrm>
                <a:off x="2928" y="2976"/>
                <a:ext cx="432" cy="432"/>
                <a:chOff x="1776" y="1920"/>
                <a:chExt cx="432" cy="432"/>
              </a:xfrm>
            </p:grpSpPr>
            <p:sp>
              <p:nvSpPr>
                <p:cNvPr id="23600" name="Rectangle 1100"/>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01" name="Text Box 1101"/>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97" name="Group 1102"/>
              <p:cNvGrpSpPr>
                <a:grpSpLocks/>
              </p:cNvGrpSpPr>
              <p:nvPr/>
            </p:nvGrpSpPr>
            <p:grpSpPr bwMode="auto">
              <a:xfrm>
                <a:off x="3360" y="2976"/>
                <a:ext cx="432" cy="432"/>
                <a:chOff x="1776" y="1920"/>
                <a:chExt cx="432" cy="432"/>
              </a:xfrm>
            </p:grpSpPr>
            <p:sp>
              <p:nvSpPr>
                <p:cNvPr id="23598" name="Rectangle 1103"/>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599" name="Text Box 1104"/>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0</a:t>
                  </a:r>
                </a:p>
              </p:txBody>
            </p:sp>
          </p:grpSp>
        </p:grpSp>
        <p:pic>
          <p:nvPicPr>
            <p:cNvPr id="23563" name="Picture 1105" descr="Edna Krabappe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60" y="1360"/>
              <a:ext cx="280"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4" name="Picture 110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40" y="1592"/>
              <a:ext cx="171"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5" name="Picture 1107" descr="C:\Documents and Settings\eamonn\Desktop\bios_family_marge.gi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76" y="1247"/>
              <a:ext cx="236" cy="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6" name="Picture 110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43" y="1425"/>
              <a:ext cx="320" cy="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7" name="Picture 1109"/>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40" y="1440"/>
              <a:ext cx="411"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8" name="Picture 1110" descr="Edna Krabappe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80" y="1968"/>
              <a:ext cx="280"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9" name="Picture 111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72" y="2496"/>
              <a:ext cx="171"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0" name="Picture 1112" descr="C:\Documents and Settings\eamonn\Desktop\bios_family_marge.gi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784" y="2736"/>
              <a:ext cx="236" cy="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1" name="Picture 11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6" y="3696"/>
              <a:ext cx="294"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2" name="Picture 11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 y="3264"/>
              <a:ext cx="258" cy="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3557" name="Text Box 1115"/>
          <p:cNvSpPr txBox="1">
            <a:spLocks noChangeArrowheads="1"/>
          </p:cNvSpPr>
          <p:nvPr/>
        </p:nvSpPr>
        <p:spPr bwMode="auto">
          <a:xfrm>
            <a:off x="1371600" y="4343400"/>
            <a:ext cx="2507418" cy="1494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4050"/>
              <a:t>D(  ,  ) = 8</a:t>
            </a:r>
          </a:p>
          <a:p>
            <a:pPr>
              <a:spcBef>
                <a:spcPct val="25000"/>
              </a:spcBef>
            </a:pPr>
            <a:r>
              <a:rPr lang="en-US" altLang="en-US" sz="4050"/>
              <a:t>D(  ,  ) = 1</a:t>
            </a:r>
          </a:p>
        </p:txBody>
      </p:sp>
      <p:pic>
        <p:nvPicPr>
          <p:cNvPr id="23558" name="Picture 1116" descr="Edna Krabappe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00250" y="4343401"/>
            <a:ext cx="333375" cy="722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111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301" y="4514851"/>
            <a:ext cx="203597" cy="460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0" name="Text Box 1118"/>
          <p:cNvSpPr txBox="1">
            <a:spLocks noChangeArrowheads="1"/>
          </p:cNvSpPr>
          <p:nvPr/>
        </p:nvSpPr>
        <p:spPr bwMode="auto">
          <a:xfrm>
            <a:off x="1371601" y="1921669"/>
            <a:ext cx="2983706"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We begin with a distance matrix which contains the distances between every pair of objects in our database.</a:t>
            </a:r>
          </a:p>
        </p:txBody>
      </p:sp>
      <p:sp>
        <p:nvSpPr>
          <p:cNvPr id="23561" name="TextBox 94"/>
          <p:cNvSpPr txBox="1">
            <a:spLocks noChangeArrowheads="1"/>
          </p:cNvSpPr>
          <p:nvPr/>
        </p:nvSpPr>
        <p:spPr bwMode="auto">
          <a:xfrm>
            <a:off x="4725591" y="1094185"/>
            <a:ext cx="313739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Slide based on one by Eamonn Keogh</a:t>
            </a:r>
          </a:p>
        </p:txBody>
      </p:sp>
    </p:spTree>
    <p:extLst>
      <p:ext uri="{BB962C8B-B14F-4D97-AF65-F5344CB8AC3E}">
        <p14:creationId xmlns:p14="http://schemas.microsoft.com/office/powerpoint/2010/main" val="3548940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ChangeArrowheads="1"/>
          </p:cNvSpPr>
          <p:nvPr/>
        </p:nvSpPr>
        <p:spPr bwMode="auto">
          <a:xfrm>
            <a:off x="1657350" y="1543050"/>
            <a:ext cx="5829300" cy="800100"/>
          </a:xfrm>
          <a:prstGeom prst="rect">
            <a:avLst/>
          </a:prstGeom>
          <a:noFill/>
          <a:ln w="9525">
            <a:noFill/>
            <a:miter lim="800000"/>
            <a:headEnd/>
            <a:tailEnd/>
          </a:ln>
          <a:effectLst/>
        </p:spPr>
        <p:txBody>
          <a:bodyPr lIns="69056" tIns="34529" rIns="69056" bIns="34529" anchor="ctr"/>
          <a:lstStyle/>
          <a:p>
            <a:pPr>
              <a:defRPr/>
            </a:pPr>
            <a:r>
              <a:rPr lang="en-US" sz="3300" dirty="0" err="1">
                <a:solidFill>
                  <a:schemeClr val="tx2"/>
                </a:solidFill>
                <a:effectLst>
                  <a:outerShdw blurRad="38100" dist="38100" dir="2700000" algn="tl">
                    <a:srgbClr val="DDDDDD"/>
                  </a:outerShdw>
                </a:effectLst>
                <a:latin typeface="Arial" pitchFamily="-111" charset="0"/>
                <a:ea typeface="ＭＳ Ｐゴシック" pitchFamily="-111" charset="-128"/>
                <a:cs typeface="ＭＳ Ｐゴシック" pitchFamily="-111" charset="-128"/>
              </a:rPr>
              <a:t>Partitional</a:t>
            </a:r>
            <a:r>
              <a:rPr lang="en-US" sz="3300" dirty="0">
                <a:solidFill>
                  <a:schemeClr val="tx2"/>
                </a:solidFill>
                <a:effectLst>
                  <a:outerShdw blurRad="38100" dist="38100" dir="2700000" algn="tl">
                    <a:srgbClr val="DDDDDD"/>
                  </a:outerShdw>
                </a:effectLst>
                <a:latin typeface="Arial" pitchFamily="-111" charset="0"/>
                <a:ea typeface="ＭＳ Ｐゴシック" pitchFamily="-111" charset="-128"/>
                <a:cs typeface="ＭＳ Ｐゴシック" pitchFamily="-111" charset="-128"/>
              </a:rPr>
              <a:t> Clustering</a:t>
            </a:r>
          </a:p>
        </p:txBody>
      </p:sp>
      <p:sp>
        <p:nvSpPr>
          <p:cNvPr id="31747" name="Rectangle 3"/>
          <p:cNvSpPr>
            <a:spLocks noChangeArrowheads="1"/>
          </p:cNvSpPr>
          <p:nvPr/>
        </p:nvSpPr>
        <p:spPr bwMode="auto">
          <a:xfrm>
            <a:off x="1314450" y="2343151"/>
            <a:ext cx="6343650" cy="1854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20000"/>
              </a:spcBef>
              <a:buFontTx/>
              <a:buChar char="•"/>
            </a:pPr>
            <a:r>
              <a:rPr lang="en-US" altLang="en-US"/>
              <a:t>Nonhierarchical, each instance is placed in exactly one of K non-overlapping clusters.</a:t>
            </a:r>
          </a:p>
          <a:p>
            <a:pPr>
              <a:spcBef>
                <a:spcPct val="20000"/>
              </a:spcBef>
              <a:buFontTx/>
              <a:buChar char="•"/>
            </a:pPr>
            <a:r>
              <a:rPr lang="en-US" altLang="en-US"/>
              <a:t>Since only one set of clusters is output, the user normally has to input the desired number of clusters K.</a:t>
            </a:r>
          </a:p>
        </p:txBody>
      </p:sp>
      <p:grpSp>
        <p:nvGrpSpPr>
          <p:cNvPr id="31748" name="Group 4"/>
          <p:cNvGrpSpPr>
            <a:grpSpLocks/>
          </p:cNvGrpSpPr>
          <p:nvPr/>
        </p:nvGrpSpPr>
        <p:grpSpPr bwMode="auto">
          <a:xfrm>
            <a:off x="1257300" y="4857751"/>
            <a:ext cx="3771900" cy="827485"/>
            <a:chOff x="36" y="642"/>
            <a:chExt cx="5760" cy="1413"/>
          </a:xfrm>
        </p:grpSpPr>
        <p:pic>
          <p:nvPicPr>
            <p:cNvPr id="31764" name="Picture 5" descr="Edna Krabappe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 y="789"/>
              <a:ext cx="513" cy="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5" name="Picture 6" descr="Principal Seymour  Skinn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74" y="828"/>
              <a:ext cx="514"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66" name="Rectangle 7"/>
            <p:cNvSpPr>
              <a:spLocks noChangeArrowheads="1"/>
            </p:cNvSpPr>
            <p:nvPr/>
          </p:nvSpPr>
          <p:spPr bwMode="auto">
            <a:xfrm>
              <a:off x="36" y="1365"/>
              <a:ext cx="5760" cy="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pic>
          <p:nvPicPr>
            <p:cNvPr id="31767" name="Picture 8" descr="Groundskeeper Willi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33" y="920"/>
              <a:ext cx="569"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8"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99" y="865"/>
              <a:ext cx="635" cy="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9" name="Picture 1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95" y="753"/>
              <a:ext cx="580" cy="1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0" name="Picture 1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14" y="806"/>
              <a:ext cx="592" cy="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1" name="Picture 1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227" y="1090"/>
              <a:ext cx="454" cy="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2" name="Picture 13"/>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595" y="1096"/>
              <a:ext cx="306" cy="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3" name="Picture 14" descr="C:\Documents and Settings\eamonn\Desktop\bios_family_marge.gif"/>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381" y="642"/>
              <a:ext cx="459" cy="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1749" name="Group 15"/>
          <p:cNvGrpSpPr>
            <a:grpSpLocks/>
          </p:cNvGrpSpPr>
          <p:nvPr/>
        </p:nvGrpSpPr>
        <p:grpSpPr bwMode="auto">
          <a:xfrm>
            <a:off x="5943601" y="4686300"/>
            <a:ext cx="1897856" cy="1115616"/>
            <a:chOff x="1880" y="2584"/>
            <a:chExt cx="1267" cy="745"/>
          </a:xfrm>
        </p:grpSpPr>
        <p:grpSp>
          <p:nvGrpSpPr>
            <p:cNvPr id="31752" name="Group 16"/>
            <p:cNvGrpSpPr>
              <a:grpSpLocks/>
            </p:cNvGrpSpPr>
            <p:nvPr/>
          </p:nvGrpSpPr>
          <p:grpSpPr bwMode="auto">
            <a:xfrm>
              <a:off x="1880" y="2584"/>
              <a:ext cx="1267" cy="745"/>
              <a:chOff x="156" y="2634"/>
              <a:chExt cx="2286" cy="1344"/>
            </a:xfrm>
          </p:grpSpPr>
          <p:sp>
            <p:nvSpPr>
              <p:cNvPr id="31762" name="Rectangle 17"/>
              <p:cNvSpPr>
                <a:spLocks noChangeArrowheads="1"/>
              </p:cNvSpPr>
              <p:nvPr/>
            </p:nvSpPr>
            <p:spPr bwMode="auto">
              <a:xfrm>
                <a:off x="156" y="2634"/>
                <a:ext cx="1080" cy="1344"/>
              </a:xfrm>
              <a:prstGeom prst="rect">
                <a:avLst/>
              </a:prstGeom>
              <a:solidFill>
                <a:schemeClr val="bg1"/>
              </a:solidFill>
              <a:ln w="1587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1763" name="Rectangle 18"/>
              <p:cNvSpPr>
                <a:spLocks noChangeArrowheads="1"/>
              </p:cNvSpPr>
              <p:nvPr/>
            </p:nvSpPr>
            <p:spPr bwMode="auto">
              <a:xfrm>
                <a:off x="1362" y="2634"/>
                <a:ext cx="1080" cy="1344"/>
              </a:xfrm>
              <a:prstGeom prst="rect">
                <a:avLst/>
              </a:prstGeom>
              <a:solidFill>
                <a:schemeClr val="bg1"/>
              </a:solidFill>
              <a:ln w="1587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grpSp>
        <p:pic>
          <p:nvPicPr>
            <p:cNvPr id="31753" name="Picture 19" descr="Edna Krabappe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40" y="2626"/>
              <a:ext cx="168"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4" name="Picture 20" descr="Principal Seymour  Skinn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61" y="2958"/>
              <a:ext cx="168"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5" name="Picture 21" descr="Groundskeeper Willi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59" y="3005"/>
              <a:ext cx="186"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6" name="Picture 22"/>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709" y="2595"/>
              <a:ext cx="20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7" name="Picture 23"/>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938" y="2602"/>
              <a:ext cx="190"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8" name="Picture 2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557" y="2984"/>
              <a:ext cx="195"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9" name="Picture 25"/>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585" y="2695"/>
              <a:ext cx="149"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0" name="Picture 26"/>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091" y="3050"/>
              <a:ext cx="101"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1" name="Picture 27" descr="C:\Documents and Settings\eamonn\Desktop\bios_family_marge.gif"/>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913" y="2608"/>
              <a:ext cx="151"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38620" name="AutoShape 28"/>
          <p:cNvSpPr>
            <a:spLocks noChangeArrowheads="1"/>
          </p:cNvSpPr>
          <p:nvPr/>
        </p:nvSpPr>
        <p:spPr bwMode="auto">
          <a:xfrm>
            <a:off x="5200650" y="5029200"/>
            <a:ext cx="400050" cy="342900"/>
          </a:xfrm>
          <a:prstGeom prst="rightArrow">
            <a:avLst>
              <a:gd name="adj1" fmla="val 50000"/>
              <a:gd name="adj2" fmla="val 29167"/>
            </a:avLst>
          </a:prstGeom>
          <a:solidFill>
            <a:srgbClr val="FF9900"/>
          </a:solidFill>
          <a:ln w="0">
            <a:solidFill>
              <a:srgbClr val="000000"/>
            </a:solidFill>
            <a:miter lim="800000"/>
            <a:headEnd/>
            <a:tailEnd/>
          </a:ln>
          <a:effectLst>
            <a:outerShdw blurRad="63500" dist="107763" dir="8100000" algn="ctr" rotWithShape="0">
              <a:srgbClr val="000000">
                <a:alpha val="74998"/>
              </a:srgbClr>
            </a:outerShdw>
          </a:effectLst>
        </p:spPr>
        <p:txBody>
          <a:bodyPr wrap="none" anchor="ctr"/>
          <a:lstStyle/>
          <a:p>
            <a:pPr>
              <a:defRPr/>
            </a:pPr>
            <a:endParaRPr lang="en-US" sz="1350">
              <a:latin typeface="Arial" pitchFamily="-111" charset="0"/>
              <a:ea typeface="ＭＳ Ｐゴシック" pitchFamily="-111" charset="-128"/>
              <a:cs typeface="ＭＳ Ｐゴシック" pitchFamily="-111" charset="-128"/>
            </a:endParaRPr>
          </a:p>
        </p:txBody>
      </p:sp>
      <p:sp>
        <p:nvSpPr>
          <p:cNvPr id="31751" name="TextBox 28"/>
          <p:cNvSpPr txBox="1">
            <a:spLocks noChangeArrowheads="1"/>
          </p:cNvSpPr>
          <p:nvPr/>
        </p:nvSpPr>
        <p:spPr bwMode="auto">
          <a:xfrm>
            <a:off x="4725591" y="1094185"/>
            <a:ext cx="313739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Slide based on one by Eamonn Keogh</a:t>
            </a:r>
          </a:p>
        </p:txBody>
      </p:sp>
    </p:spTree>
    <p:extLst>
      <p:ext uri="{BB962C8B-B14F-4D97-AF65-F5344CB8AC3E}">
        <p14:creationId xmlns:p14="http://schemas.microsoft.com/office/powerpoint/2010/main" val="1506675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Demo</a:t>
            </a:r>
            <a:br>
              <a:rPr lang="en-US" dirty="0"/>
            </a:br>
            <a:endParaRPr lang="en-US" dirty="0"/>
          </a:p>
        </p:txBody>
      </p:sp>
      <p:sp>
        <p:nvSpPr>
          <p:cNvPr id="3" name="Content Placeholder 2"/>
          <p:cNvSpPr>
            <a:spLocks noGrp="1"/>
          </p:cNvSpPr>
          <p:nvPr>
            <p:ph idx="1"/>
          </p:nvPr>
        </p:nvSpPr>
        <p:spPr/>
        <p:txBody>
          <a:bodyPr/>
          <a:lstStyle/>
          <a:p>
            <a:r>
              <a:rPr lang="en-US" dirty="0">
                <a:hlinkClick r:id="rId2"/>
              </a:rPr>
              <a:t>https://www.youtube.com/watch?v=nXY6PxAaOk0</a:t>
            </a:r>
            <a:endParaRPr lang="en-US" dirty="0"/>
          </a:p>
          <a:p>
            <a:endParaRPr lang="en-US" dirty="0"/>
          </a:p>
          <a:p>
            <a:r>
              <a:rPr lang="en-US" dirty="0">
                <a:hlinkClick r:id="rId3"/>
              </a:rPr>
              <a:t>https://www.youtube.com/watch?v=5I3Ei69I40s</a:t>
            </a:r>
            <a:endParaRPr lang="en-US" dirty="0"/>
          </a:p>
          <a:p>
            <a:endParaRPr lang="en-US" dirty="0"/>
          </a:p>
        </p:txBody>
      </p:sp>
    </p:spTree>
    <p:extLst>
      <p:ext uri="{BB962C8B-B14F-4D97-AF65-F5344CB8AC3E}">
        <p14:creationId xmlns:p14="http://schemas.microsoft.com/office/powerpoint/2010/main" val="3742097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152401" y="1524000"/>
            <a:ext cx="4114800" cy="4847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b="1" dirty="0"/>
              <a:t>Partition Algorithm 1: k-means 	</a:t>
            </a:r>
          </a:p>
          <a:p>
            <a:pPr>
              <a:spcBef>
                <a:spcPct val="50000"/>
              </a:spcBef>
            </a:pPr>
            <a:r>
              <a:rPr lang="en-US" altLang="en-US" sz="1800" dirty="0"/>
              <a:t>1. Decide on a value for </a:t>
            </a:r>
            <a:r>
              <a:rPr lang="en-US" altLang="en-US" sz="1800" i="1" dirty="0"/>
              <a:t>k</a:t>
            </a:r>
            <a:r>
              <a:rPr lang="en-US" altLang="en-US" sz="1800" dirty="0"/>
              <a:t>.	</a:t>
            </a:r>
          </a:p>
          <a:p>
            <a:pPr>
              <a:spcBef>
                <a:spcPct val="50000"/>
              </a:spcBef>
            </a:pPr>
            <a:r>
              <a:rPr lang="en-US" altLang="en-US" sz="1800" dirty="0"/>
              <a:t>2. Initialize the </a:t>
            </a:r>
            <a:r>
              <a:rPr lang="en-US" altLang="en-US" sz="1800" i="1" dirty="0"/>
              <a:t>k</a:t>
            </a:r>
            <a:r>
              <a:rPr lang="en-US" altLang="en-US" sz="1800" dirty="0"/>
              <a:t> cluster centers (randomly, if necessary).</a:t>
            </a:r>
          </a:p>
          <a:p>
            <a:pPr>
              <a:spcBef>
                <a:spcPct val="50000"/>
              </a:spcBef>
            </a:pPr>
            <a:r>
              <a:rPr lang="en-US" altLang="en-US" sz="1800" dirty="0"/>
              <a:t>3. Decide the class memberships of the </a:t>
            </a:r>
            <a:r>
              <a:rPr lang="en-US" altLang="en-US" sz="1800" i="1" dirty="0"/>
              <a:t>N</a:t>
            </a:r>
            <a:r>
              <a:rPr lang="en-US" altLang="en-US" sz="1800" dirty="0"/>
              <a:t> objects by assigning them to the nearest cluster center.	</a:t>
            </a:r>
          </a:p>
          <a:p>
            <a:pPr>
              <a:spcBef>
                <a:spcPct val="50000"/>
              </a:spcBef>
            </a:pPr>
            <a:r>
              <a:rPr lang="en-US" altLang="en-US" sz="1800" dirty="0"/>
              <a:t>4. Re-estimate the </a:t>
            </a:r>
            <a:r>
              <a:rPr lang="en-US" altLang="en-US" sz="1800" i="1" dirty="0"/>
              <a:t>k</a:t>
            </a:r>
            <a:r>
              <a:rPr lang="en-US" altLang="en-US" sz="1800" dirty="0"/>
              <a:t> cluster centers, by assuming the memberships found above are correct.	</a:t>
            </a:r>
          </a:p>
          <a:p>
            <a:pPr>
              <a:spcBef>
                <a:spcPct val="50000"/>
              </a:spcBef>
            </a:pPr>
            <a:r>
              <a:rPr lang="en-US" altLang="en-US" sz="1800" dirty="0"/>
              <a:t>5. If none of the </a:t>
            </a:r>
            <a:r>
              <a:rPr lang="en-US" altLang="en-US" sz="1800" i="1" dirty="0"/>
              <a:t>N</a:t>
            </a:r>
            <a:r>
              <a:rPr lang="en-US" altLang="en-US" sz="1800" dirty="0"/>
              <a:t> objects changed membership in the last iteration, exit. Otherwise </a:t>
            </a:r>
            <a:r>
              <a:rPr lang="en-US" altLang="en-US" sz="1800" dirty="0" err="1"/>
              <a:t>goto</a:t>
            </a:r>
            <a:r>
              <a:rPr lang="en-US" altLang="en-US" sz="1800" dirty="0"/>
              <a:t> 3.	</a:t>
            </a:r>
          </a:p>
        </p:txBody>
      </p:sp>
      <p:pic>
        <p:nvPicPr>
          <p:cNvPr id="6146" name="Picture 2" descr="https://miro.medium.com/max/1130/1*Y8A_PtK1ObhNIlVX3j8aT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4091" y="2362200"/>
            <a:ext cx="4022627" cy="281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335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2"/>
          <p:cNvSpPr>
            <a:spLocks noChangeArrowheads="1"/>
          </p:cNvSpPr>
          <p:nvPr/>
        </p:nvSpPr>
        <p:spPr bwMode="auto">
          <a:xfrm>
            <a:off x="1984772" y="1756173"/>
            <a:ext cx="5242322" cy="41112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19" name="Rectangle 43"/>
          <p:cNvSpPr>
            <a:spLocks noChangeArrowheads="1"/>
          </p:cNvSpPr>
          <p:nvPr/>
        </p:nvSpPr>
        <p:spPr bwMode="auto">
          <a:xfrm>
            <a:off x="2696766" y="1956197"/>
            <a:ext cx="4400550" cy="30575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20" name="Line 44"/>
          <p:cNvSpPr>
            <a:spLocks noChangeShapeType="1"/>
          </p:cNvSpPr>
          <p:nvPr/>
        </p:nvSpPr>
        <p:spPr bwMode="auto">
          <a:xfrm>
            <a:off x="2696766" y="4400550"/>
            <a:ext cx="4400550"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21" name="Line 45"/>
          <p:cNvSpPr>
            <a:spLocks noChangeShapeType="1"/>
          </p:cNvSpPr>
          <p:nvPr/>
        </p:nvSpPr>
        <p:spPr bwMode="auto">
          <a:xfrm>
            <a:off x="2696766" y="3788569"/>
            <a:ext cx="4400550"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22" name="Line 46"/>
          <p:cNvSpPr>
            <a:spLocks noChangeShapeType="1"/>
          </p:cNvSpPr>
          <p:nvPr/>
        </p:nvSpPr>
        <p:spPr bwMode="auto">
          <a:xfrm>
            <a:off x="2696766" y="3181350"/>
            <a:ext cx="4400550"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23" name="Line 47"/>
          <p:cNvSpPr>
            <a:spLocks noChangeShapeType="1"/>
          </p:cNvSpPr>
          <p:nvPr/>
        </p:nvSpPr>
        <p:spPr bwMode="auto">
          <a:xfrm>
            <a:off x="2696766" y="2568180"/>
            <a:ext cx="4400550"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24" name="Line 48"/>
          <p:cNvSpPr>
            <a:spLocks noChangeShapeType="1"/>
          </p:cNvSpPr>
          <p:nvPr/>
        </p:nvSpPr>
        <p:spPr bwMode="auto">
          <a:xfrm>
            <a:off x="2696766" y="1956199"/>
            <a:ext cx="4400550"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25" name="Rectangle 49"/>
          <p:cNvSpPr>
            <a:spLocks noChangeArrowheads="1"/>
          </p:cNvSpPr>
          <p:nvPr/>
        </p:nvSpPr>
        <p:spPr bwMode="auto">
          <a:xfrm>
            <a:off x="2696766" y="1956197"/>
            <a:ext cx="4400550" cy="3057525"/>
          </a:xfrm>
          <a:prstGeom prst="rect">
            <a:avLst/>
          </a:prstGeom>
          <a:noFill/>
          <a:ln w="7938">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26" name="Line 50"/>
          <p:cNvSpPr>
            <a:spLocks noChangeShapeType="1"/>
          </p:cNvSpPr>
          <p:nvPr/>
        </p:nvSpPr>
        <p:spPr bwMode="auto">
          <a:xfrm>
            <a:off x="2696767" y="1956197"/>
            <a:ext cx="1190" cy="3057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27" name="Line 51"/>
          <p:cNvSpPr>
            <a:spLocks noChangeShapeType="1"/>
          </p:cNvSpPr>
          <p:nvPr/>
        </p:nvSpPr>
        <p:spPr bwMode="auto">
          <a:xfrm>
            <a:off x="2644378" y="5013724"/>
            <a:ext cx="52388"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28" name="Line 52"/>
          <p:cNvSpPr>
            <a:spLocks noChangeShapeType="1"/>
          </p:cNvSpPr>
          <p:nvPr/>
        </p:nvSpPr>
        <p:spPr bwMode="auto">
          <a:xfrm>
            <a:off x="2644378" y="4400550"/>
            <a:ext cx="52388"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29" name="Line 53"/>
          <p:cNvSpPr>
            <a:spLocks noChangeShapeType="1"/>
          </p:cNvSpPr>
          <p:nvPr/>
        </p:nvSpPr>
        <p:spPr bwMode="auto">
          <a:xfrm>
            <a:off x="2644378" y="3788569"/>
            <a:ext cx="52388"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30" name="Line 54"/>
          <p:cNvSpPr>
            <a:spLocks noChangeShapeType="1"/>
          </p:cNvSpPr>
          <p:nvPr/>
        </p:nvSpPr>
        <p:spPr bwMode="auto">
          <a:xfrm>
            <a:off x="2644378" y="3181350"/>
            <a:ext cx="52388"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31" name="Line 55"/>
          <p:cNvSpPr>
            <a:spLocks noChangeShapeType="1"/>
          </p:cNvSpPr>
          <p:nvPr/>
        </p:nvSpPr>
        <p:spPr bwMode="auto">
          <a:xfrm>
            <a:off x="2644378" y="2568180"/>
            <a:ext cx="52388"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32" name="Line 56"/>
          <p:cNvSpPr>
            <a:spLocks noChangeShapeType="1"/>
          </p:cNvSpPr>
          <p:nvPr/>
        </p:nvSpPr>
        <p:spPr bwMode="auto">
          <a:xfrm>
            <a:off x="2644378" y="1956199"/>
            <a:ext cx="52388"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33" name="Line 57"/>
          <p:cNvSpPr>
            <a:spLocks noChangeShapeType="1"/>
          </p:cNvSpPr>
          <p:nvPr/>
        </p:nvSpPr>
        <p:spPr bwMode="auto">
          <a:xfrm>
            <a:off x="2696766" y="5013724"/>
            <a:ext cx="4400550"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34" name="Line 58"/>
          <p:cNvSpPr>
            <a:spLocks noChangeShapeType="1"/>
          </p:cNvSpPr>
          <p:nvPr/>
        </p:nvSpPr>
        <p:spPr bwMode="auto">
          <a:xfrm flipV="1">
            <a:off x="2696767" y="5013722"/>
            <a:ext cx="1190"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35" name="Line 59"/>
          <p:cNvSpPr>
            <a:spLocks noChangeShapeType="1"/>
          </p:cNvSpPr>
          <p:nvPr/>
        </p:nvSpPr>
        <p:spPr bwMode="auto">
          <a:xfrm flipV="1">
            <a:off x="3575449" y="5013722"/>
            <a:ext cx="1190"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36" name="Line 60"/>
          <p:cNvSpPr>
            <a:spLocks noChangeShapeType="1"/>
          </p:cNvSpPr>
          <p:nvPr/>
        </p:nvSpPr>
        <p:spPr bwMode="auto">
          <a:xfrm flipV="1">
            <a:off x="4458892" y="5013722"/>
            <a:ext cx="1190"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37" name="Line 61"/>
          <p:cNvSpPr>
            <a:spLocks noChangeShapeType="1"/>
          </p:cNvSpPr>
          <p:nvPr/>
        </p:nvSpPr>
        <p:spPr bwMode="auto">
          <a:xfrm flipV="1">
            <a:off x="5336381" y="5013722"/>
            <a:ext cx="1191"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38" name="Line 62"/>
          <p:cNvSpPr>
            <a:spLocks noChangeShapeType="1"/>
          </p:cNvSpPr>
          <p:nvPr/>
        </p:nvSpPr>
        <p:spPr bwMode="auto">
          <a:xfrm flipV="1">
            <a:off x="6219825" y="5013722"/>
            <a:ext cx="1191"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39" name="Line 63"/>
          <p:cNvSpPr>
            <a:spLocks noChangeShapeType="1"/>
          </p:cNvSpPr>
          <p:nvPr/>
        </p:nvSpPr>
        <p:spPr bwMode="auto">
          <a:xfrm flipV="1">
            <a:off x="7097317" y="5013722"/>
            <a:ext cx="1190"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40" name="Freeform 64"/>
          <p:cNvSpPr>
            <a:spLocks/>
          </p:cNvSpPr>
          <p:nvPr/>
        </p:nvSpPr>
        <p:spPr bwMode="auto">
          <a:xfrm>
            <a:off x="3527822" y="4354116"/>
            <a:ext cx="94059" cy="94059"/>
          </a:xfrm>
          <a:custGeom>
            <a:avLst/>
            <a:gdLst>
              <a:gd name="T0" fmla="*/ 63500 w 79"/>
              <a:gd name="T1" fmla="*/ 0 h 79"/>
              <a:gd name="T2" fmla="*/ 125412 w 79"/>
              <a:gd name="T3" fmla="*/ 61912 h 79"/>
              <a:gd name="T4" fmla="*/ 63500 w 79"/>
              <a:gd name="T5" fmla="*/ 125412 h 79"/>
              <a:gd name="T6" fmla="*/ 0 w 79"/>
              <a:gd name="T7" fmla="*/ 61912 h 79"/>
              <a:gd name="T8" fmla="*/ 63500 w 79"/>
              <a:gd name="T9" fmla="*/ 0 h 79"/>
              <a:gd name="T10" fmla="*/ 0 60000 65536"/>
              <a:gd name="T11" fmla="*/ 0 60000 65536"/>
              <a:gd name="T12" fmla="*/ 0 60000 65536"/>
              <a:gd name="T13" fmla="*/ 0 60000 65536"/>
              <a:gd name="T14" fmla="*/ 0 60000 65536"/>
              <a:gd name="T15" fmla="*/ 0 w 79"/>
              <a:gd name="T16" fmla="*/ 0 h 79"/>
              <a:gd name="T17" fmla="*/ 79 w 79"/>
              <a:gd name="T18" fmla="*/ 79 h 79"/>
            </a:gdLst>
            <a:ahLst/>
            <a:cxnLst>
              <a:cxn ang="T10">
                <a:pos x="T0" y="T1"/>
              </a:cxn>
              <a:cxn ang="T11">
                <a:pos x="T2" y="T3"/>
              </a:cxn>
              <a:cxn ang="T12">
                <a:pos x="T4" y="T5"/>
              </a:cxn>
              <a:cxn ang="T13">
                <a:pos x="T6" y="T7"/>
              </a:cxn>
              <a:cxn ang="T14">
                <a:pos x="T8" y="T9"/>
              </a:cxn>
            </a:cxnLst>
            <a:rect l="T15" t="T16" r="T17" b="T18"/>
            <a:pathLst>
              <a:path w="79" h="79">
                <a:moveTo>
                  <a:pt x="40" y="0"/>
                </a:moveTo>
                <a:lnTo>
                  <a:pt x="79" y="39"/>
                </a:lnTo>
                <a:lnTo>
                  <a:pt x="40" y="79"/>
                </a:lnTo>
                <a:lnTo>
                  <a:pt x="0" y="39"/>
                </a:lnTo>
                <a:lnTo>
                  <a:pt x="40" y="0"/>
                </a:lnTo>
                <a:close/>
              </a:path>
            </a:pathLst>
          </a:custGeom>
          <a:solidFill>
            <a:srgbClr val="000080"/>
          </a:solidFill>
          <a:ln w="7938">
            <a:solidFill>
              <a:srgbClr val="000080"/>
            </a:solidFill>
            <a:round/>
            <a:headEnd/>
            <a:tailEnd/>
          </a:ln>
        </p:spPr>
        <p:txBody>
          <a:bodyPr/>
          <a:lstStyle/>
          <a:p>
            <a:endParaRPr lang="en-US" sz="1350"/>
          </a:p>
        </p:txBody>
      </p:sp>
      <p:sp>
        <p:nvSpPr>
          <p:cNvPr id="34841" name="Rectangle 65"/>
          <p:cNvSpPr>
            <a:spLocks noChangeArrowheads="1"/>
          </p:cNvSpPr>
          <p:nvPr/>
        </p:nvSpPr>
        <p:spPr bwMode="auto">
          <a:xfrm>
            <a:off x="2478881" y="4919663"/>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0</a:t>
            </a:r>
            <a:endParaRPr lang="en-US" altLang="en-US" sz="1800"/>
          </a:p>
        </p:txBody>
      </p:sp>
      <p:sp>
        <p:nvSpPr>
          <p:cNvPr id="34842" name="Rectangle 66"/>
          <p:cNvSpPr>
            <a:spLocks noChangeArrowheads="1"/>
          </p:cNvSpPr>
          <p:nvPr/>
        </p:nvSpPr>
        <p:spPr bwMode="auto">
          <a:xfrm>
            <a:off x="2478881" y="4306491"/>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1</a:t>
            </a:r>
            <a:endParaRPr lang="en-US" altLang="en-US" sz="1800"/>
          </a:p>
        </p:txBody>
      </p:sp>
      <p:sp>
        <p:nvSpPr>
          <p:cNvPr id="34843" name="Rectangle 67"/>
          <p:cNvSpPr>
            <a:spLocks noChangeArrowheads="1"/>
          </p:cNvSpPr>
          <p:nvPr/>
        </p:nvSpPr>
        <p:spPr bwMode="auto">
          <a:xfrm>
            <a:off x="2478881" y="369451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2</a:t>
            </a:r>
            <a:endParaRPr lang="en-US" altLang="en-US" sz="1800"/>
          </a:p>
        </p:txBody>
      </p:sp>
      <p:sp>
        <p:nvSpPr>
          <p:cNvPr id="34844" name="Rectangle 68"/>
          <p:cNvSpPr>
            <a:spLocks noChangeArrowheads="1"/>
          </p:cNvSpPr>
          <p:nvPr/>
        </p:nvSpPr>
        <p:spPr bwMode="auto">
          <a:xfrm>
            <a:off x="2478881" y="3087291"/>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3</a:t>
            </a:r>
            <a:endParaRPr lang="en-US" altLang="en-US" sz="1800"/>
          </a:p>
        </p:txBody>
      </p:sp>
      <p:sp>
        <p:nvSpPr>
          <p:cNvPr id="34845" name="Rectangle 69"/>
          <p:cNvSpPr>
            <a:spLocks noChangeArrowheads="1"/>
          </p:cNvSpPr>
          <p:nvPr/>
        </p:nvSpPr>
        <p:spPr bwMode="auto">
          <a:xfrm>
            <a:off x="2478881" y="2474119"/>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4</a:t>
            </a:r>
            <a:endParaRPr lang="en-US" altLang="en-US" sz="1800"/>
          </a:p>
        </p:txBody>
      </p:sp>
      <p:sp>
        <p:nvSpPr>
          <p:cNvPr id="34846" name="Rectangle 70"/>
          <p:cNvSpPr>
            <a:spLocks noChangeArrowheads="1"/>
          </p:cNvSpPr>
          <p:nvPr/>
        </p:nvSpPr>
        <p:spPr bwMode="auto">
          <a:xfrm>
            <a:off x="2478881" y="1862138"/>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5</a:t>
            </a:r>
            <a:endParaRPr lang="en-US" altLang="en-US" sz="1800"/>
          </a:p>
        </p:txBody>
      </p:sp>
      <p:sp>
        <p:nvSpPr>
          <p:cNvPr id="34847" name="Rectangle 71"/>
          <p:cNvSpPr>
            <a:spLocks noChangeArrowheads="1"/>
          </p:cNvSpPr>
          <p:nvPr/>
        </p:nvSpPr>
        <p:spPr bwMode="auto">
          <a:xfrm>
            <a:off x="2656285"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0</a:t>
            </a:r>
            <a:endParaRPr lang="en-US" altLang="en-US" sz="1800"/>
          </a:p>
        </p:txBody>
      </p:sp>
      <p:sp>
        <p:nvSpPr>
          <p:cNvPr id="34848" name="Rectangle 72"/>
          <p:cNvSpPr>
            <a:spLocks noChangeArrowheads="1"/>
          </p:cNvSpPr>
          <p:nvPr/>
        </p:nvSpPr>
        <p:spPr bwMode="auto">
          <a:xfrm>
            <a:off x="3533775"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1</a:t>
            </a:r>
            <a:endParaRPr lang="en-US" altLang="en-US" sz="1800"/>
          </a:p>
        </p:txBody>
      </p:sp>
      <p:sp>
        <p:nvSpPr>
          <p:cNvPr id="34849" name="Rectangle 73"/>
          <p:cNvSpPr>
            <a:spLocks noChangeArrowheads="1"/>
          </p:cNvSpPr>
          <p:nvPr/>
        </p:nvSpPr>
        <p:spPr bwMode="auto">
          <a:xfrm>
            <a:off x="4417219"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2</a:t>
            </a:r>
            <a:endParaRPr lang="en-US" altLang="en-US" sz="1800"/>
          </a:p>
        </p:txBody>
      </p:sp>
      <p:sp>
        <p:nvSpPr>
          <p:cNvPr id="34850" name="Rectangle 74"/>
          <p:cNvSpPr>
            <a:spLocks noChangeArrowheads="1"/>
          </p:cNvSpPr>
          <p:nvPr/>
        </p:nvSpPr>
        <p:spPr bwMode="auto">
          <a:xfrm>
            <a:off x="5294710"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3</a:t>
            </a:r>
            <a:endParaRPr lang="en-US" altLang="en-US" sz="1800"/>
          </a:p>
        </p:txBody>
      </p:sp>
      <p:sp>
        <p:nvSpPr>
          <p:cNvPr id="34851" name="Rectangle 75"/>
          <p:cNvSpPr>
            <a:spLocks noChangeArrowheads="1"/>
          </p:cNvSpPr>
          <p:nvPr/>
        </p:nvSpPr>
        <p:spPr bwMode="auto">
          <a:xfrm>
            <a:off x="6179344"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4</a:t>
            </a:r>
            <a:endParaRPr lang="en-US" altLang="en-US" sz="1800"/>
          </a:p>
        </p:txBody>
      </p:sp>
      <p:sp>
        <p:nvSpPr>
          <p:cNvPr id="34852" name="Rectangle 76"/>
          <p:cNvSpPr>
            <a:spLocks noChangeArrowheads="1"/>
          </p:cNvSpPr>
          <p:nvPr/>
        </p:nvSpPr>
        <p:spPr bwMode="auto">
          <a:xfrm>
            <a:off x="7056835"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5</a:t>
            </a:r>
            <a:endParaRPr lang="en-US" altLang="en-US" sz="1800"/>
          </a:p>
        </p:txBody>
      </p:sp>
      <p:sp>
        <p:nvSpPr>
          <p:cNvPr id="264195" name="Rectangle 3"/>
          <p:cNvSpPr>
            <a:spLocks noGrp="1" noChangeArrowheads="1"/>
          </p:cNvSpPr>
          <p:nvPr>
            <p:ph type="title"/>
          </p:nvPr>
        </p:nvSpPr>
        <p:spPr>
          <a:xfrm>
            <a:off x="1657350" y="1028700"/>
            <a:ext cx="5829300" cy="400050"/>
          </a:xfrm>
        </p:spPr>
        <p:txBody>
          <a:bodyPr>
            <a:normAutofit fontScale="90000"/>
          </a:bodyPr>
          <a:lstStyle/>
          <a:p>
            <a:pPr>
              <a:defRPr/>
            </a:pPr>
            <a:r>
              <a:rPr lang="en-US" sz="3000">
                <a:effectLst>
                  <a:outerShdw blurRad="38100" dist="38100" dir="2700000" algn="tl">
                    <a:srgbClr val="DDDDDD"/>
                  </a:outerShdw>
                </a:effectLst>
              </a:rPr>
              <a:t>K-means Clustering: Step 1</a:t>
            </a:r>
          </a:p>
        </p:txBody>
      </p:sp>
      <p:sp>
        <p:nvSpPr>
          <p:cNvPr id="34854" name="Text Box 4"/>
          <p:cNvSpPr txBox="1">
            <a:spLocks noChangeArrowheads="1"/>
          </p:cNvSpPr>
          <p:nvPr/>
        </p:nvSpPr>
        <p:spPr bwMode="auto">
          <a:xfrm>
            <a:off x="1877616" y="1485901"/>
            <a:ext cx="59939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Algorithm: k-means, Distance Metric: Euclidean Distance</a:t>
            </a:r>
          </a:p>
        </p:txBody>
      </p:sp>
      <p:sp>
        <p:nvSpPr>
          <p:cNvPr id="34855" name="AutoShape 5"/>
          <p:cNvSpPr>
            <a:spLocks noChangeArrowheads="1"/>
          </p:cNvSpPr>
          <p:nvPr/>
        </p:nvSpPr>
        <p:spPr bwMode="auto">
          <a:xfrm>
            <a:off x="3543300" y="43434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56" name="AutoShape 6"/>
          <p:cNvSpPr>
            <a:spLocks noChangeArrowheads="1"/>
          </p:cNvSpPr>
          <p:nvPr/>
        </p:nvSpPr>
        <p:spPr bwMode="auto">
          <a:xfrm>
            <a:off x="3657600" y="451485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57" name="AutoShape 7"/>
          <p:cNvSpPr>
            <a:spLocks noChangeArrowheads="1"/>
          </p:cNvSpPr>
          <p:nvPr/>
        </p:nvSpPr>
        <p:spPr bwMode="auto">
          <a:xfrm>
            <a:off x="3486150" y="46863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58" name="AutoShape 8"/>
          <p:cNvSpPr>
            <a:spLocks noChangeArrowheads="1"/>
          </p:cNvSpPr>
          <p:nvPr/>
        </p:nvSpPr>
        <p:spPr bwMode="auto">
          <a:xfrm>
            <a:off x="3314700" y="417195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59" name="AutoShape 9"/>
          <p:cNvSpPr>
            <a:spLocks noChangeArrowheads="1"/>
          </p:cNvSpPr>
          <p:nvPr/>
        </p:nvSpPr>
        <p:spPr bwMode="auto">
          <a:xfrm>
            <a:off x="3314700" y="24003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60" name="AutoShape 10"/>
          <p:cNvSpPr>
            <a:spLocks noChangeArrowheads="1"/>
          </p:cNvSpPr>
          <p:nvPr/>
        </p:nvSpPr>
        <p:spPr bwMode="auto">
          <a:xfrm>
            <a:off x="3314700" y="35433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61" name="AutoShape 11"/>
          <p:cNvSpPr>
            <a:spLocks noChangeArrowheads="1"/>
          </p:cNvSpPr>
          <p:nvPr/>
        </p:nvSpPr>
        <p:spPr bwMode="auto">
          <a:xfrm>
            <a:off x="3314700" y="46863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62" name="AutoShape 12"/>
          <p:cNvSpPr>
            <a:spLocks noChangeArrowheads="1"/>
          </p:cNvSpPr>
          <p:nvPr/>
        </p:nvSpPr>
        <p:spPr bwMode="auto">
          <a:xfrm>
            <a:off x="2971800" y="394335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63" name="AutoShape 13"/>
          <p:cNvSpPr>
            <a:spLocks noChangeArrowheads="1"/>
          </p:cNvSpPr>
          <p:nvPr/>
        </p:nvSpPr>
        <p:spPr bwMode="auto">
          <a:xfrm>
            <a:off x="4572000" y="371475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64" name="AutoShape 14"/>
          <p:cNvSpPr>
            <a:spLocks noChangeArrowheads="1"/>
          </p:cNvSpPr>
          <p:nvPr/>
        </p:nvSpPr>
        <p:spPr bwMode="auto">
          <a:xfrm>
            <a:off x="6172200" y="222885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65" name="AutoShape 15"/>
          <p:cNvSpPr>
            <a:spLocks noChangeArrowheads="1"/>
          </p:cNvSpPr>
          <p:nvPr/>
        </p:nvSpPr>
        <p:spPr bwMode="auto">
          <a:xfrm>
            <a:off x="6515100" y="22860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66" name="AutoShape 16"/>
          <p:cNvSpPr>
            <a:spLocks noChangeArrowheads="1"/>
          </p:cNvSpPr>
          <p:nvPr/>
        </p:nvSpPr>
        <p:spPr bwMode="auto">
          <a:xfrm>
            <a:off x="6400800" y="24003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67" name="AutoShape 17"/>
          <p:cNvSpPr>
            <a:spLocks noChangeArrowheads="1"/>
          </p:cNvSpPr>
          <p:nvPr/>
        </p:nvSpPr>
        <p:spPr bwMode="auto">
          <a:xfrm>
            <a:off x="6286500" y="25146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68" name="AutoShape 18"/>
          <p:cNvSpPr>
            <a:spLocks noChangeArrowheads="1"/>
          </p:cNvSpPr>
          <p:nvPr/>
        </p:nvSpPr>
        <p:spPr bwMode="auto">
          <a:xfrm>
            <a:off x="6515100" y="26289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69" name="AutoShape 19"/>
          <p:cNvSpPr>
            <a:spLocks noChangeArrowheads="1"/>
          </p:cNvSpPr>
          <p:nvPr/>
        </p:nvSpPr>
        <p:spPr bwMode="auto">
          <a:xfrm>
            <a:off x="6743700" y="291465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70" name="AutoShape 20"/>
          <p:cNvSpPr>
            <a:spLocks noChangeArrowheads="1"/>
          </p:cNvSpPr>
          <p:nvPr/>
        </p:nvSpPr>
        <p:spPr bwMode="auto">
          <a:xfrm>
            <a:off x="5429250" y="222885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71" name="AutoShape 21"/>
          <p:cNvSpPr>
            <a:spLocks noChangeArrowheads="1"/>
          </p:cNvSpPr>
          <p:nvPr/>
        </p:nvSpPr>
        <p:spPr bwMode="auto">
          <a:xfrm>
            <a:off x="5657850" y="33147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72" name="AutoShape 22"/>
          <p:cNvSpPr>
            <a:spLocks noChangeArrowheads="1"/>
          </p:cNvSpPr>
          <p:nvPr/>
        </p:nvSpPr>
        <p:spPr bwMode="auto">
          <a:xfrm>
            <a:off x="5657850" y="44577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73" name="AutoShape 23"/>
          <p:cNvSpPr>
            <a:spLocks noChangeArrowheads="1"/>
          </p:cNvSpPr>
          <p:nvPr/>
        </p:nvSpPr>
        <p:spPr bwMode="auto">
          <a:xfrm>
            <a:off x="5943600" y="46863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74" name="AutoShape 24"/>
          <p:cNvSpPr>
            <a:spLocks noChangeArrowheads="1"/>
          </p:cNvSpPr>
          <p:nvPr/>
        </p:nvSpPr>
        <p:spPr bwMode="auto">
          <a:xfrm>
            <a:off x="6229350" y="41148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75" name="AutoShape 25"/>
          <p:cNvSpPr>
            <a:spLocks noChangeArrowheads="1"/>
          </p:cNvSpPr>
          <p:nvPr/>
        </p:nvSpPr>
        <p:spPr bwMode="auto">
          <a:xfrm>
            <a:off x="5600700" y="36576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76" name="AutoShape 26"/>
          <p:cNvSpPr>
            <a:spLocks noChangeArrowheads="1"/>
          </p:cNvSpPr>
          <p:nvPr/>
        </p:nvSpPr>
        <p:spPr bwMode="auto">
          <a:xfrm>
            <a:off x="5029200" y="40005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77" name="AutoShape 27"/>
          <p:cNvSpPr>
            <a:spLocks noChangeArrowheads="1"/>
          </p:cNvSpPr>
          <p:nvPr/>
        </p:nvSpPr>
        <p:spPr bwMode="auto">
          <a:xfrm>
            <a:off x="6515100" y="43434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78" name="AutoShape 28"/>
          <p:cNvSpPr>
            <a:spLocks noChangeArrowheads="1"/>
          </p:cNvSpPr>
          <p:nvPr/>
        </p:nvSpPr>
        <p:spPr bwMode="auto">
          <a:xfrm>
            <a:off x="6400800" y="462915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79" name="AutoShape 29"/>
          <p:cNvSpPr>
            <a:spLocks noChangeArrowheads="1"/>
          </p:cNvSpPr>
          <p:nvPr/>
        </p:nvSpPr>
        <p:spPr bwMode="auto">
          <a:xfrm>
            <a:off x="6286500" y="38862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80" name="AutoShape 30"/>
          <p:cNvSpPr>
            <a:spLocks noChangeArrowheads="1"/>
          </p:cNvSpPr>
          <p:nvPr/>
        </p:nvSpPr>
        <p:spPr bwMode="auto">
          <a:xfrm>
            <a:off x="6743700" y="48006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81" name="AutoShape 31"/>
          <p:cNvSpPr>
            <a:spLocks noChangeArrowheads="1"/>
          </p:cNvSpPr>
          <p:nvPr/>
        </p:nvSpPr>
        <p:spPr bwMode="auto">
          <a:xfrm>
            <a:off x="6115050" y="280035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grpSp>
        <p:nvGrpSpPr>
          <p:cNvPr id="2" name="Group 32"/>
          <p:cNvGrpSpPr>
            <a:grpSpLocks/>
          </p:cNvGrpSpPr>
          <p:nvPr/>
        </p:nvGrpSpPr>
        <p:grpSpPr bwMode="auto">
          <a:xfrm>
            <a:off x="3886200" y="2571750"/>
            <a:ext cx="2057400" cy="2483644"/>
            <a:chOff x="2304" y="1440"/>
            <a:chExt cx="1728" cy="2086"/>
          </a:xfrm>
        </p:grpSpPr>
        <p:grpSp>
          <p:nvGrpSpPr>
            <p:cNvPr id="34884" name="Group 33"/>
            <p:cNvGrpSpPr>
              <a:grpSpLocks/>
            </p:cNvGrpSpPr>
            <p:nvPr/>
          </p:nvGrpSpPr>
          <p:grpSpPr bwMode="auto">
            <a:xfrm>
              <a:off x="2784" y="1440"/>
              <a:ext cx="432" cy="358"/>
              <a:chOff x="192" y="1824"/>
              <a:chExt cx="432" cy="358"/>
            </a:xfrm>
          </p:grpSpPr>
          <p:sp>
            <p:nvSpPr>
              <p:cNvPr id="34891" name="Oval 34"/>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92" name="Text Box 35"/>
              <p:cNvSpPr txBox="1">
                <a:spLocks noChangeArrowheads="1"/>
              </p:cNvSpPr>
              <p:nvPr/>
            </p:nvSpPr>
            <p:spPr bwMode="auto">
              <a:xfrm>
                <a:off x="288" y="1872"/>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k</a:t>
                </a:r>
                <a:r>
                  <a:rPr lang="en-US" altLang="en-US" sz="1800" baseline="-25000"/>
                  <a:t>1</a:t>
                </a:r>
              </a:p>
            </p:txBody>
          </p:sp>
        </p:grpSp>
        <p:grpSp>
          <p:nvGrpSpPr>
            <p:cNvPr id="34885" name="Group 36"/>
            <p:cNvGrpSpPr>
              <a:grpSpLocks/>
            </p:cNvGrpSpPr>
            <p:nvPr/>
          </p:nvGrpSpPr>
          <p:grpSpPr bwMode="auto">
            <a:xfrm>
              <a:off x="2304" y="2160"/>
              <a:ext cx="432" cy="358"/>
              <a:chOff x="192" y="1824"/>
              <a:chExt cx="432" cy="358"/>
            </a:xfrm>
          </p:grpSpPr>
          <p:sp>
            <p:nvSpPr>
              <p:cNvPr id="34889" name="Oval 37"/>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90" name="Text Box 38"/>
              <p:cNvSpPr txBox="1">
                <a:spLocks noChangeArrowheads="1"/>
              </p:cNvSpPr>
              <p:nvPr/>
            </p:nvSpPr>
            <p:spPr bwMode="auto">
              <a:xfrm>
                <a:off x="288" y="1872"/>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k</a:t>
                </a:r>
                <a:r>
                  <a:rPr lang="en-US" altLang="en-US" sz="1800" baseline="-25000"/>
                  <a:t>2</a:t>
                </a:r>
              </a:p>
            </p:txBody>
          </p:sp>
        </p:grpSp>
        <p:grpSp>
          <p:nvGrpSpPr>
            <p:cNvPr id="34886" name="Group 39"/>
            <p:cNvGrpSpPr>
              <a:grpSpLocks/>
            </p:cNvGrpSpPr>
            <p:nvPr/>
          </p:nvGrpSpPr>
          <p:grpSpPr bwMode="auto">
            <a:xfrm>
              <a:off x="3600" y="3168"/>
              <a:ext cx="432" cy="358"/>
              <a:chOff x="192" y="1824"/>
              <a:chExt cx="432" cy="358"/>
            </a:xfrm>
          </p:grpSpPr>
          <p:sp>
            <p:nvSpPr>
              <p:cNvPr id="34887" name="Oval 40"/>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4888" name="Text Box 41"/>
              <p:cNvSpPr txBox="1">
                <a:spLocks noChangeArrowheads="1"/>
              </p:cNvSpPr>
              <p:nvPr/>
            </p:nvSpPr>
            <p:spPr bwMode="auto">
              <a:xfrm>
                <a:off x="288" y="1872"/>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k</a:t>
                </a:r>
                <a:r>
                  <a:rPr lang="en-US" altLang="en-US" sz="1800" baseline="-25000"/>
                  <a:t>3</a:t>
                </a:r>
              </a:p>
            </p:txBody>
          </p:sp>
        </p:grpSp>
      </p:grpSp>
      <p:sp>
        <p:nvSpPr>
          <p:cNvPr id="34883" name="TextBox 75"/>
          <p:cNvSpPr txBox="1">
            <a:spLocks noChangeArrowheads="1"/>
          </p:cNvSpPr>
          <p:nvPr/>
        </p:nvSpPr>
        <p:spPr bwMode="auto">
          <a:xfrm>
            <a:off x="1143001" y="5723335"/>
            <a:ext cx="313739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Slide based on one by Eamonn Keogh</a:t>
            </a:r>
          </a:p>
        </p:txBody>
      </p:sp>
    </p:spTree>
    <p:extLst>
      <p:ext uri="{BB962C8B-B14F-4D97-AF65-F5344CB8AC3E}">
        <p14:creationId xmlns:p14="http://schemas.microsoft.com/office/powerpoint/2010/main" val="31325542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5"/>
          <p:cNvSpPr>
            <a:spLocks noChangeArrowheads="1"/>
          </p:cNvSpPr>
          <p:nvPr/>
        </p:nvSpPr>
        <p:spPr bwMode="auto">
          <a:xfrm>
            <a:off x="1984772" y="1756173"/>
            <a:ext cx="5242322" cy="41112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43" name="Rectangle 46"/>
          <p:cNvSpPr>
            <a:spLocks noChangeArrowheads="1"/>
          </p:cNvSpPr>
          <p:nvPr/>
        </p:nvSpPr>
        <p:spPr bwMode="auto">
          <a:xfrm>
            <a:off x="2696766" y="1956197"/>
            <a:ext cx="4400550" cy="30575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44" name="Line 47"/>
          <p:cNvSpPr>
            <a:spLocks noChangeShapeType="1"/>
          </p:cNvSpPr>
          <p:nvPr/>
        </p:nvSpPr>
        <p:spPr bwMode="auto">
          <a:xfrm>
            <a:off x="2696766" y="4400550"/>
            <a:ext cx="4400550"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45" name="Line 48"/>
          <p:cNvSpPr>
            <a:spLocks noChangeShapeType="1"/>
          </p:cNvSpPr>
          <p:nvPr/>
        </p:nvSpPr>
        <p:spPr bwMode="auto">
          <a:xfrm>
            <a:off x="2696766" y="3788569"/>
            <a:ext cx="4400550"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46" name="Line 49"/>
          <p:cNvSpPr>
            <a:spLocks noChangeShapeType="1"/>
          </p:cNvSpPr>
          <p:nvPr/>
        </p:nvSpPr>
        <p:spPr bwMode="auto">
          <a:xfrm>
            <a:off x="2696766" y="3181350"/>
            <a:ext cx="4400550"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47" name="Line 50"/>
          <p:cNvSpPr>
            <a:spLocks noChangeShapeType="1"/>
          </p:cNvSpPr>
          <p:nvPr/>
        </p:nvSpPr>
        <p:spPr bwMode="auto">
          <a:xfrm>
            <a:off x="2696766" y="2568180"/>
            <a:ext cx="4400550"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48" name="Line 51"/>
          <p:cNvSpPr>
            <a:spLocks noChangeShapeType="1"/>
          </p:cNvSpPr>
          <p:nvPr/>
        </p:nvSpPr>
        <p:spPr bwMode="auto">
          <a:xfrm>
            <a:off x="2696766" y="1956199"/>
            <a:ext cx="4400550"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49" name="Rectangle 52"/>
          <p:cNvSpPr>
            <a:spLocks noChangeArrowheads="1"/>
          </p:cNvSpPr>
          <p:nvPr/>
        </p:nvSpPr>
        <p:spPr bwMode="auto">
          <a:xfrm>
            <a:off x="2696766" y="1956197"/>
            <a:ext cx="4400550" cy="3057525"/>
          </a:xfrm>
          <a:prstGeom prst="rect">
            <a:avLst/>
          </a:prstGeom>
          <a:noFill/>
          <a:ln w="7938">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50" name="Line 53"/>
          <p:cNvSpPr>
            <a:spLocks noChangeShapeType="1"/>
          </p:cNvSpPr>
          <p:nvPr/>
        </p:nvSpPr>
        <p:spPr bwMode="auto">
          <a:xfrm>
            <a:off x="2696767" y="1956197"/>
            <a:ext cx="1190" cy="3057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51" name="Line 54"/>
          <p:cNvSpPr>
            <a:spLocks noChangeShapeType="1"/>
          </p:cNvSpPr>
          <p:nvPr/>
        </p:nvSpPr>
        <p:spPr bwMode="auto">
          <a:xfrm>
            <a:off x="2644378" y="5013724"/>
            <a:ext cx="52388"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52" name="Line 55"/>
          <p:cNvSpPr>
            <a:spLocks noChangeShapeType="1"/>
          </p:cNvSpPr>
          <p:nvPr/>
        </p:nvSpPr>
        <p:spPr bwMode="auto">
          <a:xfrm>
            <a:off x="2644378" y="4400550"/>
            <a:ext cx="52388"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53" name="Line 56"/>
          <p:cNvSpPr>
            <a:spLocks noChangeShapeType="1"/>
          </p:cNvSpPr>
          <p:nvPr/>
        </p:nvSpPr>
        <p:spPr bwMode="auto">
          <a:xfrm>
            <a:off x="2644378" y="3788569"/>
            <a:ext cx="52388"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54" name="Line 57"/>
          <p:cNvSpPr>
            <a:spLocks noChangeShapeType="1"/>
          </p:cNvSpPr>
          <p:nvPr/>
        </p:nvSpPr>
        <p:spPr bwMode="auto">
          <a:xfrm>
            <a:off x="2644378" y="3181350"/>
            <a:ext cx="52388"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55" name="Line 58"/>
          <p:cNvSpPr>
            <a:spLocks noChangeShapeType="1"/>
          </p:cNvSpPr>
          <p:nvPr/>
        </p:nvSpPr>
        <p:spPr bwMode="auto">
          <a:xfrm>
            <a:off x="2644378" y="2568180"/>
            <a:ext cx="52388"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56" name="Line 59"/>
          <p:cNvSpPr>
            <a:spLocks noChangeShapeType="1"/>
          </p:cNvSpPr>
          <p:nvPr/>
        </p:nvSpPr>
        <p:spPr bwMode="auto">
          <a:xfrm>
            <a:off x="2644378" y="1956199"/>
            <a:ext cx="52388"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57" name="Line 60"/>
          <p:cNvSpPr>
            <a:spLocks noChangeShapeType="1"/>
          </p:cNvSpPr>
          <p:nvPr/>
        </p:nvSpPr>
        <p:spPr bwMode="auto">
          <a:xfrm>
            <a:off x="2696766" y="5013724"/>
            <a:ext cx="4400550"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58" name="Line 61"/>
          <p:cNvSpPr>
            <a:spLocks noChangeShapeType="1"/>
          </p:cNvSpPr>
          <p:nvPr/>
        </p:nvSpPr>
        <p:spPr bwMode="auto">
          <a:xfrm flipV="1">
            <a:off x="2696767" y="5013722"/>
            <a:ext cx="1190"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59" name="Line 62"/>
          <p:cNvSpPr>
            <a:spLocks noChangeShapeType="1"/>
          </p:cNvSpPr>
          <p:nvPr/>
        </p:nvSpPr>
        <p:spPr bwMode="auto">
          <a:xfrm flipV="1">
            <a:off x="3575449" y="5013722"/>
            <a:ext cx="1190"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60" name="Line 63"/>
          <p:cNvSpPr>
            <a:spLocks noChangeShapeType="1"/>
          </p:cNvSpPr>
          <p:nvPr/>
        </p:nvSpPr>
        <p:spPr bwMode="auto">
          <a:xfrm flipV="1">
            <a:off x="4458892" y="5013722"/>
            <a:ext cx="1190"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61" name="Line 64"/>
          <p:cNvSpPr>
            <a:spLocks noChangeShapeType="1"/>
          </p:cNvSpPr>
          <p:nvPr/>
        </p:nvSpPr>
        <p:spPr bwMode="auto">
          <a:xfrm flipV="1">
            <a:off x="5336381" y="5013722"/>
            <a:ext cx="1191"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62" name="Line 65"/>
          <p:cNvSpPr>
            <a:spLocks noChangeShapeType="1"/>
          </p:cNvSpPr>
          <p:nvPr/>
        </p:nvSpPr>
        <p:spPr bwMode="auto">
          <a:xfrm flipV="1">
            <a:off x="6219825" y="5013722"/>
            <a:ext cx="1191"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63" name="Line 66"/>
          <p:cNvSpPr>
            <a:spLocks noChangeShapeType="1"/>
          </p:cNvSpPr>
          <p:nvPr/>
        </p:nvSpPr>
        <p:spPr bwMode="auto">
          <a:xfrm flipV="1">
            <a:off x="7097317" y="5013722"/>
            <a:ext cx="1190"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864" name="Freeform 67"/>
          <p:cNvSpPr>
            <a:spLocks/>
          </p:cNvSpPr>
          <p:nvPr/>
        </p:nvSpPr>
        <p:spPr bwMode="auto">
          <a:xfrm>
            <a:off x="3527822" y="4354116"/>
            <a:ext cx="94059" cy="94059"/>
          </a:xfrm>
          <a:custGeom>
            <a:avLst/>
            <a:gdLst>
              <a:gd name="T0" fmla="*/ 63500 w 79"/>
              <a:gd name="T1" fmla="*/ 0 h 79"/>
              <a:gd name="T2" fmla="*/ 125412 w 79"/>
              <a:gd name="T3" fmla="*/ 61912 h 79"/>
              <a:gd name="T4" fmla="*/ 63500 w 79"/>
              <a:gd name="T5" fmla="*/ 125412 h 79"/>
              <a:gd name="T6" fmla="*/ 0 w 79"/>
              <a:gd name="T7" fmla="*/ 61912 h 79"/>
              <a:gd name="T8" fmla="*/ 63500 w 79"/>
              <a:gd name="T9" fmla="*/ 0 h 79"/>
              <a:gd name="T10" fmla="*/ 0 60000 65536"/>
              <a:gd name="T11" fmla="*/ 0 60000 65536"/>
              <a:gd name="T12" fmla="*/ 0 60000 65536"/>
              <a:gd name="T13" fmla="*/ 0 60000 65536"/>
              <a:gd name="T14" fmla="*/ 0 60000 65536"/>
              <a:gd name="T15" fmla="*/ 0 w 79"/>
              <a:gd name="T16" fmla="*/ 0 h 79"/>
              <a:gd name="T17" fmla="*/ 79 w 79"/>
              <a:gd name="T18" fmla="*/ 79 h 79"/>
            </a:gdLst>
            <a:ahLst/>
            <a:cxnLst>
              <a:cxn ang="T10">
                <a:pos x="T0" y="T1"/>
              </a:cxn>
              <a:cxn ang="T11">
                <a:pos x="T2" y="T3"/>
              </a:cxn>
              <a:cxn ang="T12">
                <a:pos x="T4" y="T5"/>
              </a:cxn>
              <a:cxn ang="T13">
                <a:pos x="T6" y="T7"/>
              </a:cxn>
              <a:cxn ang="T14">
                <a:pos x="T8" y="T9"/>
              </a:cxn>
            </a:cxnLst>
            <a:rect l="T15" t="T16" r="T17" b="T18"/>
            <a:pathLst>
              <a:path w="79" h="79">
                <a:moveTo>
                  <a:pt x="40" y="0"/>
                </a:moveTo>
                <a:lnTo>
                  <a:pt x="79" y="39"/>
                </a:lnTo>
                <a:lnTo>
                  <a:pt x="40" y="79"/>
                </a:lnTo>
                <a:lnTo>
                  <a:pt x="0" y="39"/>
                </a:lnTo>
                <a:lnTo>
                  <a:pt x="40" y="0"/>
                </a:lnTo>
                <a:close/>
              </a:path>
            </a:pathLst>
          </a:custGeom>
          <a:solidFill>
            <a:srgbClr val="000080"/>
          </a:solidFill>
          <a:ln w="7938">
            <a:solidFill>
              <a:srgbClr val="000080"/>
            </a:solidFill>
            <a:round/>
            <a:headEnd/>
            <a:tailEnd/>
          </a:ln>
        </p:spPr>
        <p:txBody>
          <a:bodyPr/>
          <a:lstStyle/>
          <a:p>
            <a:endParaRPr lang="en-US" sz="1350"/>
          </a:p>
        </p:txBody>
      </p:sp>
      <p:sp>
        <p:nvSpPr>
          <p:cNvPr id="35865" name="Rectangle 68"/>
          <p:cNvSpPr>
            <a:spLocks noChangeArrowheads="1"/>
          </p:cNvSpPr>
          <p:nvPr/>
        </p:nvSpPr>
        <p:spPr bwMode="auto">
          <a:xfrm>
            <a:off x="2478881" y="4919663"/>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0</a:t>
            </a:r>
            <a:endParaRPr lang="en-US" altLang="en-US" sz="1800"/>
          </a:p>
        </p:txBody>
      </p:sp>
      <p:sp>
        <p:nvSpPr>
          <p:cNvPr id="35866" name="Rectangle 69"/>
          <p:cNvSpPr>
            <a:spLocks noChangeArrowheads="1"/>
          </p:cNvSpPr>
          <p:nvPr/>
        </p:nvSpPr>
        <p:spPr bwMode="auto">
          <a:xfrm>
            <a:off x="2478881" y="4306491"/>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1</a:t>
            </a:r>
            <a:endParaRPr lang="en-US" altLang="en-US" sz="1800"/>
          </a:p>
        </p:txBody>
      </p:sp>
      <p:sp>
        <p:nvSpPr>
          <p:cNvPr id="35867" name="Rectangle 70"/>
          <p:cNvSpPr>
            <a:spLocks noChangeArrowheads="1"/>
          </p:cNvSpPr>
          <p:nvPr/>
        </p:nvSpPr>
        <p:spPr bwMode="auto">
          <a:xfrm>
            <a:off x="2478881" y="369451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2</a:t>
            </a:r>
            <a:endParaRPr lang="en-US" altLang="en-US" sz="1800"/>
          </a:p>
        </p:txBody>
      </p:sp>
      <p:sp>
        <p:nvSpPr>
          <p:cNvPr id="35868" name="Rectangle 71"/>
          <p:cNvSpPr>
            <a:spLocks noChangeArrowheads="1"/>
          </p:cNvSpPr>
          <p:nvPr/>
        </p:nvSpPr>
        <p:spPr bwMode="auto">
          <a:xfrm>
            <a:off x="2478881" y="3087291"/>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3</a:t>
            </a:r>
            <a:endParaRPr lang="en-US" altLang="en-US" sz="1800"/>
          </a:p>
        </p:txBody>
      </p:sp>
      <p:sp>
        <p:nvSpPr>
          <p:cNvPr id="35869" name="Rectangle 72"/>
          <p:cNvSpPr>
            <a:spLocks noChangeArrowheads="1"/>
          </p:cNvSpPr>
          <p:nvPr/>
        </p:nvSpPr>
        <p:spPr bwMode="auto">
          <a:xfrm>
            <a:off x="2478881" y="2474119"/>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4</a:t>
            </a:r>
            <a:endParaRPr lang="en-US" altLang="en-US" sz="1800"/>
          </a:p>
        </p:txBody>
      </p:sp>
      <p:sp>
        <p:nvSpPr>
          <p:cNvPr id="35870" name="Rectangle 73"/>
          <p:cNvSpPr>
            <a:spLocks noChangeArrowheads="1"/>
          </p:cNvSpPr>
          <p:nvPr/>
        </p:nvSpPr>
        <p:spPr bwMode="auto">
          <a:xfrm>
            <a:off x="2478881" y="1862138"/>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5</a:t>
            </a:r>
            <a:endParaRPr lang="en-US" altLang="en-US" sz="1800"/>
          </a:p>
        </p:txBody>
      </p:sp>
      <p:sp>
        <p:nvSpPr>
          <p:cNvPr id="35871" name="Rectangle 74"/>
          <p:cNvSpPr>
            <a:spLocks noChangeArrowheads="1"/>
          </p:cNvSpPr>
          <p:nvPr/>
        </p:nvSpPr>
        <p:spPr bwMode="auto">
          <a:xfrm>
            <a:off x="2656285"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0</a:t>
            </a:r>
            <a:endParaRPr lang="en-US" altLang="en-US" sz="1800"/>
          </a:p>
        </p:txBody>
      </p:sp>
      <p:sp>
        <p:nvSpPr>
          <p:cNvPr id="35872" name="Rectangle 75"/>
          <p:cNvSpPr>
            <a:spLocks noChangeArrowheads="1"/>
          </p:cNvSpPr>
          <p:nvPr/>
        </p:nvSpPr>
        <p:spPr bwMode="auto">
          <a:xfrm>
            <a:off x="3533775"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1</a:t>
            </a:r>
            <a:endParaRPr lang="en-US" altLang="en-US" sz="1800"/>
          </a:p>
        </p:txBody>
      </p:sp>
      <p:sp>
        <p:nvSpPr>
          <p:cNvPr id="35873" name="Rectangle 76"/>
          <p:cNvSpPr>
            <a:spLocks noChangeArrowheads="1"/>
          </p:cNvSpPr>
          <p:nvPr/>
        </p:nvSpPr>
        <p:spPr bwMode="auto">
          <a:xfrm>
            <a:off x="4417219"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2</a:t>
            </a:r>
            <a:endParaRPr lang="en-US" altLang="en-US" sz="1800"/>
          </a:p>
        </p:txBody>
      </p:sp>
      <p:sp>
        <p:nvSpPr>
          <p:cNvPr id="35874" name="Rectangle 77"/>
          <p:cNvSpPr>
            <a:spLocks noChangeArrowheads="1"/>
          </p:cNvSpPr>
          <p:nvPr/>
        </p:nvSpPr>
        <p:spPr bwMode="auto">
          <a:xfrm>
            <a:off x="5294710"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3</a:t>
            </a:r>
            <a:endParaRPr lang="en-US" altLang="en-US" sz="1800"/>
          </a:p>
        </p:txBody>
      </p:sp>
      <p:sp>
        <p:nvSpPr>
          <p:cNvPr id="35875" name="Rectangle 78"/>
          <p:cNvSpPr>
            <a:spLocks noChangeArrowheads="1"/>
          </p:cNvSpPr>
          <p:nvPr/>
        </p:nvSpPr>
        <p:spPr bwMode="auto">
          <a:xfrm>
            <a:off x="6179344"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4</a:t>
            </a:r>
            <a:endParaRPr lang="en-US" altLang="en-US" sz="1800"/>
          </a:p>
        </p:txBody>
      </p:sp>
      <p:sp>
        <p:nvSpPr>
          <p:cNvPr id="35876" name="Rectangle 79"/>
          <p:cNvSpPr>
            <a:spLocks noChangeArrowheads="1"/>
          </p:cNvSpPr>
          <p:nvPr/>
        </p:nvSpPr>
        <p:spPr bwMode="auto">
          <a:xfrm>
            <a:off x="7056835"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5</a:t>
            </a:r>
            <a:endParaRPr lang="en-US" altLang="en-US" sz="1800"/>
          </a:p>
        </p:txBody>
      </p:sp>
      <p:sp>
        <p:nvSpPr>
          <p:cNvPr id="265219" name="Rectangle 3"/>
          <p:cNvSpPr>
            <a:spLocks noGrp="1" noChangeArrowheads="1"/>
          </p:cNvSpPr>
          <p:nvPr>
            <p:ph type="title"/>
          </p:nvPr>
        </p:nvSpPr>
        <p:spPr>
          <a:xfrm>
            <a:off x="1657350" y="1028700"/>
            <a:ext cx="5829300" cy="400050"/>
          </a:xfrm>
        </p:spPr>
        <p:txBody>
          <a:bodyPr>
            <a:normAutofit fontScale="90000"/>
          </a:bodyPr>
          <a:lstStyle/>
          <a:p>
            <a:pPr>
              <a:defRPr/>
            </a:pPr>
            <a:r>
              <a:rPr lang="en-US" sz="3000">
                <a:effectLst>
                  <a:outerShdw blurRad="38100" dist="38100" dir="2700000" algn="tl">
                    <a:srgbClr val="DDDDDD"/>
                  </a:outerShdw>
                </a:effectLst>
              </a:rPr>
              <a:t>K-means Clustering: Step 2</a:t>
            </a:r>
          </a:p>
        </p:txBody>
      </p:sp>
      <p:sp>
        <p:nvSpPr>
          <p:cNvPr id="35878" name="Text Box 4"/>
          <p:cNvSpPr txBox="1">
            <a:spLocks noChangeArrowheads="1"/>
          </p:cNvSpPr>
          <p:nvPr/>
        </p:nvSpPr>
        <p:spPr bwMode="auto">
          <a:xfrm>
            <a:off x="1877616" y="1485901"/>
            <a:ext cx="59939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Algorithm: k-means, Distance Metric: Euclidean Distance</a:t>
            </a:r>
          </a:p>
        </p:txBody>
      </p:sp>
      <p:grpSp>
        <p:nvGrpSpPr>
          <p:cNvPr id="35879" name="Group 5"/>
          <p:cNvGrpSpPr>
            <a:grpSpLocks/>
          </p:cNvGrpSpPr>
          <p:nvPr/>
        </p:nvGrpSpPr>
        <p:grpSpPr bwMode="auto">
          <a:xfrm>
            <a:off x="4457700" y="2571751"/>
            <a:ext cx="514350" cy="426244"/>
            <a:chOff x="192" y="1824"/>
            <a:chExt cx="432" cy="358"/>
          </a:xfrm>
        </p:grpSpPr>
        <p:sp>
          <p:nvSpPr>
            <p:cNvPr id="35921" name="Oval 6"/>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922" name="Text Box 7"/>
            <p:cNvSpPr txBox="1">
              <a:spLocks noChangeArrowheads="1"/>
            </p:cNvSpPr>
            <p:nvPr/>
          </p:nvSpPr>
          <p:spPr bwMode="auto">
            <a:xfrm>
              <a:off x="288" y="1872"/>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k</a:t>
              </a:r>
              <a:r>
                <a:rPr lang="en-US" altLang="en-US" sz="1800" baseline="-25000"/>
                <a:t>1</a:t>
              </a:r>
            </a:p>
          </p:txBody>
        </p:sp>
      </p:grpSp>
      <p:grpSp>
        <p:nvGrpSpPr>
          <p:cNvPr id="35880" name="Group 8"/>
          <p:cNvGrpSpPr>
            <a:grpSpLocks/>
          </p:cNvGrpSpPr>
          <p:nvPr/>
        </p:nvGrpSpPr>
        <p:grpSpPr bwMode="auto">
          <a:xfrm>
            <a:off x="3886200" y="3429001"/>
            <a:ext cx="514350" cy="426244"/>
            <a:chOff x="192" y="1824"/>
            <a:chExt cx="432" cy="358"/>
          </a:xfrm>
        </p:grpSpPr>
        <p:sp>
          <p:nvSpPr>
            <p:cNvPr id="35919" name="Oval 9"/>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920" name="Text Box 10"/>
            <p:cNvSpPr txBox="1">
              <a:spLocks noChangeArrowheads="1"/>
            </p:cNvSpPr>
            <p:nvPr/>
          </p:nvSpPr>
          <p:spPr bwMode="auto">
            <a:xfrm>
              <a:off x="288" y="1872"/>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k</a:t>
              </a:r>
              <a:r>
                <a:rPr lang="en-US" altLang="en-US" sz="1800" baseline="-25000"/>
                <a:t>2</a:t>
              </a:r>
            </a:p>
          </p:txBody>
        </p:sp>
      </p:grpSp>
      <p:grpSp>
        <p:nvGrpSpPr>
          <p:cNvPr id="35881" name="Group 11"/>
          <p:cNvGrpSpPr>
            <a:grpSpLocks/>
          </p:cNvGrpSpPr>
          <p:nvPr/>
        </p:nvGrpSpPr>
        <p:grpSpPr bwMode="auto">
          <a:xfrm>
            <a:off x="5429250" y="4629151"/>
            <a:ext cx="514350" cy="426244"/>
            <a:chOff x="192" y="1824"/>
            <a:chExt cx="432" cy="358"/>
          </a:xfrm>
        </p:grpSpPr>
        <p:sp>
          <p:nvSpPr>
            <p:cNvPr id="35917" name="Oval 12"/>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918" name="Text Box 13"/>
            <p:cNvSpPr txBox="1">
              <a:spLocks noChangeArrowheads="1"/>
            </p:cNvSpPr>
            <p:nvPr/>
          </p:nvSpPr>
          <p:spPr bwMode="auto">
            <a:xfrm>
              <a:off x="288" y="1872"/>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k</a:t>
              </a:r>
              <a:r>
                <a:rPr lang="en-US" altLang="en-US" sz="1800" baseline="-25000"/>
                <a:t>3</a:t>
              </a:r>
            </a:p>
          </p:txBody>
        </p:sp>
      </p:grpSp>
      <p:sp>
        <p:nvSpPr>
          <p:cNvPr id="35882" name="AutoShape 14"/>
          <p:cNvSpPr>
            <a:spLocks noChangeArrowheads="1"/>
          </p:cNvSpPr>
          <p:nvPr/>
        </p:nvSpPr>
        <p:spPr bwMode="auto">
          <a:xfrm>
            <a:off x="3543300" y="434340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83" name="AutoShape 15"/>
          <p:cNvSpPr>
            <a:spLocks noChangeArrowheads="1"/>
          </p:cNvSpPr>
          <p:nvPr/>
        </p:nvSpPr>
        <p:spPr bwMode="auto">
          <a:xfrm>
            <a:off x="3657600" y="451485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84" name="AutoShape 16"/>
          <p:cNvSpPr>
            <a:spLocks noChangeArrowheads="1"/>
          </p:cNvSpPr>
          <p:nvPr/>
        </p:nvSpPr>
        <p:spPr bwMode="auto">
          <a:xfrm>
            <a:off x="3486150" y="468630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85" name="AutoShape 17"/>
          <p:cNvSpPr>
            <a:spLocks noChangeArrowheads="1"/>
          </p:cNvSpPr>
          <p:nvPr/>
        </p:nvSpPr>
        <p:spPr bwMode="auto">
          <a:xfrm>
            <a:off x="3314700" y="417195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86" name="AutoShape 18"/>
          <p:cNvSpPr>
            <a:spLocks noChangeArrowheads="1"/>
          </p:cNvSpPr>
          <p:nvPr/>
        </p:nvSpPr>
        <p:spPr bwMode="auto">
          <a:xfrm>
            <a:off x="3314700" y="24003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87" name="AutoShape 19"/>
          <p:cNvSpPr>
            <a:spLocks noChangeArrowheads="1"/>
          </p:cNvSpPr>
          <p:nvPr/>
        </p:nvSpPr>
        <p:spPr bwMode="auto">
          <a:xfrm>
            <a:off x="3314700" y="354330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88" name="AutoShape 20"/>
          <p:cNvSpPr>
            <a:spLocks noChangeArrowheads="1"/>
          </p:cNvSpPr>
          <p:nvPr/>
        </p:nvSpPr>
        <p:spPr bwMode="auto">
          <a:xfrm>
            <a:off x="3314700" y="468630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89" name="AutoShape 21"/>
          <p:cNvSpPr>
            <a:spLocks noChangeArrowheads="1"/>
          </p:cNvSpPr>
          <p:nvPr/>
        </p:nvSpPr>
        <p:spPr bwMode="auto">
          <a:xfrm>
            <a:off x="2971800" y="394335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90" name="AutoShape 22"/>
          <p:cNvSpPr>
            <a:spLocks noChangeArrowheads="1"/>
          </p:cNvSpPr>
          <p:nvPr/>
        </p:nvSpPr>
        <p:spPr bwMode="auto">
          <a:xfrm>
            <a:off x="4572000" y="371475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91" name="AutoShape 23"/>
          <p:cNvSpPr>
            <a:spLocks noChangeArrowheads="1"/>
          </p:cNvSpPr>
          <p:nvPr/>
        </p:nvSpPr>
        <p:spPr bwMode="auto">
          <a:xfrm>
            <a:off x="6172200" y="222885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92" name="AutoShape 24"/>
          <p:cNvSpPr>
            <a:spLocks noChangeArrowheads="1"/>
          </p:cNvSpPr>
          <p:nvPr/>
        </p:nvSpPr>
        <p:spPr bwMode="auto">
          <a:xfrm>
            <a:off x="6515100" y="22860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93" name="AutoShape 25"/>
          <p:cNvSpPr>
            <a:spLocks noChangeArrowheads="1"/>
          </p:cNvSpPr>
          <p:nvPr/>
        </p:nvSpPr>
        <p:spPr bwMode="auto">
          <a:xfrm>
            <a:off x="6400800" y="24003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94" name="AutoShape 26"/>
          <p:cNvSpPr>
            <a:spLocks noChangeArrowheads="1"/>
          </p:cNvSpPr>
          <p:nvPr/>
        </p:nvSpPr>
        <p:spPr bwMode="auto">
          <a:xfrm>
            <a:off x="6286500" y="25146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95" name="AutoShape 27"/>
          <p:cNvSpPr>
            <a:spLocks noChangeArrowheads="1"/>
          </p:cNvSpPr>
          <p:nvPr/>
        </p:nvSpPr>
        <p:spPr bwMode="auto">
          <a:xfrm>
            <a:off x="6515100" y="26289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96" name="AutoShape 28"/>
          <p:cNvSpPr>
            <a:spLocks noChangeArrowheads="1"/>
          </p:cNvSpPr>
          <p:nvPr/>
        </p:nvSpPr>
        <p:spPr bwMode="auto">
          <a:xfrm>
            <a:off x="6743700" y="291465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97" name="AutoShape 29"/>
          <p:cNvSpPr>
            <a:spLocks noChangeArrowheads="1"/>
          </p:cNvSpPr>
          <p:nvPr/>
        </p:nvSpPr>
        <p:spPr bwMode="auto">
          <a:xfrm>
            <a:off x="5429250" y="222885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98" name="AutoShape 30"/>
          <p:cNvSpPr>
            <a:spLocks noChangeArrowheads="1"/>
          </p:cNvSpPr>
          <p:nvPr/>
        </p:nvSpPr>
        <p:spPr bwMode="auto">
          <a:xfrm>
            <a:off x="5657850" y="33147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899" name="AutoShape 31"/>
          <p:cNvSpPr>
            <a:spLocks noChangeArrowheads="1"/>
          </p:cNvSpPr>
          <p:nvPr/>
        </p:nvSpPr>
        <p:spPr bwMode="auto">
          <a:xfrm>
            <a:off x="5657850" y="44577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900" name="AutoShape 32"/>
          <p:cNvSpPr>
            <a:spLocks noChangeArrowheads="1"/>
          </p:cNvSpPr>
          <p:nvPr/>
        </p:nvSpPr>
        <p:spPr bwMode="auto">
          <a:xfrm>
            <a:off x="5943600" y="46863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901" name="AutoShape 33"/>
          <p:cNvSpPr>
            <a:spLocks noChangeArrowheads="1"/>
          </p:cNvSpPr>
          <p:nvPr/>
        </p:nvSpPr>
        <p:spPr bwMode="auto">
          <a:xfrm>
            <a:off x="6229350" y="41148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902" name="AutoShape 34"/>
          <p:cNvSpPr>
            <a:spLocks noChangeArrowheads="1"/>
          </p:cNvSpPr>
          <p:nvPr/>
        </p:nvSpPr>
        <p:spPr bwMode="auto">
          <a:xfrm>
            <a:off x="5600700" y="36576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903" name="AutoShape 35"/>
          <p:cNvSpPr>
            <a:spLocks noChangeArrowheads="1"/>
          </p:cNvSpPr>
          <p:nvPr/>
        </p:nvSpPr>
        <p:spPr bwMode="auto">
          <a:xfrm>
            <a:off x="5029200" y="40005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904" name="AutoShape 36"/>
          <p:cNvSpPr>
            <a:spLocks noChangeArrowheads="1"/>
          </p:cNvSpPr>
          <p:nvPr/>
        </p:nvSpPr>
        <p:spPr bwMode="auto">
          <a:xfrm>
            <a:off x="6515100" y="43434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905" name="AutoShape 37"/>
          <p:cNvSpPr>
            <a:spLocks noChangeArrowheads="1"/>
          </p:cNvSpPr>
          <p:nvPr/>
        </p:nvSpPr>
        <p:spPr bwMode="auto">
          <a:xfrm>
            <a:off x="6400800" y="462915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906" name="AutoShape 38"/>
          <p:cNvSpPr>
            <a:spLocks noChangeArrowheads="1"/>
          </p:cNvSpPr>
          <p:nvPr/>
        </p:nvSpPr>
        <p:spPr bwMode="auto">
          <a:xfrm>
            <a:off x="6286500" y="38862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907" name="AutoShape 39"/>
          <p:cNvSpPr>
            <a:spLocks noChangeArrowheads="1"/>
          </p:cNvSpPr>
          <p:nvPr/>
        </p:nvSpPr>
        <p:spPr bwMode="auto">
          <a:xfrm>
            <a:off x="6743700" y="48006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5908" name="AutoShape 40"/>
          <p:cNvSpPr>
            <a:spLocks noChangeArrowheads="1"/>
          </p:cNvSpPr>
          <p:nvPr/>
        </p:nvSpPr>
        <p:spPr bwMode="auto">
          <a:xfrm>
            <a:off x="6115050" y="280035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grpSp>
        <p:nvGrpSpPr>
          <p:cNvPr id="5" name="Group 41"/>
          <p:cNvGrpSpPr>
            <a:grpSpLocks/>
          </p:cNvGrpSpPr>
          <p:nvPr/>
        </p:nvGrpSpPr>
        <p:grpSpPr bwMode="auto">
          <a:xfrm>
            <a:off x="3771900" y="2686050"/>
            <a:ext cx="2171700" cy="1943100"/>
            <a:chOff x="2208" y="1536"/>
            <a:chExt cx="1824" cy="1632"/>
          </a:xfrm>
        </p:grpSpPr>
        <p:sp>
          <p:nvSpPr>
            <p:cNvPr id="35914" name="Line 42"/>
            <p:cNvSpPr>
              <a:spLocks noChangeShapeType="1"/>
            </p:cNvSpPr>
            <p:nvPr/>
          </p:nvSpPr>
          <p:spPr bwMode="auto">
            <a:xfrm>
              <a:off x="2976" y="1536"/>
              <a:ext cx="960"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35915" name="Line 43"/>
            <p:cNvSpPr>
              <a:spLocks noChangeShapeType="1"/>
            </p:cNvSpPr>
            <p:nvPr/>
          </p:nvSpPr>
          <p:spPr bwMode="auto">
            <a:xfrm flipH="1">
              <a:off x="2208" y="2352"/>
              <a:ext cx="140" cy="384"/>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35916" name="Line 44"/>
            <p:cNvSpPr>
              <a:spLocks noChangeShapeType="1"/>
            </p:cNvSpPr>
            <p:nvPr/>
          </p:nvSpPr>
          <p:spPr bwMode="auto">
            <a:xfrm flipV="1">
              <a:off x="3744" y="2688"/>
              <a:ext cx="288" cy="48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grpSp>
      <p:sp>
        <p:nvSpPr>
          <p:cNvPr id="35910" name="Line 82"/>
          <p:cNvSpPr>
            <a:spLocks noChangeShapeType="1"/>
          </p:cNvSpPr>
          <p:nvPr/>
        </p:nvSpPr>
        <p:spPr bwMode="auto">
          <a:xfrm flipH="1" flipV="1">
            <a:off x="2686050" y="2171700"/>
            <a:ext cx="2228850" cy="1428750"/>
          </a:xfrm>
          <a:prstGeom prst="line">
            <a:avLst/>
          </a:prstGeom>
          <a:noFill/>
          <a:ln w="25400">
            <a:solidFill>
              <a:srgbClr val="FF66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911" name="Line 83"/>
          <p:cNvSpPr>
            <a:spLocks noChangeShapeType="1"/>
          </p:cNvSpPr>
          <p:nvPr/>
        </p:nvSpPr>
        <p:spPr bwMode="auto">
          <a:xfrm flipH="1">
            <a:off x="4171950" y="3600450"/>
            <a:ext cx="742950" cy="1371600"/>
          </a:xfrm>
          <a:prstGeom prst="line">
            <a:avLst/>
          </a:prstGeom>
          <a:noFill/>
          <a:ln w="25400">
            <a:solidFill>
              <a:srgbClr val="FF66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912" name="Line 84"/>
          <p:cNvSpPr>
            <a:spLocks noChangeShapeType="1"/>
          </p:cNvSpPr>
          <p:nvPr/>
        </p:nvSpPr>
        <p:spPr bwMode="auto">
          <a:xfrm flipV="1">
            <a:off x="4914900" y="3600450"/>
            <a:ext cx="2171700" cy="0"/>
          </a:xfrm>
          <a:prstGeom prst="line">
            <a:avLst/>
          </a:prstGeom>
          <a:noFill/>
          <a:ln w="25400">
            <a:solidFill>
              <a:srgbClr val="FF66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913" name="TextBox 81"/>
          <p:cNvSpPr txBox="1">
            <a:spLocks noChangeArrowheads="1"/>
          </p:cNvSpPr>
          <p:nvPr/>
        </p:nvSpPr>
        <p:spPr bwMode="auto">
          <a:xfrm>
            <a:off x="1143001" y="5723335"/>
            <a:ext cx="313739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Slide based on one by Eamonn Keogh</a:t>
            </a:r>
          </a:p>
        </p:txBody>
      </p:sp>
    </p:spTree>
    <p:extLst>
      <p:ext uri="{BB962C8B-B14F-4D97-AF65-F5344CB8AC3E}">
        <p14:creationId xmlns:p14="http://schemas.microsoft.com/office/powerpoint/2010/main" val="25143194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68"/>
          <p:cNvSpPr>
            <a:spLocks noChangeArrowheads="1"/>
          </p:cNvSpPr>
          <p:nvPr/>
        </p:nvSpPr>
        <p:spPr bwMode="auto">
          <a:xfrm>
            <a:off x="1984772" y="1756173"/>
            <a:ext cx="5242322" cy="41112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867" name="Rectangle 69"/>
          <p:cNvSpPr>
            <a:spLocks noChangeArrowheads="1"/>
          </p:cNvSpPr>
          <p:nvPr/>
        </p:nvSpPr>
        <p:spPr bwMode="auto">
          <a:xfrm>
            <a:off x="2696766" y="1956197"/>
            <a:ext cx="4400550" cy="30575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868" name="Line 70"/>
          <p:cNvSpPr>
            <a:spLocks noChangeShapeType="1"/>
          </p:cNvSpPr>
          <p:nvPr/>
        </p:nvSpPr>
        <p:spPr bwMode="auto">
          <a:xfrm>
            <a:off x="2696766" y="4400550"/>
            <a:ext cx="4400550"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69" name="Line 71"/>
          <p:cNvSpPr>
            <a:spLocks noChangeShapeType="1"/>
          </p:cNvSpPr>
          <p:nvPr/>
        </p:nvSpPr>
        <p:spPr bwMode="auto">
          <a:xfrm>
            <a:off x="2696766" y="3788569"/>
            <a:ext cx="4400550"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70" name="Line 72"/>
          <p:cNvSpPr>
            <a:spLocks noChangeShapeType="1"/>
          </p:cNvSpPr>
          <p:nvPr/>
        </p:nvSpPr>
        <p:spPr bwMode="auto">
          <a:xfrm>
            <a:off x="2696766" y="3181350"/>
            <a:ext cx="4400550"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71" name="Line 73"/>
          <p:cNvSpPr>
            <a:spLocks noChangeShapeType="1"/>
          </p:cNvSpPr>
          <p:nvPr/>
        </p:nvSpPr>
        <p:spPr bwMode="auto">
          <a:xfrm>
            <a:off x="2696766" y="2568180"/>
            <a:ext cx="4400550"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72" name="Line 74"/>
          <p:cNvSpPr>
            <a:spLocks noChangeShapeType="1"/>
          </p:cNvSpPr>
          <p:nvPr/>
        </p:nvSpPr>
        <p:spPr bwMode="auto">
          <a:xfrm>
            <a:off x="2696766" y="1956199"/>
            <a:ext cx="4400550"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73" name="Rectangle 75"/>
          <p:cNvSpPr>
            <a:spLocks noChangeArrowheads="1"/>
          </p:cNvSpPr>
          <p:nvPr/>
        </p:nvSpPr>
        <p:spPr bwMode="auto">
          <a:xfrm>
            <a:off x="2696766" y="1956197"/>
            <a:ext cx="4400550" cy="3057525"/>
          </a:xfrm>
          <a:prstGeom prst="rect">
            <a:avLst/>
          </a:prstGeom>
          <a:noFill/>
          <a:ln w="7938">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874" name="Line 76"/>
          <p:cNvSpPr>
            <a:spLocks noChangeShapeType="1"/>
          </p:cNvSpPr>
          <p:nvPr/>
        </p:nvSpPr>
        <p:spPr bwMode="auto">
          <a:xfrm>
            <a:off x="2696767" y="1956197"/>
            <a:ext cx="1190" cy="3057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75" name="Line 77"/>
          <p:cNvSpPr>
            <a:spLocks noChangeShapeType="1"/>
          </p:cNvSpPr>
          <p:nvPr/>
        </p:nvSpPr>
        <p:spPr bwMode="auto">
          <a:xfrm>
            <a:off x="2644378" y="5013724"/>
            <a:ext cx="52388"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76" name="Line 78"/>
          <p:cNvSpPr>
            <a:spLocks noChangeShapeType="1"/>
          </p:cNvSpPr>
          <p:nvPr/>
        </p:nvSpPr>
        <p:spPr bwMode="auto">
          <a:xfrm>
            <a:off x="2644378" y="4400550"/>
            <a:ext cx="52388"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77" name="Line 79"/>
          <p:cNvSpPr>
            <a:spLocks noChangeShapeType="1"/>
          </p:cNvSpPr>
          <p:nvPr/>
        </p:nvSpPr>
        <p:spPr bwMode="auto">
          <a:xfrm>
            <a:off x="2644378" y="3788569"/>
            <a:ext cx="52388"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78" name="Line 80"/>
          <p:cNvSpPr>
            <a:spLocks noChangeShapeType="1"/>
          </p:cNvSpPr>
          <p:nvPr/>
        </p:nvSpPr>
        <p:spPr bwMode="auto">
          <a:xfrm>
            <a:off x="2644378" y="3181350"/>
            <a:ext cx="52388"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79" name="Line 81"/>
          <p:cNvSpPr>
            <a:spLocks noChangeShapeType="1"/>
          </p:cNvSpPr>
          <p:nvPr/>
        </p:nvSpPr>
        <p:spPr bwMode="auto">
          <a:xfrm>
            <a:off x="2644378" y="2568180"/>
            <a:ext cx="52388"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80" name="Line 82"/>
          <p:cNvSpPr>
            <a:spLocks noChangeShapeType="1"/>
          </p:cNvSpPr>
          <p:nvPr/>
        </p:nvSpPr>
        <p:spPr bwMode="auto">
          <a:xfrm>
            <a:off x="2644378" y="1956199"/>
            <a:ext cx="52388"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81" name="Line 83"/>
          <p:cNvSpPr>
            <a:spLocks noChangeShapeType="1"/>
          </p:cNvSpPr>
          <p:nvPr/>
        </p:nvSpPr>
        <p:spPr bwMode="auto">
          <a:xfrm>
            <a:off x="2696766" y="5013724"/>
            <a:ext cx="4400550"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82" name="Line 84"/>
          <p:cNvSpPr>
            <a:spLocks noChangeShapeType="1"/>
          </p:cNvSpPr>
          <p:nvPr/>
        </p:nvSpPr>
        <p:spPr bwMode="auto">
          <a:xfrm flipV="1">
            <a:off x="2696767" y="5013722"/>
            <a:ext cx="1190"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83" name="Line 85"/>
          <p:cNvSpPr>
            <a:spLocks noChangeShapeType="1"/>
          </p:cNvSpPr>
          <p:nvPr/>
        </p:nvSpPr>
        <p:spPr bwMode="auto">
          <a:xfrm flipV="1">
            <a:off x="3575449" y="5013722"/>
            <a:ext cx="1190"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84" name="Line 86"/>
          <p:cNvSpPr>
            <a:spLocks noChangeShapeType="1"/>
          </p:cNvSpPr>
          <p:nvPr/>
        </p:nvSpPr>
        <p:spPr bwMode="auto">
          <a:xfrm flipV="1">
            <a:off x="4458892" y="5013722"/>
            <a:ext cx="1190"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85" name="Line 87"/>
          <p:cNvSpPr>
            <a:spLocks noChangeShapeType="1"/>
          </p:cNvSpPr>
          <p:nvPr/>
        </p:nvSpPr>
        <p:spPr bwMode="auto">
          <a:xfrm flipV="1">
            <a:off x="5336381" y="5013722"/>
            <a:ext cx="1191"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86" name="Line 88"/>
          <p:cNvSpPr>
            <a:spLocks noChangeShapeType="1"/>
          </p:cNvSpPr>
          <p:nvPr/>
        </p:nvSpPr>
        <p:spPr bwMode="auto">
          <a:xfrm flipV="1">
            <a:off x="6219825" y="5013722"/>
            <a:ext cx="1191"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87" name="Line 89"/>
          <p:cNvSpPr>
            <a:spLocks noChangeShapeType="1"/>
          </p:cNvSpPr>
          <p:nvPr/>
        </p:nvSpPr>
        <p:spPr bwMode="auto">
          <a:xfrm flipV="1">
            <a:off x="7097317" y="5013722"/>
            <a:ext cx="1190"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888" name="Freeform 90"/>
          <p:cNvSpPr>
            <a:spLocks/>
          </p:cNvSpPr>
          <p:nvPr/>
        </p:nvSpPr>
        <p:spPr bwMode="auto">
          <a:xfrm>
            <a:off x="3527822" y="4354116"/>
            <a:ext cx="94059" cy="94059"/>
          </a:xfrm>
          <a:custGeom>
            <a:avLst/>
            <a:gdLst>
              <a:gd name="T0" fmla="*/ 63500 w 79"/>
              <a:gd name="T1" fmla="*/ 0 h 79"/>
              <a:gd name="T2" fmla="*/ 125412 w 79"/>
              <a:gd name="T3" fmla="*/ 61912 h 79"/>
              <a:gd name="T4" fmla="*/ 63500 w 79"/>
              <a:gd name="T5" fmla="*/ 125412 h 79"/>
              <a:gd name="T6" fmla="*/ 0 w 79"/>
              <a:gd name="T7" fmla="*/ 61912 h 79"/>
              <a:gd name="T8" fmla="*/ 63500 w 79"/>
              <a:gd name="T9" fmla="*/ 0 h 79"/>
              <a:gd name="T10" fmla="*/ 0 60000 65536"/>
              <a:gd name="T11" fmla="*/ 0 60000 65536"/>
              <a:gd name="T12" fmla="*/ 0 60000 65536"/>
              <a:gd name="T13" fmla="*/ 0 60000 65536"/>
              <a:gd name="T14" fmla="*/ 0 60000 65536"/>
              <a:gd name="T15" fmla="*/ 0 w 79"/>
              <a:gd name="T16" fmla="*/ 0 h 79"/>
              <a:gd name="T17" fmla="*/ 79 w 79"/>
              <a:gd name="T18" fmla="*/ 79 h 79"/>
            </a:gdLst>
            <a:ahLst/>
            <a:cxnLst>
              <a:cxn ang="T10">
                <a:pos x="T0" y="T1"/>
              </a:cxn>
              <a:cxn ang="T11">
                <a:pos x="T2" y="T3"/>
              </a:cxn>
              <a:cxn ang="T12">
                <a:pos x="T4" y="T5"/>
              </a:cxn>
              <a:cxn ang="T13">
                <a:pos x="T6" y="T7"/>
              </a:cxn>
              <a:cxn ang="T14">
                <a:pos x="T8" y="T9"/>
              </a:cxn>
            </a:cxnLst>
            <a:rect l="T15" t="T16" r="T17" b="T18"/>
            <a:pathLst>
              <a:path w="79" h="79">
                <a:moveTo>
                  <a:pt x="40" y="0"/>
                </a:moveTo>
                <a:lnTo>
                  <a:pt x="79" y="39"/>
                </a:lnTo>
                <a:lnTo>
                  <a:pt x="40" y="79"/>
                </a:lnTo>
                <a:lnTo>
                  <a:pt x="0" y="39"/>
                </a:lnTo>
                <a:lnTo>
                  <a:pt x="40" y="0"/>
                </a:lnTo>
                <a:close/>
              </a:path>
            </a:pathLst>
          </a:custGeom>
          <a:solidFill>
            <a:srgbClr val="000080"/>
          </a:solidFill>
          <a:ln w="7938">
            <a:solidFill>
              <a:srgbClr val="000080"/>
            </a:solidFill>
            <a:round/>
            <a:headEnd/>
            <a:tailEnd/>
          </a:ln>
        </p:spPr>
        <p:txBody>
          <a:bodyPr/>
          <a:lstStyle/>
          <a:p>
            <a:endParaRPr lang="en-US" sz="1350"/>
          </a:p>
        </p:txBody>
      </p:sp>
      <p:sp>
        <p:nvSpPr>
          <p:cNvPr id="36889" name="Rectangle 91"/>
          <p:cNvSpPr>
            <a:spLocks noChangeArrowheads="1"/>
          </p:cNvSpPr>
          <p:nvPr/>
        </p:nvSpPr>
        <p:spPr bwMode="auto">
          <a:xfrm>
            <a:off x="2478881" y="4919663"/>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0</a:t>
            </a:r>
            <a:endParaRPr lang="en-US" altLang="en-US" sz="1800"/>
          </a:p>
        </p:txBody>
      </p:sp>
      <p:sp>
        <p:nvSpPr>
          <p:cNvPr id="36890" name="Rectangle 92"/>
          <p:cNvSpPr>
            <a:spLocks noChangeArrowheads="1"/>
          </p:cNvSpPr>
          <p:nvPr/>
        </p:nvSpPr>
        <p:spPr bwMode="auto">
          <a:xfrm>
            <a:off x="2478881" y="4306491"/>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1</a:t>
            </a:r>
            <a:endParaRPr lang="en-US" altLang="en-US" sz="1800"/>
          </a:p>
        </p:txBody>
      </p:sp>
      <p:sp>
        <p:nvSpPr>
          <p:cNvPr id="36891" name="Rectangle 93"/>
          <p:cNvSpPr>
            <a:spLocks noChangeArrowheads="1"/>
          </p:cNvSpPr>
          <p:nvPr/>
        </p:nvSpPr>
        <p:spPr bwMode="auto">
          <a:xfrm>
            <a:off x="2478881" y="369451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2</a:t>
            </a:r>
            <a:endParaRPr lang="en-US" altLang="en-US" sz="1800"/>
          </a:p>
        </p:txBody>
      </p:sp>
      <p:sp>
        <p:nvSpPr>
          <p:cNvPr id="36892" name="Rectangle 94"/>
          <p:cNvSpPr>
            <a:spLocks noChangeArrowheads="1"/>
          </p:cNvSpPr>
          <p:nvPr/>
        </p:nvSpPr>
        <p:spPr bwMode="auto">
          <a:xfrm>
            <a:off x="2478881" y="3087291"/>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3</a:t>
            </a:r>
            <a:endParaRPr lang="en-US" altLang="en-US" sz="1800"/>
          </a:p>
        </p:txBody>
      </p:sp>
      <p:sp>
        <p:nvSpPr>
          <p:cNvPr id="36893" name="Rectangle 95"/>
          <p:cNvSpPr>
            <a:spLocks noChangeArrowheads="1"/>
          </p:cNvSpPr>
          <p:nvPr/>
        </p:nvSpPr>
        <p:spPr bwMode="auto">
          <a:xfrm>
            <a:off x="2478881" y="2474119"/>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4</a:t>
            </a:r>
            <a:endParaRPr lang="en-US" altLang="en-US" sz="1800"/>
          </a:p>
        </p:txBody>
      </p:sp>
      <p:sp>
        <p:nvSpPr>
          <p:cNvPr id="36894" name="Rectangle 96"/>
          <p:cNvSpPr>
            <a:spLocks noChangeArrowheads="1"/>
          </p:cNvSpPr>
          <p:nvPr/>
        </p:nvSpPr>
        <p:spPr bwMode="auto">
          <a:xfrm>
            <a:off x="2478881" y="1862138"/>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5</a:t>
            </a:r>
            <a:endParaRPr lang="en-US" altLang="en-US" sz="1800"/>
          </a:p>
        </p:txBody>
      </p:sp>
      <p:sp>
        <p:nvSpPr>
          <p:cNvPr id="36895" name="Rectangle 97"/>
          <p:cNvSpPr>
            <a:spLocks noChangeArrowheads="1"/>
          </p:cNvSpPr>
          <p:nvPr/>
        </p:nvSpPr>
        <p:spPr bwMode="auto">
          <a:xfrm>
            <a:off x="2656285"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0</a:t>
            </a:r>
            <a:endParaRPr lang="en-US" altLang="en-US" sz="1800"/>
          </a:p>
        </p:txBody>
      </p:sp>
      <p:sp>
        <p:nvSpPr>
          <p:cNvPr id="36896" name="Rectangle 98"/>
          <p:cNvSpPr>
            <a:spLocks noChangeArrowheads="1"/>
          </p:cNvSpPr>
          <p:nvPr/>
        </p:nvSpPr>
        <p:spPr bwMode="auto">
          <a:xfrm>
            <a:off x="3533775"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1</a:t>
            </a:r>
            <a:endParaRPr lang="en-US" altLang="en-US" sz="1800"/>
          </a:p>
        </p:txBody>
      </p:sp>
      <p:sp>
        <p:nvSpPr>
          <p:cNvPr id="36897" name="Rectangle 99"/>
          <p:cNvSpPr>
            <a:spLocks noChangeArrowheads="1"/>
          </p:cNvSpPr>
          <p:nvPr/>
        </p:nvSpPr>
        <p:spPr bwMode="auto">
          <a:xfrm>
            <a:off x="4417219"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2</a:t>
            </a:r>
            <a:endParaRPr lang="en-US" altLang="en-US" sz="1800"/>
          </a:p>
        </p:txBody>
      </p:sp>
      <p:sp>
        <p:nvSpPr>
          <p:cNvPr id="36898" name="Rectangle 100"/>
          <p:cNvSpPr>
            <a:spLocks noChangeArrowheads="1"/>
          </p:cNvSpPr>
          <p:nvPr/>
        </p:nvSpPr>
        <p:spPr bwMode="auto">
          <a:xfrm>
            <a:off x="5294710"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3</a:t>
            </a:r>
            <a:endParaRPr lang="en-US" altLang="en-US" sz="1800"/>
          </a:p>
        </p:txBody>
      </p:sp>
      <p:sp>
        <p:nvSpPr>
          <p:cNvPr id="36899" name="Rectangle 101"/>
          <p:cNvSpPr>
            <a:spLocks noChangeArrowheads="1"/>
          </p:cNvSpPr>
          <p:nvPr/>
        </p:nvSpPr>
        <p:spPr bwMode="auto">
          <a:xfrm>
            <a:off x="6179344"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4</a:t>
            </a:r>
            <a:endParaRPr lang="en-US" altLang="en-US" sz="1800"/>
          </a:p>
        </p:txBody>
      </p:sp>
      <p:sp>
        <p:nvSpPr>
          <p:cNvPr id="36900" name="Rectangle 102"/>
          <p:cNvSpPr>
            <a:spLocks noChangeArrowheads="1"/>
          </p:cNvSpPr>
          <p:nvPr/>
        </p:nvSpPr>
        <p:spPr bwMode="auto">
          <a:xfrm>
            <a:off x="7056835"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5</a:t>
            </a:r>
            <a:endParaRPr lang="en-US" altLang="en-US" sz="1800"/>
          </a:p>
        </p:txBody>
      </p:sp>
      <p:sp>
        <p:nvSpPr>
          <p:cNvPr id="266243" name="Rectangle 3"/>
          <p:cNvSpPr>
            <a:spLocks noGrp="1" noChangeArrowheads="1"/>
          </p:cNvSpPr>
          <p:nvPr>
            <p:ph type="title"/>
          </p:nvPr>
        </p:nvSpPr>
        <p:spPr>
          <a:xfrm>
            <a:off x="1657350" y="1028700"/>
            <a:ext cx="5829300" cy="400050"/>
          </a:xfrm>
        </p:spPr>
        <p:txBody>
          <a:bodyPr>
            <a:normAutofit fontScale="90000"/>
          </a:bodyPr>
          <a:lstStyle/>
          <a:p>
            <a:pPr>
              <a:defRPr/>
            </a:pPr>
            <a:r>
              <a:rPr lang="en-US" sz="3000">
                <a:effectLst>
                  <a:outerShdw blurRad="38100" dist="38100" dir="2700000" algn="tl">
                    <a:srgbClr val="DDDDDD"/>
                  </a:outerShdw>
                </a:effectLst>
              </a:rPr>
              <a:t>K-means Clustering: Step 3</a:t>
            </a:r>
          </a:p>
        </p:txBody>
      </p:sp>
      <p:sp>
        <p:nvSpPr>
          <p:cNvPr id="36902" name="Text Box 4"/>
          <p:cNvSpPr txBox="1">
            <a:spLocks noChangeArrowheads="1"/>
          </p:cNvSpPr>
          <p:nvPr/>
        </p:nvSpPr>
        <p:spPr bwMode="auto">
          <a:xfrm>
            <a:off x="1877616" y="1485901"/>
            <a:ext cx="59939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Algorithm: k-means, Distance Metric: Euclidean Distance</a:t>
            </a:r>
          </a:p>
        </p:txBody>
      </p:sp>
      <p:grpSp>
        <p:nvGrpSpPr>
          <p:cNvPr id="36903" name="Group 5"/>
          <p:cNvGrpSpPr>
            <a:grpSpLocks/>
          </p:cNvGrpSpPr>
          <p:nvPr/>
        </p:nvGrpSpPr>
        <p:grpSpPr bwMode="auto">
          <a:xfrm>
            <a:off x="5772150" y="2457451"/>
            <a:ext cx="514350" cy="426244"/>
            <a:chOff x="192" y="1824"/>
            <a:chExt cx="432" cy="358"/>
          </a:xfrm>
        </p:grpSpPr>
        <p:sp>
          <p:nvSpPr>
            <p:cNvPr id="36965" name="Oval 6"/>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66" name="Text Box 7"/>
            <p:cNvSpPr txBox="1">
              <a:spLocks noChangeArrowheads="1"/>
            </p:cNvSpPr>
            <p:nvPr/>
          </p:nvSpPr>
          <p:spPr bwMode="auto">
            <a:xfrm>
              <a:off x="288" y="1872"/>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k</a:t>
              </a:r>
              <a:r>
                <a:rPr lang="en-US" altLang="en-US" sz="1800" baseline="-25000"/>
                <a:t>1</a:t>
              </a:r>
            </a:p>
          </p:txBody>
        </p:sp>
      </p:grpSp>
      <p:grpSp>
        <p:nvGrpSpPr>
          <p:cNvPr id="36904" name="Group 8"/>
          <p:cNvGrpSpPr>
            <a:grpSpLocks/>
          </p:cNvGrpSpPr>
          <p:nvPr/>
        </p:nvGrpSpPr>
        <p:grpSpPr bwMode="auto">
          <a:xfrm>
            <a:off x="3486150" y="4114801"/>
            <a:ext cx="514350" cy="426244"/>
            <a:chOff x="192" y="1824"/>
            <a:chExt cx="432" cy="358"/>
          </a:xfrm>
        </p:grpSpPr>
        <p:sp>
          <p:nvSpPr>
            <p:cNvPr id="36963" name="Oval 9"/>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64" name="Text Box 10"/>
            <p:cNvSpPr txBox="1">
              <a:spLocks noChangeArrowheads="1"/>
            </p:cNvSpPr>
            <p:nvPr/>
          </p:nvSpPr>
          <p:spPr bwMode="auto">
            <a:xfrm>
              <a:off x="288" y="1872"/>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k</a:t>
              </a:r>
              <a:r>
                <a:rPr lang="en-US" altLang="en-US" sz="1800" baseline="-25000"/>
                <a:t>2</a:t>
              </a:r>
            </a:p>
          </p:txBody>
        </p:sp>
      </p:grpSp>
      <p:grpSp>
        <p:nvGrpSpPr>
          <p:cNvPr id="36905" name="Group 11"/>
          <p:cNvGrpSpPr>
            <a:grpSpLocks/>
          </p:cNvGrpSpPr>
          <p:nvPr/>
        </p:nvGrpSpPr>
        <p:grpSpPr bwMode="auto">
          <a:xfrm>
            <a:off x="5829300" y="3886201"/>
            <a:ext cx="514350" cy="426244"/>
            <a:chOff x="192" y="1824"/>
            <a:chExt cx="432" cy="358"/>
          </a:xfrm>
        </p:grpSpPr>
        <p:sp>
          <p:nvSpPr>
            <p:cNvPr id="36961" name="Oval 12"/>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62" name="Text Box 13"/>
            <p:cNvSpPr txBox="1">
              <a:spLocks noChangeArrowheads="1"/>
            </p:cNvSpPr>
            <p:nvPr/>
          </p:nvSpPr>
          <p:spPr bwMode="auto">
            <a:xfrm>
              <a:off x="288" y="1872"/>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k</a:t>
              </a:r>
              <a:r>
                <a:rPr lang="en-US" altLang="en-US" sz="1800" baseline="-25000"/>
                <a:t>3</a:t>
              </a:r>
            </a:p>
          </p:txBody>
        </p:sp>
      </p:grpSp>
      <p:sp>
        <p:nvSpPr>
          <p:cNvPr id="36906" name="AutoShape 14"/>
          <p:cNvSpPr>
            <a:spLocks noChangeArrowheads="1"/>
          </p:cNvSpPr>
          <p:nvPr/>
        </p:nvSpPr>
        <p:spPr bwMode="auto">
          <a:xfrm>
            <a:off x="3543300" y="4343400"/>
            <a:ext cx="114300" cy="114300"/>
          </a:xfrm>
          <a:prstGeom prst="diamond">
            <a:avLst/>
          </a:prstGeom>
          <a:solidFill>
            <a:srgbClr val="6600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07" name="AutoShape 15"/>
          <p:cNvSpPr>
            <a:spLocks noChangeArrowheads="1"/>
          </p:cNvSpPr>
          <p:nvPr/>
        </p:nvSpPr>
        <p:spPr bwMode="auto">
          <a:xfrm>
            <a:off x="3657600" y="4514850"/>
            <a:ext cx="114300" cy="114300"/>
          </a:xfrm>
          <a:prstGeom prst="diamond">
            <a:avLst/>
          </a:prstGeom>
          <a:solidFill>
            <a:srgbClr val="6600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08" name="AutoShape 16"/>
          <p:cNvSpPr>
            <a:spLocks noChangeArrowheads="1"/>
          </p:cNvSpPr>
          <p:nvPr/>
        </p:nvSpPr>
        <p:spPr bwMode="auto">
          <a:xfrm>
            <a:off x="3486150" y="4686300"/>
            <a:ext cx="114300" cy="114300"/>
          </a:xfrm>
          <a:prstGeom prst="diamond">
            <a:avLst/>
          </a:prstGeom>
          <a:solidFill>
            <a:srgbClr val="6600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09" name="AutoShape 17"/>
          <p:cNvSpPr>
            <a:spLocks noChangeArrowheads="1"/>
          </p:cNvSpPr>
          <p:nvPr/>
        </p:nvSpPr>
        <p:spPr bwMode="auto">
          <a:xfrm>
            <a:off x="3314700" y="4171950"/>
            <a:ext cx="114300" cy="114300"/>
          </a:xfrm>
          <a:prstGeom prst="diamond">
            <a:avLst/>
          </a:prstGeom>
          <a:solidFill>
            <a:srgbClr val="6600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10" name="AutoShape 18"/>
          <p:cNvSpPr>
            <a:spLocks noChangeArrowheads="1"/>
          </p:cNvSpPr>
          <p:nvPr/>
        </p:nvSpPr>
        <p:spPr bwMode="auto">
          <a:xfrm>
            <a:off x="3314700" y="2400300"/>
            <a:ext cx="114300" cy="114300"/>
          </a:xfrm>
          <a:prstGeom prst="diamond">
            <a:avLst/>
          </a:prstGeom>
          <a:solidFill>
            <a:srgbClr val="00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11" name="AutoShape 19"/>
          <p:cNvSpPr>
            <a:spLocks noChangeArrowheads="1"/>
          </p:cNvSpPr>
          <p:nvPr/>
        </p:nvSpPr>
        <p:spPr bwMode="auto">
          <a:xfrm>
            <a:off x="3314700" y="3543300"/>
            <a:ext cx="114300" cy="114300"/>
          </a:xfrm>
          <a:prstGeom prst="diamond">
            <a:avLst/>
          </a:prstGeom>
          <a:solidFill>
            <a:srgbClr val="6600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12" name="AutoShape 20"/>
          <p:cNvSpPr>
            <a:spLocks noChangeArrowheads="1"/>
          </p:cNvSpPr>
          <p:nvPr/>
        </p:nvSpPr>
        <p:spPr bwMode="auto">
          <a:xfrm>
            <a:off x="3314700" y="4686300"/>
            <a:ext cx="114300" cy="114300"/>
          </a:xfrm>
          <a:prstGeom prst="diamond">
            <a:avLst/>
          </a:prstGeom>
          <a:solidFill>
            <a:srgbClr val="6600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13" name="AutoShape 21"/>
          <p:cNvSpPr>
            <a:spLocks noChangeArrowheads="1"/>
          </p:cNvSpPr>
          <p:nvPr/>
        </p:nvSpPr>
        <p:spPr bwMode="auto">
          <a:xfrm>
            <a:off x="2971800" y="3943350"/>
            <a:ext cx="114300" cy="114300"/>
          </a:xfrm>
          <a:prstGeom prst="diamond">
            <a:avLst/>
          </a:prstGeom>
          <a:solidFill>
            <a:srgbClr val="6600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14" name="AutoShape 22"/>
          <p:cNvSpPr>
            <a:spLocks noChangeArrowheads="1"/>
          </p:cNvSpPr>
          <p:nvPr/>
        </p:nvSpPr>
        <p:spPr bwMode="auto">
          <a:xfrm>
            <a:off x="4572000" y="3714750"/>
            <a:ext cx="114300" cy="114300"/>
          </a:xfrm>
          <a:prstGeom prst="diamond">
            <a:avLst/>
          </a:prstGeom>
          <a:solidFill>
            <a:srgbClr val="6600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15" name="AutoShape 23"/>
          <p:cNvSpPr>
            <a:spLocks noChangeArrowheads="1"/>
          </p:cNvSpPr>
          <p:nvPr/>
        </p:nvSpPr>
        <p:spPr bwMode="auto">
          <a:xfrm>
            <a:off x="6172200" y="2228850"/>
            <a:ext cx="114300" cy="114300"/>
          </a:xfrm>
          <a:prstGeom prst="diamond">
            <a:avLst/>
          </a:prstGeom>
          <a:solidFill>
            <a:srgbClr val="00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16" name="AutoShape 24"/>
          <p:cNvSpPr>
            <a:spLocks noChangeArrowheads="1"/>
          </p:cNvSpPr>
          <p:nvPr/>
        </p:nvSpPr>
        <p:spPr bwMode="auto">
          <a:xfrm>
            <a:off x="6515100" y="2286000"/>
            <a:ext cx="114300" cy="114300"/>
          </a:xfrm>
          <a:prstGeom prst="diamond">
            <a:avLst/>
          </a:prstGeom>
          <a:solidFill>
            <a:srgbClr val="00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17" name="AutoShape 25"/>
          <p:cNvSpPr>
            <a:spLocks noChangeArrowheads="1"/>
          </p:cNvSpPr>
          <p:nvPr/>
        </p:nvSpPr>
        <p:spPr bwMode="auto">
          <a:xfrm>
            <a:off x="6400800" y="2400300"/>
            <a:ext cx="114300" cy="114300"/>
          </a:xfrm>
          <a:prstGeom prst="diamond">
            <a:avLst/>
          </a:prstGeom>
          <a:solidFill>
            <a:srgbClr val="00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18" name="AutoShape 26"/>
          <p:cNvSpPr>
            <a:spLocks noChangeArrowheads="1"/>
          </p:cNvSpPr>
          <p:nvPr/>
        </p:nvSpPr>
        <p:spPr bwMode="auto">
          <a:xfrm>
            <a:off x="6286500" y="2514600"/>
            <a:ext cx="114300" cy="114300"/>
          </a:xfrm>
          <a:prstGeom prst="diamond">
            <a:avLst/>
          </a:prstGeom>
          <a:solidFill>
            <a:srgbClr val="00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19" name="AutoShape 27"/>
          <p:cNvSpPr>
            <a:spLocks noChangeArrowheads="1"/>
          </p:cNvSpPr>
          <p:nvPr/>
        </p:nvSpPr>
        <p:spPr bwMode="auto">
          <a:xfrm>
            <a:off x="6515100" y="2628900"/>
            <a:ext cx="114300" cy="114300"/>
          </a:xfrm>
          <a:prstGeom prst="diamond">
            <a:avLst/>
          </a:prstGeom>
          <a:solidFill>
            <a:srgbClr val="00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20" name="AutoShape 28"/>
          <p:cNvSpPr>
            <a:spLocks noChangeArrowheads="1"/>
          </p:cNvSpPr>
          <p:nvPr/>
        </p:nvSpPr>
        <p:spPr bwMode="auto">
          <a:xfrm>
            <a:off x="6743700" y="2914650"/>
            <a:ext cx="114300" cy="114300"/>
          </a:xfrm>
          <a:prstGeom prst="diamond">
            <a:avLst/>
          </a:prstGeom>
          <a:solidFill>
            <a:srgbClr val="00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21" name="AutoShape 29"/>
          <p:cNvSpPr>
            <a:spLocks noChangeArrowheads="1"/>
          </p:cNvSpPr>
          <p:nvPr/>
        </p:nvSpPr>
        <p:spPr bwMode="auto">
          <a:xfrm>
            <a:off x="5429250" y="2228850"/>
            <a:ext cx="114300" cy="114300"/>
          </a:xfrm>
          <a:prstGeom prst="diamond">
            <a:avLst/>
          </a:prstGeom>
          <a:solidFill>
            <a:srgbClr val="00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22" name="AutoShape 30"/>
          <p:cNvSpPr>
            <a:spLocks noChangeArrowheads="1"/>
          </p:cNvSpPr>
          <p:nvPr/>
        </p:nvSpPr>
        <p:spPr bwMode="auto">
          <a:xfrm>
            <a:off x="5657850" y="3314700"/>
            <a:ext cx="114300" cy="114300"/>
          </a:xfrm>
          <a:prstGeom prst="diamond">
            <a:avLst/>
          </a:prstGeom>
          <a:solidFill>
            <a:srgbClr val="00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23" name="AutoShape 31"/>
          <p:cNvSpPr>
            <a:spLocks noChangeArrowheads="1"/>
          </p:cNvSpPr>
          <p:nvPr/>
        </p:nvSpPr>
        <p:spPr bwMode="auto">
          <a:xfrm>
            <a:off x="5657850" y="44577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24" name="AutoShape 32"/>
          <p:cNvSpPr>
            <a:spLocks noChangeArrowheads="1"/>
          </p:cNvSpPr>
          <p:nvPr/>
        </p:nvSpPr>
        <p:spPr bwMode="auto">
          <a:xfrm>
            <a:off x="5943600" y="46863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25" name="AutoShape 33"/>
          <p:cNvSpPr>
            <a:spLocks noChangeArrowheads="1"/>
          </p:cNvSpPr>
          <p:nvPr/>
        </p:nvSpPr>
        <p:spPr bwMode="auto">
          <a:xfrm>
            <a:off x="6229350" y="41148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26" name="AutoShape 34"/>
          <p:cNvSpPr>
            <a:spLocks noChangeArrowheads="1"/>
          </p:cNvSpPr>
          <p:nvPr/>
        </p:nvSpPr>
        <p:spPr bwMode="auto">
          <a:xfrm>
            <a:off x="5600700" y="36576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27" name="AutoShape 35"/>
          <p:cNvSpPr>
            <a:spLocks noChangeArrowheads="1"/>
          </p:cNvSpPr>
          <p:nvPr/>
        </p:nvSpPr>
        <p:spPr bwMode="auto">
          <a:xfrm>
            <a:off x="5029200" y="40005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28" name="AutoShape 36"/>
          <p:cNvSpPr>
            <a:spLocks noChangeArrowheads="1"/>
          </p:cNvSpPr>
          <p:nvPr/>
        </p:nvSpPr>
        <p:spPr bwMode="auto">
          <a:xfrm>
            <a:off x="6515100" y="43434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29" name="AutoShape 37"/>
          <p:cNvSpPr>
            <a:spLocks noChangeArrowheads="1"/>
          </p:cNvSpPr>
          <p:nvPr/>
        </p:nvSpPr>
        <p:spPr bwMode="auto">
          <a:xfrm>
            <a:off x="6400800" y="462915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30" name="AutoShape 38"/>
          <p:cNvSpPr>
            <a:spLocks noChangeArrowheads="1"/>
          </p:cNvSpPr>
          <p:nvPr/>
        </p:nvSpPr>
        <p:spPr bwMode="auto">
          <a:xfrm>
            <a:off x="6286500" y="38862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31" name="AutoShape 39"/>
          <p:cNvSpPr>
            <a:spLocks noChangeArrowheads="1"/>
          </p:cNvSpPr>
          <p:nvPr/>
        </p:nvSpPr>
        <p:spPr bwMode="auto">
          <a:xfrm>
            <a:off x="6743700" y="48006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32" name="AutoShape 40"/>
          <p:cNvSpPr>
            <a:spLocks noChangeArrowheads="1"/>
          </p:cNvSpPr>
          <p:nvPr/>
        </p:nvSpPr>
        <p:spPr bwMode="auto">
          <a:xfrm>
            <a:off x="6115050" y="2800350"/>
            <a:ext cx="114300" cy="114300"/>
          </a:xfrm>
          <a:prstGeom prst="diamond">
            <a:avLst/>
          </a:prstGeom>
          <a:solidFill>
            <a:srgbClr val="00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33" name="AutoShape 41"/>
          <p:cNvSpPr>
            <a:spLocks noChangeArrowheads="1"/>
          </p:cNvSpPr>
          <p:nvPr/>
        </p:nvSpPr>
        <p:spPr bwMode="auto">
          <a:xfrm>
            <a:off x="3543300" y="434340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34" name="AutoShape 42"/>
          <p:cNvSpPr>
            <a:spLocks noChangeArrowheads="1"/>
          </p:cNvSpPr>
          <p:nvPr/>
        </p:nvSpPr>
        <p:spPr bwMode="auto">
          <a:xfrm>
            <a:off x="3657600" y="451485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35" name="AutoShape 43"/>
          <p:cNvSpPr>
            <a:spLocks noChangeArrowheads="1"/>
          </p:cNvSpPr>
          <p:nvPr/>
        </p:nvSpPr>
        <p:spPr bwMode="auto">
          <a:xfrm>
            <a:off x="3486150" y="468630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36" name="AutoShape 44"/>
          <p:cNvSpPr>
            <a:spLocks noChangeArrowheads="1"/>
          </p:cNvSpPr>
          <p:nvPr/>
        </p:nvSpPr>
        <p:spPr bwMode="auto">
          <a:xfrm>
            <a:off x="3314700" y="417195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37" name="AutoShape 45"/>
          <p:cNvSpPr>
            <a:spLocks noChangeArrowheads="1"/>
          </p:cNvSpPr>
          <p:nvPr/>
        </p:nvSpPr>
        <p:spPr bwMode="auto">
          <a:xfrm>
            <a:off x="3314700" y="24003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38" name="AutoShape 46"/>
          <p:cNvSpPr>
            <a:spLocks noChangeArrowheads="1"/>
          </p:cNvSpPr>
          <p:nvPr/>
        </p:nvSpPr>
        <p:spPr bwMode="auto">
          <a:xfrm>
            <a:off x="3314700" y="354330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39" name="AutoShape 47"/>
          <p:cNvSpPr>
            <a:spLocks noChangeArrowheads="1"/>
          </p:cNvSpPr>
          <p:nvPr/>
        </p:nvSpPr>
        <p:spPr bwMode="auto">
          <a:xfrm>
            <a:off x="3314700" y="468630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40" name="AutoShape 48"/>
          <p:cNvSpPr>
            <a:spLocks noChangeArrowheads="1"/>
          </p:cNvSpPr>
          <p:nvPr/>
        </p:nvSpPr>
        <p:spPr bwMode="auto">
          <a:xfrm>
            <a:off x="2971800" y="394335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41" name="AutoShape 49"/>
          <p:cNvSpPr>
            <a:spLocks noChangeArrowheads="1"/>
          </p:cNvSpPr>
          <p:nvPr/>
        </p:nvSpPr>
        <p:spPr bwMode="auto">
          <a:xfrm>
            <a:off x="4572000" y="371475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42" name="AutoShape 50"/>
          <p:cNvSpPr>
            <a:spLocks noChangeArrowheads="1"/>
          </p:cNvSpPr>
          <p:nvPr/>
        </p:nvSpPr>
        <p:spPr bwMode="auto">
          <a:xfrm>
            <a:off x="6172200" y="222885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43" name="AutoShape 51"/>
          <p:cNvSpPr>
            <a:spLocks noChangeArrowheads="1"/>
          </p:cNvSpPr>
          <p:nvPr/>
        </p:nvSpPr>
        <p:spPr bwMode="auto">
          <a:xfrm>
            <a:off x="6515100" y="22860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44" name="AutoShape 52"/>
          <p:cNvSpPr>
            <a:spLocks noChangeArrowheads="1"/>
          </p:cNvSpPr>
          <p:nvPr/>
        </p:nvSpPr>
        <p:spPr bwMode="auto">
          <a:xfrm>
            <a:off x="6400800" y="24003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45" name="AutoShape 53"/>
          <p:cNvSpPr>
            <a:spLocks noChangeArrowheads="1"/>
          </p:cNvSpPr>
          <p:nvPr/>
        </p:nvSpPr>
        <p:spPr bwMode="auto">
          <a:xfrm>
            <a:off x="6286500" y="25146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46" name="AutoShape 54"/>
          <p:cNvSpPr>
            <a:spLocks noChangeArrowheads="1"/>
          </p:cNvSpPr>
          <p:nvPr/>
        </p:nvSpPr>
        <p:spPr bwMode="auto">
          <a:xfrm>
            <a:off x="6515100" y="26289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47" name="AutoShape 55"/>
          <p:cNvSpPr>
            <a:spLocks noChangeArrowheads="1"/>
          </p:cNvSpPr>
          <p:nvPr/>
        </p:nvSpPr>
        <p:spPr bwMode="auto">
          <a:xfrm>
            <a:off x="6743700" y="291465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48" name="AutoShape 56"/>
          <p:cNvSpPr>
            <a:spLocks noChangeArrowheads="1"/>
          </p:cNvSpPr>
          <p:nvPr/>
        </p:nvSpPr>
        <p:spPr bwMode="auto">
          <a:xfrm>
            <a:off x="5429250" y="222885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49" name="AutoShape 57"/>
          <p:cNvSpPr>
            <a:spLocks noChangeArrowheads="1"/>
          </p:cNvSpPr>
          <p:nvPr/>
        </p:nvSpPr>
        <p:spPr bwMode="auto">
          <a:xfrm>
            <a:off x="5657850" y="33147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50" name="AutoShape 58"/>
          <p:cNvSpPr>
            <a:spLocks noChangeArrowheads="1"/>
          </p:cNvSpPr>
          <p:nvPr/>
        </p:nvSpPr>
        <p:spPr bwMode="auto">
          <a:xfrm>
            <a:off x="5657850" y="44577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51" name="AutoShape 59"/>
          <p:cNvSpPr>
            <a:spLocks noChangeArrowheads="1"/>
          </p:cNvSpPr>
          <p:nvPr/>
        </p:nvSpPr>
        <p:spPr bwMode="auto">
          <a:xfrm>
            <a:off x="5943600" y="46863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52" name="AutoShape 60"/>
          <p:cNvSpPr>
            <a:spLocks noChangeArrowheads="1"/>
          </p:cNvSpPr>
          <p:nvPr/>
        </p:nvSpPr>
        <p:spPr bwMode="auto">
          <a:xfrm>
            <a:off x="6229350" y="41148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53" name="AutoShape 61"/>
          <p:cNvSpPr>
            <a:spLocks noChangeArrowheads="1"/>
          </p:cNvSpPr>
          <p:nvPr/>
        </p:nvSpPr>
        <p:spPr bwMode="auto">
          <a:xfrm>
            <a:off x="5600700" y="36576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54" name="AutoShape 62"/>
          <p:cNvSpPr>
            <a:spLocks noChangeArrowheads="1"/>
          </p:cNvSpPr>
          <p:nvPr/>
        </p:nvSpPr>
        <p:spPr bwMode="auto">
          <a:xfrm>
            <a:off x="5029200" y="40005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55" name="AutoShape 63"/>
          <p:cNvSpPr>
            <a:spLocks noChangeArrowheads="1"/>
          </p:cNvSpPr>
          <p:nvPr/>
        </p:nvSpPr>
        <p:spPr bwMode="auto">
          <a:xfrm>
            <a:off x="6515100" y="43434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56" name="AutoShape 64"/>
          <p:cNvSpPr>
            <a:spLocks noChangeArrowheads="1"/>
          </p:cNvSpPr>
          <p:nvPr/>
        </p:nvSpPr>
        <p:spPr bwMode="auto">
          <a:xfrm>
            <a:off x="6400800" y="462915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57" name="AutoShape 65"/>
          <p:cNvSpPr>
            <a:spLocks noChangeArrowheads="1"/>
          </p:cNvSpPr>
          <p:nvPr/>
        </p:nvSpPr>
        <p:spPr bwMode="auto">
          <a:xfrm>
            <a:off x="6286500" y="38862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58" name="AutoShape 66"/>
          <p:cNvSpPr>
            <a:spLocks noChangeArrowheads="1"/>
          </p:cNvSpPr>
          <p:nvPr/>
        </p:nvSpPr>
        <p:spPr bwMode="auto">
          <a:xfrm>
            <a:off x="6743700" y="48006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59" name="AutoShape 67"/>
          <p:cNvSpPr>
            <a:spLocks noChangeArrowheads="1"/>
          </p:cNvSpPr>
          <p:nvPr/>
        </p:nvSpPr>
        <p:spPr bwMode="auto">
          <a:xfrm>
            <a:off x="6115050" y="280035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6960" name="TextBox 101"/>
          <p:cNvSpPr txBox="1">
            <a:spLocks noChangeArrowheads="1"/>
          </p:cNvSpPr>
          <p:nvPr/>
        </p:nvSpPr>
        <p:spPr bwMode="auto">
          <a:xfrm>
            <a:off x="1143001" y="5723335"/>
            <a:ext cx="313739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Slide based on one by Eamonn Keogh</a:t>
            </a:r>
          </a:p>
        </p:txBody>
      </p:sp>
    </p:spTree>
    <p:extLst>
      <p:ext uri="{BB962C8B-B14F-4D97-AF65-F5344CB8AC3E}">
        <p14:creationId xmlns:p14="http://schemas.microsoft.com/office/powerpoint/2010/main" val="1448423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5"/>
          <p:cNvSpPr>
            <a:spLocks noChangeArrowheads="1"/>
          </p:cNvSpPr>
          <p:nvPr/>
        </p:nvSpPr>
        <p:spPr bwMode="auto">
          <a:xfrm>
            <a:off x="1984772" y="1756173"/>
            <a:ext cx="5242322" cy="41112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891" name="Rectangle 46"/>
          <p:cNvSpPr>
            <a:spLocks noChangeArrowheads="1"/>
          </p:cNvSpPr>
          <p:nvPr/>
        </p:nvSpPr>
        <p:spPr bwMode="auto">
          <a:xfrm>
            <a:off x="2696766" y="1956197"/>
            <a:ext cx="4400550" cy="30575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892" name="Line 47"/>
          <p:cNvSpPr>
            <a:spLocks noChangeShapeType="1"/>
          </p:cNvSpPr>
          <p:nvPr/>
        </p:nvSpPr>
        <p:spPr bwMode="auto">
          <a:xfrm>
            <a:off x="2696766" y="4400550"/>
            <a:ext cx="4400550"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893" name="Line 48"/>
          <p:cNvSpPr>
            <a:spLocks noChangeShapeType="1"/>
          </p:cNvSpPr>
          <p:nvPr/>
        </p:nvSpPr>
        <p:spPr bwMode="auto">
          <a:xfrm>
            <a:off x="2696766" y="3788569"/>
            <a:ext cx="4400550"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894" name="Line 49"/>
          <p:cNvSpPr>
            <a:spLocks noChangeShapeType="1"/>
          </p:cNvSpPr>
          <p:nvPr/>
        </p:nvSpPr>
        <p:spPr bwMode="auto">
          <a:xfrm>
            <a:off x="2696766" y="3181350"/>
            <a:ext cx="4400550"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895" name="Line 50"/>
          <p:cNvSpPr>
            <a:spLocks noChangeShapeType="1"/>
          </p:cNvSpPr>
          <p:nvPr/>
        </p:nvSpPr>
        <p:spPr bwMode="auto">
          <a:xfrm>
            <a:off x="2696766" y="2568180"/>
            <a:ext cx="4400550"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896" name="Line 51"/>
          <p:cNvSpPr>
            <a:spLocks noChangeShapeType="1"/>
          </p:cNvSpPr>
          <p:nvPr/>
        </p:nvSpPr>
        <p:spPr bwMode="auto">
          <a:xfrm>
            <a:off x="2696766" y="1956199"/>
            <a:ext cx="4400550"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897" name="Rectangle 52"/>
          <p:cNvSpPr>
            <a:spLocks noChangeArrowheads="1"/>
          </p:cNvSpPr>
          <p:nvPr/>
        </p:nvSpPr>
        <p:spPr bwMode="auto">
          <a:xfrm>
            <a:off x="2696766" y="1956197"/>
            <a:ext cx="4400550" cy="3057525"/>
          </a:xfrm>
          <a:prstGeom prst="rect">
            <a:avLst/>
          </a:prstGeom>
          <a:noFill/>
          <a:ln w="7938">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898" name="Line 53"/>
          <p:cNvSpPr>
            <a:spLocks noChangeShapeType="1"/>
          </p:cNvSpPr>
          <p:nvPr/>
        </p:nvSpPr>
        <p:spPr bwMode="auto">
          <a:xfrm>
            <a:off x="2696767" y="1956197"/>
            <a:ext cx="1190" cy="3057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899" name="Line 54"/>
          <p:cNvSpPr>
            <a:spLocks noChangeShapeType="1"/>
          </p:cNvSpPr>
          <p:nvPr/>
        </p:nvSpPr>
        <p:spPr bwMode="auto">
          <a:xfrm>
            <a:off x="2644378" y="5013724"/>
            <a:ext cx="52388"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900" name="Line 55"/>
          <p:cNvSpPr>
            <a:spLocks noChangeShapeType="1"/>
          </p:cNvSpPr>
          <p:nvPr/>
        </p:nvSpPr>
        <p:spPr bwMode="auto">
          <a:xfrm>
            <a:off x="2644378" y="4400550"/>
            <a:ext cx="52388"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901" name="Line 56"/>
          <p:cNvSpPr>
            <a:spLocks noChangeShapeType="1"/>
          </p:cNvSpPr>
          <p:nvPr/>
        </p:nvSpPr>
        <p:spPr bwMode="auto">
          <a:xfrm>
            <a:off x="2644378" y="3788569"/>
            <a:ext cx="52388"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902" name="Line 57"/>
          <p:cNvSpPr>
            <a:spLocks noChangeShapeType="1"/>
          </p:cNvSpPr>
          <p:nvPr/>
        </p:nvSpPr>
        <p:spPr bwMode="auto">
          <a:xfrm>
            <a:off x="2644378" y="3181350"/>
            <a:ext cx="52388" cy="11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903" name="Line 58"/>
          <p:cNvSpPr>
            <a:spLocks noChangeShapeType="1"/>
          </p:cNvSpPr>
          <p:nvPr/>
        </p:nvSpPr>
        <p:spPr bwMode="auto">
          <a:xfrm>
            <a:off x="2644378" y="2568180"/>
            <a:ext cx="52388"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904" name="Line 59"/>
          <p:cNvSpPr>
            <a:spLocks noChangeShapeType="1"/>
          </p:cNvSpPr>
          <p:nvPr/>
        </p:nvSpPr>
        <p:spPr bwMode="auto">
          <a:xfrm>
            <a:off x="2644378" y="1956199"/>
            <a:ext cx="52388"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905" name="Line 60"/>
          <p:cNvSpPr>
            <a:spLocks noChangeShapeType="1"/>
          </p:cNvSpPr>
          <p:nvPr/>
        </p:nvSpPr>
        <p:spPr bwMode="auto">
          <a:xfrm>
            <a:off x="2696766" y="5013724"/>
            <a:ext cx="4400550" cy="11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906" name="Line 61"/>
          <p:cNvSpPr>
            <a:spLocks noChangeShapeType="1"/>
          </p:cNvSpPr>
          <p:nvPr/>
        </p:nvSpPr>
        <p:spPr bwMode="auto">
          <a:xfrm flipV="1">
            <a:off x="2696767" y="5013722"/>
            <a:ext cx="1190"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907" name="Line 62"/>
          <p:cNvSpPr>
            <a:spLocks noChangeShapeType="1"/>
          </p:cNvSpPr>
          <p:nvPr/>
        </p:nvSpPr>
        <p:spPr bwMode="auto">
          <a:xfrm flipV="1">
            <a:off x="3575449" y="5013722"/>
            <a:ext cx="1190"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908" name="Line 63"/>
          <p:cNvSpPr>
            <a:spLocks noChangeShapeType="1"/>
          </p:cNvSpPr>
          <p:nvPr/>
        </p:nvSpPr>
        <p:spPr bwMode="auto">
          <a:xfrm flipV="1">
            <a:off x="4458892" y="5013722"/>
            <a:ext cx="1190"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909" name="Line 64"/>
          <p:cNvSpPr>
            <a:spLocks noChangeShapeType="1"/>
          </p:cNvSpPr>
          <p:nvPr/>
        </p:nvSpPr>
        <p:spPr bwMode="auto">
          <a:xfrm flipV="1">
            <a:off x="5336381" y="5013722"/>
            <a:ext cx="1191"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910" name="Line 65"/>
          <p:cNvSpPr>
            <a:spLocks noChangeShapeType="1"/>
          </p:cNvSpPr>
          <p:nvPr/>
        </p:nvSpPr>
        <p:spPr bwMode="auto">
          <a:xfrm flipV="1">
            <a:off x="6219825" y="5013722"/>
            <a:ext cx="1191"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911" name="Line 66"/>
          <p:cNvSpPr>
            <a:spLocks noChangeShapeType="1"/>
          </p:cNvSpPr>
          <p:nvPr/>
        </p:nvSpPr>
        <p:spPr bwMode="auto">
          <a:xfrm flipV="1">
            <a:off x="7097317" y="5013722"/>
            <a:ext cx="1190" cy="523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912" name="Freeform 67"/>
          <p:cNvSpPr>
            <a:spLocks/>
          </p:cNvSpPr>
          <p:nvPr/>
        </p:nvSpPr>
        <p:spPr bwMode="auto">
          <a:xfrm>
            <a:off x="3527822" y="4354116"/>
            <a:ext cx="94059" cy="94059"/>
          </a:xfrm>
          <a:custGeom>
            <a:avLst/>
            <a:gdLst>
              <a:gd name="T0" fmla="*/ 63500 w 79"/>
              <a:gd name="T1" fmla="*/ 0 h 79"/>
              <a:gd name="T2" fmla="*/ 125412 w 79"/>
              <a:gd name="T3" fmla="*/ 61912 h 79"/>
              <a:gd name="T4" fmla="*/ 63500 w 79"/>
              <a:gd name="T5" fmla="*/ 125412 h 79"/>
              <a:gd name="T6" fmla="*/ 0 w 79"/>
              <a:gd name="T7" fmla="*/ 61912 h 79"/>
              <a:gd name="T8" fmla="*/ 63500 w 79"/>
              <a:gd name="T9" fmla="*/ 0 h 79"/>
              <a:gd name="T10" fmla="*/ 0 60000 65536"/>
              <a:gd name="T11" fmla="*/ 0 60000 65536"/>
              <a:gd name="T12" fmla="*/ 0 60000 65536"/>
              <a:gd name="T13" fmla="*/ 0 60000 65536"/>
              <a:gd name="T14" fmla="*/ 0 60000 65536"/>
              <a:gd name="T15" fmla="*/ 0 w 79"/>
              <a:gd name="T16" fmla="*/ 0 h 79"/>
              <a:gd name="T17" fmla="*/ 79 w 79"/>
              <a:gd name="T18" fmla="*/ 79 h 79"/>
            </a:gdLst>
            <a:ahLst/>
            <a:cxnLst>
              <a:cxn ang="T10">
                <a:pos x="T0" y="T1"/>
              </a:cxn>
              <a:cxn ang="T11">
                <a:pos x="T2" y="T3"/>
              </a:cxn>
              <a:cxn ang="T12">
                <a:pos x="T4" y="T5"/>
              </a:cxn>
              <a:cxn ang="T13">
                <a:pos x="T6" y="T7"/>
              </a:cxn>
              <a:cxn ang="T14">
                <a:pos x="T8" y="T9"/>
              </a:cxn>
            </a:cxnLst>
            <a:rect l="T15" t="T16" r="T17" b="T18"/>
            <a:pathLst>
              <a:path w="79" h="79">
                <a:moveTo>
                  <a:pt x="40" y="0"/>
                </a:moveTo>
                <a:lnTo>
                  <a:pt x="79" y="39"/>
                </a:lnTo>
                <a:lnTo>
                  <a:pt x="40" y="79"/>
                </a:lnTo>
                <a:lnTo>
                  <a:pt x="0" y="39"/>
                </a:lnTo>
                <a:lnTo>
                  <a:pt x="40" y="0"/>
                </a:lnTo>
                <a:close/>
              </a:path>
            </a:pathLst>
          </a:custGeom>
          <a:solidFill>
            <a:srgbClr val="000080"/>
          </a:solidFill>
          <a:ln w="7938">
            <a:solidFill>
              <a:srgbClr val="000080"/>
            </a:solidFill>
            <a:round/>
            <a:headEnd/>
            <a:tailEnd/>
          </a:ln>
        </p:spPr>
        <p:txBody>
          <a:bodyPr/>
          <a:lstStyle/>
          <a:p>
            <a:endParaRPr lang="en-US" sz="1350"/>
          </a:p>
        </p:txBody>
      </p:sp>
      <p:sp>
        <p:nvSpPr>
          <p:cNvPr id="37913" name="Rectangle 68"/>
          <p:cNvSpPr>
            <a:spLocks noChangeArrowheads="1"/>
          </p:cNvSpPr>
          <p:nvPr/>
        </p:nvSpPr>
        <p:spPr bwMode="auto">
          <a:xfrm>
            <a:off x="2478881" y="4919663"/>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0</a:t>
            </a:r>
            <a:endParaRPr lang="en-US" altLang="en-US" sz="1800"/>
          </a:p>
        </p:txBody>
      </p:sp>
      <p:sp>
        <p:nvSpPr>
          <p:cNvPr id="37914" name="Rectangle 69"/>
          <p:cNvSpPr>
            <a:spLocks noChangeArrowheads="1"/>
          </p:cNvSpPr>
          <p:nvPr/>
        </p:nvSpPr>
        <p:spPr bwMode="auto">
          <a:xfrm>
            <a:off x="2478881" y="4306491"/>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1</a:t>
            </a:r>
            <a:endParaRPr lang="en-US" altLang="en-US" sz="1800"/>
          </a:p>
        </p:txBody>
      </p:sp>
      <p:sp>
        <p:nvSpPr>
          <p:cNvPr id="37915" name="Rectangle 70"/>
          <p:cNvSpPr>
            <a:spLocks noChangeArrowheads="1"/>
          </p:cNvSpPr>
          <p:nvPr/>
        </p:nvSpPr>
        <p:spPr bwMode="auto">
          <a:xfrm>
            <a:off x="2478881" y="369451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2</a:t>
            </a:r>
            <a:endParaRPr lang="en-US" altLang="en-US" sz="1800"/>
          </a:p>
        </p:txBody>
      </p:sp>
      <p:sp>
        <p:nvSpPr>
          <p:cNvPr id="37916" name="Rectangle 71"/>
          <p:cNvSpPr>
            <a:spLocks noChangeArrowheads="1"/>
          </p:cNvSpPr>
          <p:nvPr/>
        </p:nvSpPr>
        <p:spPr bwMode="auto">
          <a:xfrm>
            <a:off x="2478881" y="3087291"/>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3</a:t>
            </a:r>
            <a:endParaRPr lang="en-US" altLang="en-US" sz="1800"/>
          </a:p>
        </p:txBody>
      </p:sp>
      <p:sp>
        <p:nvSpPr>
          <p:cNvPr id="37917" name="Rectangle 72"/>
          <p:cNvSpPr>
            <a:spLocks noChangeArrowheads="1"/>
          </p:cNvSpPr>
          <p:nvPr/>
        </p:nvSpPr>
        <p:spPr bwMode="auto">
          <a:xfrm>
            <a:off x="2478881" y="2474119"/>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4</a:t>
            </a:r>
            <a:endParaRPr lang="en-US" altLang="en-US" sz="1800"/>
          </a:p>
        </p:txBody>
      </p:sp>
      <p:sp>
        <p:nvSpPr>
          <p:cNvPr id="37918" name="Rectangle 73"/>
          <p:cNvSpPr>
            <a:spLocks noChangeArrowheads="1"/>
          </p:cNvSpPr>
          <p:nvPr/>
        </p:nvSpPr>
        <p:spPr bwMode="auto">
          <a:xfrm>
            <a:off x="2478881" y="1862138"/>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5</a:t>
            </a:r>
            <a:endParaRPr lang="en-US" altLang="en-US" sz="1800"/>
          </a:p>
        </p:txBody>
      </p:sp>
      <p:sp>
        <p:nvSpPr>
          <p:cNvPr id="37919" name="Rectangle 74"/>
          <p:cNvSpPr>
            <a:spLocks noChangeArrowheads="1"/>
          </p:cNvSpPr>
          <p:nvPr/>
        </p:nvSpPr>
        <p:spPr bwMode="auto">
          <a:xfrm>
            <a:off x="2656285"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0</a:t>
            </a:r>
            <a:endParaRPr lang="en-US" altLang="en-US" sz="1800"/>
          </a:p>
        </p:txBody>
      </p:sp>
      <p:sp>
        <p:nvSpPr>
          <p:cNvPr id="37920" name="Rectangle 75"/>
          <p:cNvSpPr>
            <a:spLocks noChangeArrowheads="1"/>
          </p:cNvSpPr>
          <p:nvPr/>
        </p:nvSpPr>
        <p:spPr bwMode="auto">
          <a:xfrm>
            <a:off x="3533775"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1</a:t>
            </a:r>
            <a:endParaRPr lang="en-US" altLang="en-US" sz="1800"/>
          </a:p>
        </p:txBody>
      </p:sp>
      <p:sp>
        <p:nvSpPr>
          <p:cNvPr id="37921" name="Rectangle 76"/>
          <p:cNvSpPr>
            <a:spLocks noChangeArrowheads="1"/>
          </p:cNvSpPr>
          <p:nvPr/>
        </p:nvSpPr>
        <p:spPr bwMode="auto">
          <a:xfrm>
            <a:off x="4417219"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2</a:t>
            </a:r>
            <a:endParaRPr lang="en-US" altLang="en-US" sz="1800"/>
          </a:p>
        </p:txBody>
      </p:sp>
      <p:sp>
        <p:nvSpPr>
          <p:cNvPr id="37922" name="Rectangle 77"/>
          <p:cNvSpPr>
            <a:spLocks noChangeArrowheads="1"/>
          </p:cNvSpPr>
          <p:nvPr/>
        </p:nvSpPr>
        <p:spPr bwMode="auto">
          <a:xfrm>
            <a:off x="5294710"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3</a:t>
            </a:r>
            <a:endParaRPr lang="en-US" altLang="en-US" sz="1800"/>
          </a:p>
        </p:txBody>
      </p:sp>
      <p:sp>
        <p:nvSpPr>
          <p:cNvPr id="37923" name="Rectangle 78"/>
          <p:cNvSpPr>
            <a:spLocks noChangeArrowheads="1"/>
          </p:cNvSpPr>
          <p:nvPr/>
        </p:nvSpPr>
        <p:spPr bwMode="auto">
          <a:xfrm>
            <a:off x="6179344"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4</a:t>
            </a:r>
            <a:endParaRPr lang="en-US" altLang="en-US" sz="1800"/>
          </a:p>
        </p:txBody>
      </p:sp>
      <p:sp>
        <p:nvSpPr>
          <p:cNvPr id="37924" name="Rectangle 79"/>
          <p:cNvSpPr>
            <a:spLocks noChangeArrowheads="1"/>
          </p:cNvSpPr>
          <p:nvPr/>
        </p:nvSpPr>
        <p:spPr bwMode="auto">
          <a:xfrm>
            <a:off x="7056835" y="5161360"/>
            <a:ext cx="91372"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275">
                <a:solidFill>
                  <a:srgbClr val="000000"/>
                </a:solidFill>
              </a:rPr>
              <a:t>5</a:t>
            </a:r>
            <a:endParaRPr lang="en-US" altLang="en-US" sz="1800"/>
          </a:p>
        </p:txBody>
      </p:sp>
      <p:sp>
        <p:nvSpPr>
          <p:cNvPr id="267267" name="Rectangle 3"/>
          <p:cNvSpPr>
            <a:spLocks noGrp="1" noChangeArrowheads="1"/>
          </p:cNvSpPr>
          <p:nvPr>
            <p:ph type="title"/>
          </p:nvPr>
        </p:nvSpPr>
        <p:spPr>
          <a:xfrm>
            <a:off x="1657350" y="1028700"/>
            <a:ext cx="5829300" cy="400050"/>
          </a:xfrm>
        </p:spPr>
        <p:txBody>
          <a:bodyPr>
            <a:normAutofit fontScale="90000"/>
          </a:bodyPr>
          <a:lstStyle/>
          <a:p>
            <a:pPr>
              <a:defRPr/>
            </a:pPr>
            <a:r>
              <a:rPr lang="en-US" sz="3000">
                <a:effectLst>
                  <a:outerShdw blurRad="38100" dist="38100" dir="2700000" algn="tl">
                    <a:srgbClr val="DDDDDD"/>
                  </a:outerShdw>
                </a:effectLst>
              </a:rPr>
              <a:t>K-means Clustering: Step 4</a:t>
            </a:r>
          </a:p>
        </p:txBody>
      </p:sp>
      <p:sp>
        <p:nvSpPr>
          <p:cNvPr id="37926" name="Text Box 4"/>
          <p:cNvSpPr txBox="1">
            <a:spLocks noChangeArrowheads="1"/>
          </p:cNvSpPr>
          <p:nvPr/>
        </p:nvSpPr>
        <p:spPr bwMode="auto">
          <a:xfrm>
            <a:off x="1877616" y="1485901"/>
            <a:ext cx="59939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Algorithm: k-means, Distance Metric: Euclidean Distance</a:t>
            </a:r>
          </a:p>
        </p:txBody>
      </p:sp>
      <p:grpSp>
        <p:nvGrpSpPr>
          <p:cNvPr id="37927" name="Group 5"/>
          <p:cNvGrpSpPr>
            <a:grpSpLocks/>
          </p:cNvGrpSpPr>
          <p:nvPr/>
        </p:nvGrpSpPr>
        <p:grpSpPr bwMode="auto">
          <a:xfrm>
            <a:off x="5772150" y="2457451"/>
            <a:ext cx="514350" cy="426244"/>
            <a:chOff x="192" y="1824"/>
            <a:chExt cx="432" cy="358"/>
          </a:xfrm>
        </p:grpSpPr>
        <p:sp>
          <p:nvSpPr>
            <p:cNvPr id="37966" name="Oval 6"/>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67" name="Text Box 7"/>
            <p:cNvSpPr txBox="1">
              <a:spLocks noChangeArrowheads="1"/>
            </p:cNvSpPr>
            <p:nvPr/>
          </p:nvSpPr>
          <p:spPr bwMode="auto">
            <a:xfrm>
              <a:off x="288" y="1872"/>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k</a:t>
              </a:r>
              <a:r>
                <a:rPr lang="en-US" altLang="en-US" sz="1800" baseline="-25000"/>
                <a:t>1</a:t>
              </a:r>
            </a:p>
          </p:txBody>
        </p:sp>
      </p:grpSp>
      <p:grpSp>
        <p:nvGrpSpPr>
          <p:cNvPr id="37928" name="Group 8"/>
          <p:cNvGrpSpPr>
            <a:grpSpLocks/>
          </p:cNvGrpSpPr>
          <p:nvPr/>
        </p:nvGrpSpPr>
        <p:grpSpPr bwMode="auto">
          <a:xfrm>
            <a:off x="3486150" y="4114801"/>
            <a:ext cx="514350" cy="426244"/>
            <a:chOff x="192" y="1824"/>
            <a:chExt cx="432" cy="358"/>
          </a:xfrm>
        </p:grpSpPr>
        <p:sp>
          <p:nvSpPr>
            <p:cNvPr id="37964" name="Oval 9"/>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65" name="Text Box 10"/>
            <p:cNvSpPr txBox="1">
              <a:spLocks noChangeArrowheads="1"/>
            </p:cNvSpPr>
            <p:nvPr/>
          </p:nvSpPr>
          <p:spPr bwMode="auto">
            <a:xfrm>
              <a:off x="288" y="1872"/>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k</a:t>
              </a:r>
              <a:r>
                <a:rPr lang="en-US" altLang="en-US" sz="1800" baseline="-25000"/>
                <a:t>2</a:t>
              </a:r>
            </a:p>
          </p:txBody>
        </p:sp>
      </p:grpSp>
      <p:grpSp>
        <p:nvGrpSpPr>
          <p:cNvPr id="37929" name="Group 11"/>
          <p:cNvGrpSpPr>
            <a:grpSpLocks/>
          </p:cNvGrpSpPr>
          <p:nvPr/>
        </p:nvGrpSpPr>
        <p:grpSpPr bwMode="auto">
          <a:xfrm>
            <a:off x="5829300" y="3886201"/>
            <a:ext cx="514350" cy="426244"/>
            <a:chOff x="192" y="1824"/>
            <a:chExt cx="432" cy="358"/>
          </a:xfrm>
        </p:grpSpPr>
        <p:sp>
          <p:nvSpPr>
            <p:cNvPr id="37962" name="Oval 12"/>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63" name="Text Box 13"/>
            <p:cNvSpPr txBox="1">
              <a:spLocks noChangeArrowheads="1"/>
            </p:cNvSpPr>
            <p:nvPr/>
          </p:nvSpPr>
          <p:spPr bwMode="auto">
            <a:xfrm>
              <a:off x="288" y="1872"/>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k</a:t>
              </a:r>
              <a:r>
                <a:rPr lang="en-US" altLang="en-US" sz="1800" baseline="-25000"/>
                <a:t>3</a:t>
              </a:r>
            </a:p>
          </p:txBody>
        </p:sp>
      </p:grpSp>
      <p:sp>
        <p:nvSpPr>
          <p:cNvPr id="37930" name="AutoShape 14"/>
          <p:cNvSpPr>
            <a:spLocks noChangeArrowheads="1"/>
          </p:cNvSpPr>
          <p:nvPr/>
        </p:nvSpPr>
        <p:spPr bwMode="auto">
          <a:xfrm>
            <a:off x="3543300" y="434340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31" name="AutoShape 15"/>
          <p:cNvSpPr>
            <a:spLocks noChangeArrowheads="1"/>
          </p:cNvSpPr>
          <p:nvPr/>
        </p:nvSpPr>
        <p:spPr bwMode="auto">
          <a:xfrm>
            <a:off x="3657600" y="451485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32" name="AutoShape 16"/>
          <p:cNvSpPr>
            <a:spLocks noChangeArrowheads="1"/>
          </p:cNvSpPr>
          <p:nvPr/>
        </p:nvSpPr>
        <p:spPr bwMode="auto">
          <a:xfrm>
            <a:off x="3486150" y="468630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33" name="AutoShape 17"/>
          <p:cNvSpPr>
            <a:spLocks noChangeArrowheads="1"/>
          </p:cNvSpPr>
          <p:nvPr/>
        </p:nvSpPr>
        <p:spPr bwMode="auto">
          <a:xfrm>
            <a:off x="3314700" y="417195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34" name="AutoShape 18"/>
          <p:cNvSpPr>
            <a:spLocks noChangeArrowheads="1"/>
          </p:cNvSpPr>
          <p:nvPr/>
        </p:nvSpPr>
        <p:spPr bwMode="auto">
          <a:xfrm>
            <a:off x="3314700" y="240030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35" name="AutoShape 19"/>
          <p:cNvSpPr>
            <a:spLocks noChangeArrowheads="1"/>
          </p:cNvSpPr>
          <p:nvPr/>
        </p:nvSpPr>
        <p:spPr bwMode="auto">
          <a:xfrm>
            <a:off x="3314700" y="354330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36" name="AutoShape 20"/>
          <p:cNvSpPr>
            <a:spLocks noChangeArrowheads="1"/>
          </p:cNvSpPr>
          <p:nvPr/>
        </p:nvSpPr>
        <p:spPr bwMode="auto">
          <a:xfrm>
            <a:off x="3314700" y="468630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37" name="AutoShape 21"/>
          <p:cNvSpPr>
            <a:spLocks noChangeArrowheads="1"/>
          </p:cNvSpPr>
          <p:nvPr/>
        </p:nvSpPr>
        <p:spPr bwMode="auto">
          <a:xfrm>
            <a:off x="2971800" y="394335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38" name="AutoShape 22"/>
          <p:cNvSpPr>
            <a:spLocks noChangeArrowheads="1"/>
          </p:cNvSpPr>
          <p:nvPr/>
        </p:nvSpPr>
        <p:spPr bwMode="auto">
          <a:xfrm>
            <a:off x="4572000" y="371475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39" name="AutoShape 23"/>
          <p:cNvSpPr>
            <a:spLocks noChangeArrowheads="1"/>
          </p:cNvSpPr>
          <p:nvPr/>
        </p:nvSpPr>
        <p:spPr bwMode="auto">
          <a:xfrm>
            <a:off x="6172200" y="222885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40" name="AutoShape 24"/>
          <p:cNvSpPr>
            <a:spLocks noChangeArrowheads="1"/>
          </p:cNvSpPr>
          <p:nvPr/>
        </p:nvSpPr>
        <p:spPr bwMode="auto">
          <a:xfrm>
            <a:off x="6515100" y="22860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41" name="AutoShape 25"/>
          <p:cNvSpPr>
            <a:spLocks noChangeArrowheads="1"/>
          </p:cNvSpPr>
          <p:nvPr/>
        </p:nvSpPr>
        <p:spPr bwMode="auto">
          <a:xfrm>
            <a:off x="6400800" y="24003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42" name="AutoShape 26"/>
          <p:cNvSpPr>
            <a:spLocks noChangeArrowheads="1"/>
          </p:cNvSpPr>
          <p:nvPr/>
        </p:nvSpPr>
        <p:spPr bwMode="auto">
          <a:xfrm>
            <a:off x="6286500" y="25146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43" name="AutoShape 27"/>
          <p:cNvSpPr>
            <a:spLocks noChangeArrowheads="1"/>
          </p:cNvSpPr>
          <p:nvPr/>
        </p:nvSpPr>
        <p:spPr bwMode="auto">
          <a:xfrm>
            <a:off x="6515100" y="26289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44" name="AutoShape 28"/>
          <p:cNvSpPr>
            <a:spLocks noChangeArrowheads="1"/>
          </p:cNvSpPr>
          <p:nvPr/>
        </p:nvSpPr>
        <p:spPr bwMode="auto">
          <a:xfrm>
            <a:off x="6743700" y="291465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45" name="AutoShape 29"/>
          <p:cNvSpPr>
            <a:spLocks noChangeArrowheads="1"/>
          </p:cNvSpPr>
          <p:nvPr/>
        </p:nvSpPr>
        <p:spPr bwMode="auto">
          <a:xfrm>
            <a:off x="5429250" y="222885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46" name="AutoShape 30"/>
          <p:cNvSpPr>
            <a:spLocks noChangeArrowheads="1"/>
          </p:cNvSpPr>
          <p:nvPr/>
        </p:nvSpPr>
        <p:spPr bwMode="auto">
          <a:xfrm>
            <a:off x="5657850" y="33147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47" name="AutoShape 31"/>
          <p:cNvSpPr>
            <a:spLocks noChangeArrowheads="1"/>
          </p:cNvSpPr>
          <p:nvPr/>
        </p:nvSpPr>
        <p:spPr bwMode="auto">
          <a:xfrm>
            <a:off x="5657850" y="44577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48" name="AutoShape 32"/>
          <p:cNvSpPr>
            <a:spLocks noChangeArrowheads="1"/>
          </p:cNvSpPr>
          <p:nvPr/>
        </p:nvSpPr>
        <p:spPr bwMode="auto">
          <a:xfrm>
            <a:off x="5943600" y="46863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49" name="AutoShape 33"/>
          <p:cNvSpPr>
            <a:spLocks noChangeArrowheads="1"/>
          </p:cNvSpPr>
          <p:nvPr/>
        </p:nvSpPr>
        <p:spPr bwMode="auto">
          <a:xfrm>
            <a:off x="6229350" y="41148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50" name="AutoShape 34"/>
          <p:cNvSpPr>
            <a:spLocks noChangeArrowheads="1"/>
          </p:cNvSpPr>
          <p:nvPr/>
        </p:nvSpPr>
        <p:spPr bwMode="auto">
          <a:xfrm>
            <a:off x="5600700" y="36576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51" name="AutoShape 35"/>
          <p:cNvSpPr>
            <a:spLocks noChangeArrowheads="1"/>
          </p:cNvSpPr>
          <p:nvPr/>
        </p:nvSpPr>
        <p:spPr bwMode="auto">
          <a:xfrm>
            <a:off x="5029200" y="40005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52" name="AutoShape 36"/>
          <p:cNvSpPr>
            <a:spLocks noChangeArrowheads="1"/>
          </p:cNvSpPr>
          <p:nvPr/>
        </p:nvSpPr>
        <p:spPr bwMode="auto">
          <a:xfrm>
            <a:off x="6515100" y="43434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53" name="AutoShape 37"/>
          <p:cNvSpPr>
            <a:spLocks noChangeArrowheads="1"/>
          </p:cNvSpPr>
          <p:nvPr/>
        </p:nvSpPr>
        <p:spPr bwMode="auto">
          <a:xfrm>
            <a:off x="6400800" y="462915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54" name="AutoShape 38"/>
          <p:cNvSpPr>
            <a:spLocks noChangeArrowheads="1"/>
          </p:cNvSpPr>
          <p:nvPr/>
        </p:nvSpPr>
        <p:spPr bwMode="auto">
          <a:xfrm>
            <a:off x="6286500" y="38862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55" name="AutoShape 39"/>
          <p:cNvSpPr>
            <a:spLocks noChangeArrowheads="1"/>
          </p:cNvSpPr>
          <p:nvPr/>
        </p:nvSpPr>
        <p:spPr bwMode="auto">
          <a:xfrm>
            <a:off x="6743700" y="48006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7956" name="AutoShape 40"/>
          <p:cNvSpPr>
            <a:spLocks noChangeArrowheads="1"/>
          </p:cNvSpPr>
          <p:nvPr/>
        </p:nvSpPr>
        <p:spPr bwMode="auto">
          <a:xfrm>
            <a:off x="6115050" y="280035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grpSp>
        <p:nvGrpSpPr>
          <p:cNvPr id="5" name="Group 41"/>
          <p:cNvGrpSpPr>
            <a:grpSpLocks/>
          </p:cNvGrpSpPr>
          <p:nvPr/>
        </p:nvGrpSpPr>
        <p:grpSpPr bwMode="auto">
          <a:xfrm>
            <a:off x="3257550" y="2514600"/>
            <a:ext cx="2971800" cy="1885950"/>
            <a:chOff x="1776" y="1392"/>
            <a:chExt cx="2496" cy="1584"/>
          </a:xfrm>
        </p:grpSpPr>
        <p:sp>
          <p:nvSpPr>
            <p:cNvPr id="37959" name="Line 42"/>
            <p:cNvSpPr>
              <a:spLocks noChangeShapeType="1"/>
            </p:cNvSpPr>
            <p:nvPr/>
          </p:nvSpPr>
          <p:spPr bwMode="auto">
            <a:xfrm flipH="1" flipV="1">
              <a:off x="1776" y="2592"/>
              <a:ext cx="192" cy="144"/>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37960" name="Line 43"/>
            <p:cNvSpPr>
              <a:spLocks noChangeShapeType="1"/>
            </p:cNvSpPr>
            <p:nvPr/>
          </p:nvSpPr>
          <p:spPr bwMode="auto">
            <a:xfrm flipH="1">
              <a:off x="3840" y="2736"/>
              <a:ext cx="96" cy="24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37961" name="Line 44"/>
            <p:cNvSpPr>
              <a:spLocks noChangeShapeType="1"/>
            </p:cNvSpPr>
            <p:nvPr/>
          </p:nvSpPr>
          <p:spPr bwMode="auto">
            <a:xfrm>
              <a:off x="4080" y="1392"/>
              <a:ext cx="192"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grpSp>
      <p:sp>
        <p:nvSpPr>
          <p:cNvPr id="37958" name="TextBox 78"/>
          <p:cNvSpPr txBox="1">
            <a:spLocks noChangeArrowheads="1"/>
          </p:cNvSpPr>
          <p:nvPr/>
        </p:nvSpPr>
        <p:spPr bwMode="auto">
          <a:xfrm>
            <a:off x="1143001" y="5723335"/>
            <a:ext cx="313739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Slide based on one by Eamonn Keogh</a:t>
            </a:r>
          </a:p>
        </p:txBody>
      </p:sp>
    </p:spTree>
    <p:extLst>
      <p:ext uri="{BB962C8B-B14F-4D97-AF65-F5344CB8AC3E}">
        <p14:creationId xmlns:p14="http://schemas.microsoft.com/office/powerpoint/2010/main" val="41286121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4" name="Object 2"/>
          <p:cNvGraphicFramePr>
            <a:graphicFrameLocks noChangeAspect="1"/>
          </p:cNvGraphicFramePr>
          <p:nvPr/>
        </p:nvGraphicFramePr>
        <p:xfrm>
          <a:off x="1943100" y="1714501"/>
          <a:ext cx="5325666" cy="4188619"/>
        </p:xfrm>
        <a:graphic>
          <a:graphicData uri="http://schemas.openxmlformats.org/presentationml/2006/ole">
            <mc:AlternateContent xmlns:mc="http://schemas.openxmlformats.org/markup-compatibility/2006">
              <mc:Choice xmlns:v="urn:schemas-microsoft-com:vml" Requires="v">
                <p:oleObj spid="_x0000_s1026" name="Chart" r:id="rId3" imgW="6888861" imgH="5418011" progId="Excel.Chart.8">
                  <p:embed/>
                </p:oleObj>
              </mc:Choice>
              <mc:Fallback>
                <p:oleObj name="Chart" r:id="rId3" imgW="6888861" imgH="5418011" progId="Excel.Chart.8">
                  <p:embed/>
                  <p:pic>
                    <p:nvPicPr>
                      <p:cNvPr id="3891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100" y="1714501"/>
                        <a:ext cx="5325666" cy="4188619"/>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8291" name="Rectangle 3"/>
          <p:cNvSpPr>
            <a:spLocks noGrp="1" noChangeArrowheads="1"/>
          </p:cNvSpPr>
          <p:nvPr>
            <p:ph type="title"/>
          </p:nvPr>
        </p:nvSpPr>
        <p:spPr>
          <a:xfrm>
            <a:off x="1657350" y="1028700"/>
            <a:ext cx="5829300" cy="400050"/>
          </a:xfrm>
        </p:spPr>
        <p:txBody>
          <a:bodyPr>
            <a:normAutofit fontScale="90000"/>
          </a:bodyPr>
          <a:lstStyle/>
          <a:p>
            <a:pPr>
              <a:defRPr/>
            </a:pPr>
            <a:r>
              <a:rPr lang="en-US" sz="3000">
                <a:effectLst>
                  <a:outerShdw blurRad="38100" dist="38100" dir="2700000" algn="tl">
                    <a:srgbClr val="DDDDDD"/>
                  </a:outerShdw>
                </a:effectLst>
              </a:rPr>
              <a:t>K-means Clustering: Step 5</a:t>
            </a:r>
          </a:p>
        </p:txBody>
      </p:sp>
      <p:sp>
        <p:nvSpPr>
          <p:cNvPr id="38916" name="Text Box 4"/>
          <p:cNvSpPr txBox="1">
            <a:spLocks noChangeArrowheads="1"/>
          </p:cNvSpPr>
          <p:nvPr/>
        </p:nvSpPr>
        <p:spPr bwMode="auto">
          <a:xfrm>
            <a:off x="1877616" y="1485901"/>
            <a:ext cx="59939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Algorithm: k-means, Distance Metric: Euclidean Distance</a:t>
            </a:r>
          </a:p>
        </p:txBody>
      </p:sp>
      <p:grpSp>
        <p:nvGrpSpPr>
          <p:cNvPr id="38917" name="Group 5"/>
          <p:cNvGrpSpPr>
            <a:grpSpLocks/>
          </p:cNvGrpSpPr>
          <p:nvPr/>
        </p:nvGrpSpPr>
        <p:grpSpPr bwMode="auto">
          <a:xfrm>
            <a:off x="6057900" y="2457451"/>
            <a:ext cx="514350" cy="426244"/>
            <a:chOff x="192" y="1824"/>
            <a:chExt cx="432" cy="358"/>
          </a:xfrm>
        </p:grpSpPr>
        <p:sp>
          <p:nvSpPr>
            <p:cNvPr id="38952" name="Oval 6"/>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53" name="Text Box 7"/>
            <p:cNvSpPr txBox="1">
              <a:spLocks noChangeArrowheads="1"/>
            </p:cNvSpPr>
            <p:nvPr/>
          </p:nvSpPr>
          <p:spPr bwMode="auto">
            <a:xfrm>
              <a:off x="288" y="1872"/>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k</a:t>
              </a:r>
              <a:r>
                <a:rPr lang="en-US" altLang="en-US" sz="1800" baseline="-25000"/>
                <a:t>1</a:t>
              </a:r>
            </a:p>
          </p:txBody>
        </p:sp>
      </p:grpSp>
      <p:grpSp>
        <p:nvGrpSpPr>
          <p:cNvPr id="38918" name="Group 8"/>
          <p:cNvGrpSpPr>
            <a:grpSpLocks/>
          </p:cNvGrpSpPr>
          <p:nvPr/>
        </p:nvGrpSpPr>
        <p:grpSpPr bwMode="auto">
          <a:xfrm>
            <a:off x="3200400" y="3886201"/>
            <a:ext cx="514350" cy="426244"/>
            <a:chOff x="192" y="1824"/>
            <a:chExt cx="432" cy="358"/>
          </a:xfrm>
        </p:grpSpPr>
        <p:sp>
          <p:nvSpPr>
            <p:cNvPr id="38950" name="Oval 9"/>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51" name="Text Box 10"/>
            <p:cNvSpPr txBox="1">
              <a:spLocks noChangeArrowheads="1"/>
            </p:cNvSpPr>
            <p:nvPr/>
          </p:nvSpPr>
          <p:spPr bwMode="auto">
            <a:xfrm>
              <a:off x="288" y="1872"/>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k</a:t>
              </a:r>
              <a:r>
                <a:rPr lang="en-US" altLang="en-US" sz="1800" baseline="-25000"/>
                <a:t>2</a:t>
              </a:r>
            </a:p>
          </p:txBody>
        </p:sp>
      </p:grpSp>
      <p:grpSp>
        <p:nvGrpSpPr>
          <p:cNvPr id="38919" name="Group 11"/>
          <p:cNvGrpSpPr>
            <a:grpSpLocks/>
          </p:cNvGrpSpPr>
          <p:nvPr/>
        </p:nvGrpSpPr>
        <p:grpSpPr bwMode="auto">
          <a:xfrm>
            <a:off x="5772150" y="4057651"/>
            <a:ext cx="514350" cy="426244"/>
            <a:chOff x="192" y="1824"/>
            <a:chExt cx="432" cy="358"/>
          </a:xfrm>
        </p:grpSpPr>
        <p:sp>
          <p:nvSpPr>
            <p:cNvPr id="38948" name="Oval 12"/>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49" name="Text Box 13"/>
            <p:cNvSpPr txBox="1">
              <a:spLocks noChangeArrowheads="1"/>
            </p:cNvSpPr>
            <p:nvPr/>
          </p:nvSpPr>
          <p:spPr bwMode="auto">
            <a:xfrm>
              <a:off x="288" y="1872"/>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k</a:t>
              </a:r>
              <a:r>
                <a:rPr lang="en-US" altLang="en-US" sz="1800" baseline="-25000"/>
                <a:t>3</a:t>
              </a:r>
            </a:p>
          </p:txBody>
        </p:sp>
      </p:grpSp>
      <p:sp>
        <p:nvSpPr>
          <p:cNvPr id="38920" name="AutoShape 14"/>
          <p:cNvSpPr>
            <a:spLocks noChangeArrowheads="1"/>
          </p:cNvSpPr>
          <p:nvPr/>
        </p:nvSpPr>
        <p:spPr bwMode="auto">
          <a:xfrm>
            <a:off x="3543300" y="434340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21" name="AutoShape 15"/>
          <p:cNvSpPr>
            <a:spLocks noChangeArrowheads="1"/>
          </p:cNvSpPr>
          <p:nvPr/>
        </p:nvSpPr>
        <p:spPr bwMode="auto">
          <a:xfrm>
            <a:off x="3657600" y="451485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22" name="AutoShape 16"/>
          <p:cNvSpPr>
            <a:spLocks noChangeArrowheads="1"/>
          </p:cNvSpPr>
          <p:nvPr/>
        </p:nvSpPr>
        <p:spPr bwMode="auto">
          <a:xfrm>
            <a:off x="3486150" y="468630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23" name="AutoShape 17"/>
          <p:cNvSpPr>
            <a:spLocks noChangeArrowheads="1"/>
          </p:cNvSpPr>
          <p:nvPr/>
        </p:nvSpPr>
        <p:spPr bwMode="auto">
          <a:xfrm>
            <a:off x="3314700" y="417195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24" name="AutoShape 18"/>
          <p:cNvSpPr>
            <a:spLocks noChangeArrowheads="1"/>
          </p:cNvSpPr>
          <p:nvPr/>
        </p:nvSpPr>
        <p:spPr bwMode="auto">
          <a:xfrm>
            <a:off x="3314700" y="240030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25" name="AutoShape 19"/>
          <p:cNvSpPr>
            <a:spLocks noChangeArrowheads="1"/>
          </p:cNvSpPr>
          <p:nvPr/>
        </p:nvSpPr>
        <p:spPr bwMode="auto">
          <a:xfrm>
            <a:off x="3314700" y="354330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26" name="AutoShape 20"/>
          <p:cNvSpPr>
            <a:spLocks noChangeArrowheads="1"/>
          </p:cNvSpPr>
          <p:nvPr/>
        </p:nvSpPr>
        <p:spPr bwMode="auto">
          <a:xfrm>
            <a:off x="3314700" y="468630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27" name="AutoShape 21"/>
          <p:cNvSpPr>
            <a:spLocks noChangeArrowheads="1"/>
          </p:cNvSpPr>
          <p:nvPr/>
        </p:nvSpPr>
        <p:spPr bwMode="auto">
          <a:xfrm>
            <a:off x="2971800" y="3943350"/>
            <a:ext cx="114300" cy="114300"/>
          </a:xfrm>
          <a:prstGeom prst="diamond">
            <a:avLst/>
          </a:prstGeom>
          <a:solidFill>
            <a:srgbClr val="FF00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28" name="AutoShape 22"/>
          <p:cNvSpPr>
            <a:spLocks noChangeArrowheads="1"/>
          </p:cNvSpPr>
          <p:nvPr/>
        </p:nvSpPr>
        <p:spPr bwMode="auto">
          <a:xfrm>
            <a:off x="4572000" y="371475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29" name="AutoShape 23"/>
          <p:cNvSpPr>
            <a:spLocks noChangeArrowheads="1"/>
          </p:cNvSpPr>
          <p:nvPr/>
        </p:nvSpPr>
        <p:spPr bwMode="auto">
          <a:xfrm>
            <a:off x="6172200" y="222885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30" name="AutoShape 24"/>
          <p:cNvSpPr>
            <a:spLocks noChangeArrowheads="1"/>
          </p:cNvSpPr>
          <p:nvPr/>
        </p:nvSpPr>
        <p:spPr bwMode="auto">
          <a:xfrm>
            <a:off x="6515100" y="22860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31" name="AutoShape 25"/>
          <p:cNvSpPr>
            <a:spLocks noChangeArrowheads="1"/>
          </p:cNvSpPr>
          <p:nvPr/>
        </p:nvSpPr>
        <p:spPr bwMode="auto">
          <a:xfrm>
            <a:off x="6400800" y="24003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32" name="AutoShape 26"/>
          <p:cNvSpPr>
            <a:spLocks noChangeArrowheads="1"/>
          </p:cNvSpPr>
          <p:nvPr/>
        </p:nvSpPr>
        <p:spPr bwMode="auto">
          <a:xfrm>
            <a:off x="6286500" y="25146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33" name="AutoShape 27"/>
          <p:cNvSpPr>
            <a:spLocks noChangeArrowheads="1"/>
          </p:cNvSpPr>
          <p:nvPr/>
        </p:nvSpPr>
        <p:spPr bwMode="auto">
          <a:xfrm>
            <a:off x="6515100" y="262890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34" name="AutoShape 28"/>
          <p:cNvSpPr>
            <a:spLocks noChangeArrowheads="1"/>
          </p:cNvSpPr>
          <p:nvPr/>
        </p:nvSpPr>
        <p:spPr bwMode="auto">
          <a:xfrm>
            <a:off x="6743700" y="291465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35" name="AutoShape 29"/>
          <p:cNvSpPr>
            <a:spLocks noChangeArrowheads="1"/>
          </p:cNvSpPr>
          <p:nvPr/>
        </p:nvSpPr>
        <p:spPr bwMode="auto">
          <a:xfrm>
            <a:off x="5429250" y="222885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36" name="AutoShape 30"/>
          <p:cNvSpPr>
            <a:spLocks noChangeArrowheads="1"/>
          </p:cNvSpPr>
          <p:nvPr/>
        </p:nvSpPr>
        <p:spPr bwMode="auto">
          <a:xfrm>
            <a:off x="5657850" y="33147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37" name="AutoShape 31"/>
          <p:cNvSpPr>
            <a:spLocks noChangeArrowheads="1"/>
          </p:cNvSpPr>
          <p:nvPr/>
        </p:nvSpPr>
        <p:spPr bwMode="auto">
          <a:xfrm>
            <a:off x="5657850" y="44577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38" name="AutoShape 32"/>
          <p:cNvSpPr>
            <a:spLocks noChangeArrowheads="1"/>
          </p:cNvSpPr>
          <p:nvPr/>
        </p:nvSpPr>
        <p:spPr bwMode="auto">
          <a:xfrm>
            <a:off x="5943600" y="46863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39" name="AutoShape 33"/>
          <p:cNvSpPr>
            <a:spLocks noChangeArrowheads="1"/>
          </p:cNvSpPr>
          <p:nvPr/>
        </p:nvSpPr>
        <p:spPr bwMode="auto">
          <a:xfrm>
            <a:off x="6229350" y="41148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40" name="AutoShape 34"/>
          <p:cNvSpPr>
            <a:spLocks noChangeArrowheads="1"/>
          </p:cNvSpPr>
          <p:nvPr/>
        </p:nvSpPr>
        <p:spPr bwMode="auto">
          <a:xfrm>
            <a:off x="5600700" y="36576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41" name="AutoShape 35"/>
          <p:cNvSpPr>
            <a:spLocks noChangeArrowheads="1"/>
          </p:cNvSpPr>
          <p:nvPr/>
        </p:nvSpPr>
        <p:spPr bwMode="auto">
          <a:xfrm>
            <a:off x="5029200" y="40005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42" name="AutoShape 36"/>
          <p:cNvSpPr>
            <a:spLocks noChangeArrowheads="1"/>
          </p:cNvSpPr>
          <p:nvPr/>
        </p:nvSpPr>
        <p:spPr bwMode="auto">
          <a:xfrm>
            <a:off x="6515100" y="43434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43" name="AutoShape 37"/>
          <p:cNvSpPr>
            <a:spLocks noChangeArrowheads="1"/>
          </p:cNvSpPr>
          <p:nvPr/>
        </p:nvSpPr>
        <p:spPr bwMode="auto">
          <a:xfrm>
            <a:off x="6400800" y="462915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44" name="AutoShape 38"/>
          <p:cNvSpPr>
            <a:spLocks noChangeArrowheads="1"/>
          </p:cNvSpPr>
          <p:nvPr/>
        </p:nvSpPr>
        <p:spPr bwMode="auto">
          <a:xfrm>
            <a:off x="6286500" y="38862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45" name="AutoShape 39"/>
          <p:cNvSpPr>
            <a:spLocks noChangeArrowheads="1"/>
          </p:cNvSpPr>
          <p:nvPr/>
        </p:nvSpPr>
        <p:spPr bwMode="auto">
          <a:xfrm>
            <a:off x="6743700" y="4800600"/>
            <a:ext cx="114300" cy="114300"/>
          </a:xfrm>
          <a:prstGeom prst="diamond">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46" name="AutoShape 40"/>
          <p:cNvSpPr>
            <a:spLocks noChangeArrowheads="1"/>
          </p:cNvSpPr>
          <p:nvPr/>
        </p:nvSpPr>
        <p:spPr bwMode="auto">
          <a:xfrm>
            <a:off x="6115050" y="2800350"/>
            <a:ext cx="114300" cy="114300"/>
          </a:xfrm>
          <a:prstGeom prst="diamond">
            <a:avLst/>
          </a:prstGeom>
          <a:solidFill>
            <a:srgbClr val="00FF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38947" name="TextBox 40"/>
          <p:cNvSpPr txBox="1">
            <a:spLocks noChangeArrowheads="1"/>
          </p:cNvSpPr>
          <p:nvPr/>
        </p:nvSpPr>
        <p:spPr bwMode="auto">
          <a:xfrm>
            <a:off x="1143001" y="5723335"/>
            <a:ext cx="313739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Slide based on one by Eamonn Keogh</a:t>
            </a:r>
          </a:p>
        </p:txBody>
      </p:sp>
    </p:spTree>
    <p:extLst>
      <p:ext uri="{BB962C8B-B14F-4D97-AF65-F5344CB8AC3E}">
        <p14:creationId xmlns:p14="http://schemas.microsoft.com/office/powerpoint/2010/main" val="1956365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a:xfrm>
            <a:off x="1143000" y="971550"/>
            <a:ext cx="6858000" cy="623888"/>
          </a:xfrm>
        </p:spPr>
        <p:txBody>
          <a:bodyPr/>
          <a:lstStyle/>
          <a:p>
            <a:pPr>
              <a:defRPr/>
            </a:pPr>
            <a:r>
              <a:rPr lang="en-US" altLang="en-US" sz="3000">
                <a:effectLst>
                  <a:outerShdw blurRad="38100" dist="38100" dir="2700000" algn="tl">
                    <a:srgbClr val="C0C0C0"/>
                  </a:outerShdw>
                </a:effectLst>
              </a:rPr>
              <a:t>Comments on k-Means</a:t>
            </a:r>
            <a:endParaRPr lang="en-US" altLang="en-US" sz="2400">
              <a:effectLst>
                <a:outerShdw blurRad="38100" dist="38100" dir="2700000" algn="tl">
                  <a:srgbClr val="C0C0C0"/>
                </a:outerShdw>
              </a:effectLst>
            </a:endParaRPr>
          </a:p>
        </p:txBody>
      </p:sp>
      <p:sp>
        <p:nvSpPr>
          <p:cNvPr id="39939" name="Rectangle 3"/>
          <p:cNvSpPr>
            <a:spLocks noGrp="1" noChangeArrowheads="1"/>
          </p:cNvSpPr>
          <p:nvPr>
            <p:ph type="body" idx="1"/>
          </p:nvPr>
        </p:nvSpPr>
        <p:spPr>
          <a:xfrm>
            <a:off x="1314450" y="1828800"/>
            <a:ext cx="6515100" cy="3486150"/>
          </a:xfrm>
        </p:spPr>
        <p:txBody>
          <a:bodyPr>
            <a:normAutofit fontScale="70000" lnSpcReduction="20000"/>
          </a:bodyPr>
          <a:lstStyle/>
          <a:p>
            <a:r>
              <a:rPr lang="en-US" altLang="en-US" u="sng"/>
              <a:t>Strengths</a:t>
            </a:r>
            <a:r>
              <a:rPr lang="en-US" altLang="en-US"/>
              <a:t> </a:t>
            </a:r>
          </a:p>
          <a:p>
            <a:pPr lvl="1"/>
            <a:r>
              <a:rPr lang="en-US" altLang="en-US" i="1"/>
              <a:t>Relatively efficient</a:t>
            </a:r>
            <a:r>
              <a:rPr lang="en-US" altLang="en-US"/>
              <a:t>: </a:t>
            </a:r>
            <a:r>
              <a:rPr lang="en-US" altLang="en-US" i="1"/>
              <a:t>O</a:t>
            </a:r>
            <a:r>
              <a:rPr lang="en-US" altLang="en-US"/>
              <a:t>(</a:t>
            </a:r>
            <a:r>
              <a:rPr lang="en-US" altLang="en-US" i="1"/>
              <a:t>tkn</a:t>
            </a:r>
            <a:r>
              <a:rPr lang="en-US" altLang="en-US"/>
              <a:t>), where </a:t>
            </a:r>
            <a:r>
              <a:rPr lang="en-US" altLang="en-US" i="1"/>
              <a:t>n</a:t>
            </a:r>
            <a:r>
              <a:rPr lang="en-US" altLang="en-US"/>
              <a:t> is # objects, </a:t>
            </a:r>
            <a:r>
              <a:rPr lang="en-US" altLang="en-US" i="1"/>
              <a:t>k</a:t>
            </a:r>
            <a:r>
              <a:rPr lang="en-US" altLang="en-US"/>
              <a:t> is # clusters, and </a:t>
            </a:r>
            <a:r>
              <a:rPr lang="en-US" altLang="en-US" i="1"/>
              <a:t>t  </a:t>
            </a:r>
            <a:r>
              <a:rPr lang="en-US" altLang="en-US"/>
              <a:t>is # iterations. Normally, </a:t>
            </a:r>
            <a:r>
              <a:rPr lang="en-US" altLang="en-US" i="1"/>
              <a:t>k</a:t>
            </a:r>
            <a:r>
              <a:rPr lang="en-US" altLang="en-US"/>
              <a:t>, </a:t>
            </a:r>
            <a:r>
              <a:rPr lang="en-US" altLang="en-US" i="1"/>
              <a:t>t</a:t>
            </a:r>
            <a:r>
              <a:rPr lang="en-US" altLang="en-US"/>
              <a:t> &lt;&lt; </a:t>
            </a:r>
            <a:r>
              <a:rPr lang="en-US" altLang="en-US" i="1"/>
              <a:t>n</a:t>
            </a:r>
            <a:r>
              <a:rPr lang="en-US" altLang="en-US"/>
              <a:t>.</a:t>
            </a:r>
          </a:p>
          <a:p>
            <a:pPr lvl="1"/>
            <a:r>
              <a:rPr lang="en-US" altLang="en-US"/>
              <a:t>Often terminates at a local optimum. </a:t>
            </a:r>
          </a:p>
          <a:p>
            <a:r>
              <a:rPr lang="en-US" altLang="en-US" u="sng"/>
              <a:t>Weakness</a:t>
            </a:r>
            <a:endParaRPr lang="en-US" altLang="en-US"/>
          </a:p>
          <a:p>
            <a:pPr lvl="1"/>
            <a:r>
              <a:rPr lang="en-US" altLang="en-US"/>
              <a:t>Applicable only when mean is defined, then what about categorical data?</a:t>
            </a:r>
          </a:p>
          <a:p>
            <a:pPr lvl="1"/>
            <a:r>
              <a:rPr lang="en-US" altLang="en-US"/>
              <a:t>Need to specify </a:t>
            </a:r>
            <a:r>
              <a:rPr lang="en-US" altLang="en-US" i="1"/>
              <a:t>k, </a:t>
            </a:r>
            <a:r>
              <a:rPr lang="en-US" altLang="en-US"/>
              <a:t>the number of clusters, in advance</a:t>
            </a:r>
          </a:p>
          <a:p>
            <a:pPr lvl="1"/>
            <a:r>
              <a:rPr lang="en-US" altLang="en-US"/>
              <a:t>Unable to handle noisy data and outliers</a:t>
            </a:r>
          </a:p>
          <a:p>
            <a:pPr lvl="1"/>
            <a:r>
              <a:rPr lang="en-US" altLang="en-US"/>
              <a:t>Not suitable to discover clusters with non-convex shapes</a:t>
            </a:r>
          </a:p>
        </p:txBody>
      </p:sp>
      <p:sp>
        <p:nvSpPr>
          <p:cNvPr id="39940" name="TextBox 3"/>
          <p:cNvSpPr txBox="1">
            <a:spLocks noChangeArrowheads="1"/>
          </p:cNvSpPr>
          <p:nvPr/>
        </p:nvSpPr>
        <p:spPr bwMode="auto">
          <a:xfrm>
            <a:off x="1143001" y="5723335"/>
            <a:ext cx="313739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dirty="0"/>
              <a:t>Slide based on one by Eamonn Keogh</a:t>
            </a:r>
          </a:p>
        </p:txBody>
      </p:sp>
    </p:spTree>
    <p:extLst>
      <p:ext uri="{BB962C8B-B14F-4D97-AF65-F5344CB8AC3E}">
        <p14:creationId xmlns:p14="http://schemas.microsoft.com/office/powerpoint/2010/main" val="3126714423"/>
      </p:ext>
    </p:extLst>
  </p:cSld>
  <p:clrMapOvr>
    <a:masterClrMapping/>
  </p:clrMapOvr>
  <p:transition>
    <p:strips dir="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Bottom Line</a:t>
            </a:r>
          </a:p>
        </p:txBody>
      </p:sp>
      <p:sp>
        <p:nvSpPr>
          <p:cNvPr id="3" name="Content Placeholder 2"/>
          <p:cNvSpPr>
            <a:spLocks noGrp="1"/>
          </p:cNvSpPr>
          <p:nvPr>
            <p:ph idx="1"/>
          </p:nvPr>
        </p:nvSpPr>
        <p:spPr/>
        <p:txBody>
          <a:bodyPr/>
          <a:lstStyle/>
          <a:p>
            <a:r>
              <a:rPr lang="en-US" dirty="0"/>
              <a:t>K-means</a:t>
            </a:r>
          </a:p>
          <a:p>
            <a:pPr lvl="1"/>
            <a:r>
              <a:rPr lang="en-US" dirty="0"/>
              <a:t>Easy to use</a:t>
            </a:r>
          </a:p>
          <a:p>
            <a:pPr lvl="1"/>
            <a:r>
              <a:rPr lang="en-US" dirty="0"/>
              <a:t>Need to know K</a:t>
            </a:r>
          </a:p>
          <a:p>
            <a:pPr lvl="1"/>
            <a:r>
              <a:rPr lang="en-US" dirty="0"/>
              <a:t>May need to scale data</a:t>
            </a:r>
          </a:p>
          <a:p>
            <a:pPr lvl="1"/>
            <a:r>
              <a:rPr lang="en-US" dirty="0"/>
              <a:t>Good initial method</a:t>
            </a:r>
          </a:p>
          <a:p>
            <a:r>
              <a:rPr lang="en-US" dirty="0"/>
              <a:t>Local optima</a:t>
            </a:r>
          </a:p>
          <a:p>
            <a:pPr lvl="1"/>
            <a:r>
              <a:rPr lang="en-US" dirty="0"/>
              <a:t>No guarantee of optimal solution</a:t>
            </a:r>
          </a:p>
          <a:p>
            <a:pPr lvl="1"/>
            <a:r>
              <a:rPr lang="en-US" dirty="0"/>
              <a:t>Repeat with different starting values</a:t>
            </a:r>
          </a:p>
        </p:txBody>
      </p:sp>
    </p:spTree>
    <p:extLst>
      <p:ext uri="{BB962C8B-B14F-4D97-AF65-F5344CB8AC3E}">
        <p14:creationId xmlns:p14="http://schemas.microsoft.com/office/powerpoint/2010/main" val="554508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https://medium.com/analytics-vidhya/partitional-clustering-181d42049670</a:t>
            </a:r>
          </a:p>
        </p:txBody>
      </p:sp>
    </p:spTree>
    <p:extLst>
      <p:ext uri="{BB962C8B-B14F-4D97-AF65-F5344CB8AC3E}">
        <p14:creationId xmlns:p14="http://schemas.microsoft.com/office/powerpoint/2010/main" val="19427628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BA21B8-7B4C-2BF0-EDF2-7F30364B5F2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DC8AA8D8-6699-4CA3-89BD-99D8AEEF5317}"/>
              </a:ext>
            </a:extLst>
          </p:cNvPr>
          <p:cNvSpPr>
            <a:spLocks noGrp="1"/>
          </p:cNvSpPr>
          <p:nvPr>
            <p:ph idx="1"/>
          </p:nvPr>
        </p:nvSpPr>
        <p:spPr/>
        <p:txBody>
          <a:bodyPr/>
          <a:lstStyle/>
          <a:p>
            <a:r>
              <a:rPr lang="en-US" dirty="0"/>
              <a:t>Numerical ?</a:t>
            </a:r>
          </a:p>
        </p:txBody>
      </p:sp>
    </p:spTree>
    <p:extLst>
      <p:ext uri="{BB962C8B-B14F-4D97-AF65-F5344CB8AC3E}">
        <p14:creationId xmlns:p14="http://schemas.microsoft.com/office/powerpoint/2010/main" val="2863940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E56868-FD85-6CFF-5D47-5E036233BECE}"/>
              </a:ext>
            </a:extLst>
          </p:cNvPr>
          <p:cNvSpPr>
            <a:spLocks noGrp="1"/>
          </p:cNvSpPr>
          <p:nvPr>
            <p:ph type="title"/>
          </p:nvPr>
        </p:nvSpPr>
        <p:spPr/>
        <p:txBody>
          <a:bodyPr/>
          <a:lstStyle/>
          <a:p>
            <a:r>
              <a:rPr lang="en-US" dirty="0"/>
              <a:t>K Means as Optimization Problem </a:t>
            </a:r>
          </a:p>
        </p:txBody>
      </p:sp>
      <p:sp>
        <p:nvSpPr>
          <p:cNvPr id="4" name="Rectangle 1">
            <a:extLst>
              <a:ext uri="{FF2B5EF4-FFF2-40B4-BE49-F238E27FC236}">
                <a16:creationId xmlns:a16="http://schemas.microsoft.com/office/drawing/2014/main" xmlns="" id="{5F08914A-6A91-AFAB-1F51-A6D51B2720A7}"/>
              </a:ext>
            </a:extLst>
          </p:cNvPr>
          <p:cNvSpPr>
            <a:spLocks noChangeArrowheads="1"/>
          </p:cNvSpPr>
          <p:nvPr/>
        </p:nvSpPr>
        <p:spPr bwMode="auto">
          <a:xfrm>
            <a:off x="431104" y="1219200"/>
            <a:ext cx="782320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000000"/>
                </a:solidFill>
                <a:effectLst/>
                <a:cs typeface="Arial" panose="020B0604020202020204" pitchFamily="34" charset="0"/>
              </a:rPr>
              <a:t>The goal of any learning algorithm is to minimize a certain cost function. We will see that using centroid as a prototype for cluster, we are minimizing a cost function "sum of squared error" - </a:t>
            </a:r>
            <a:r>
              <a:rPr kumimoji="0" lang="en-US" altLang="en-US" sz="2200" b="0" i="0" u="none" strike="noStrike" cap="none" normalizeH="0" baseline="0" dirty="0">
                <a:ln>
                  <a:noFill/>
                </a:ln>
                <a:solidFill>
                  <a:schemeClr val="tx1"/>
                </a:solidFill>
                <a:effectLst/>
                <a:cs typeface="Arial" panose="020B0604020202020204" pitchFamily="34" charset="0"/>
              </a:rPr>
              <a:t/>
            </a:r>
            <a:br>
              <a:rPr kumimoji="0" lang="en-US" altLang="en-US" sz="2200" b="0" i="0" u="none" strike="noStrike" cap="none" normalizeH="0" baseline="0" dirty="0">
                <a:ln>
                  <a:noFill/>
                </a:ln>
                <a:solidFill>
                  <a:schemeClr val="tx1"/>
                </a:solidFill>
                <a:effectLst/>
                <a:cs typeface="Arial" panose="020B0604020202020204" pitchFamily="34" charset="0"/>
              </a:rPr>
            </a:br>
            <a:r>
              <a:rPr kumimoji="0" lang="en-US" altLang="en-US" sz="2200" b="0" i="0" u="none" strike="noStrike" cap="none" normalizeH="0" baseline="0" dirty="0">
                <a:ln>
                  <a:noFill/>
                </a:ln>
                <a:solidFill>
                  <a:schemeClr val="tx1"/>
                </a:solidFill>
                <a:effectLst/>
                <a:cs typeface="Arial" panose="020B0604020202020204" pitchFamily="34" charset="0"/>
              </a:rPr>
              <a:t/>
            </a:r>
            <a:br>
              <a:rPr kumimoji="0" lang="en-US" altLang="en-US" sz="2200" b="0" i="0" u="none" strike="noStrike" cap="none" normalizeH="0" baseline="0" dirty="0">
                <a:ln>
                  <a:noFill/>
                </a:ln>
                <a:solidFill>
                  <a:schemeClr val="tx1"/>
                </a:solidFill>
                <a:effectLst/>
                <a:cs typeface="Arial" panose="020B0604020202020204" pitchFamily="34" charset="0"/>
              </a:rPr>
            </a:br>
            <a:r>
              <a:rPr kumimoji="0" lang="en-US" altLang="en-US" sz="2200" b="0" i="0" u="none" strike="noStrike" cap="none" normalizeH="0" baseline="0" dirty="0">
                <a:ln>
                  <a:noFill/>
                </a:ln>
                <a:solidFill>
                  <a:schemeClr val="tx1"/>
                </a:solidFill>
                <a:effectLst/>
                <a:cs typeface="Arial" panose="020B0604020202020204" pitchFamily="34" charset="0"/>
              </a:rPr>
              <a:t>                   </a:t>
            </a:r>
            <a:br>
              <a:rPr kumimoji="0" lang="en-US" altLang="en-US" sz="2200" b="0" i="0" u="none" strike="noStrike" cap="none" normalizeH="0" baseline="0" dirty="0">
                <a:ln>
                  <a:noFill/>
                </a:ln>
                <a:solidFill>
                  <a:schemeClr val="tx1"/>
                </a:solidFill>
                <a:effectLst/>
                <a:cs typeface="Arial" panose="020B0604020202020204" pitchFamily="34" charset="0"/>
              </a:rPr>
            </a:br>
            <a:endParaRPr kumimoji="0" lang="en-US" altLang="en-US" sz="22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200"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000000"/>
                </a:solidFill>
                <a:effectLst/>
                <a:cs typeface="Arial" panose="020B0604020202020204" pitchFamily="34" charset="0"/>
              </a:rPr>
              <a:t>Sum of squared error is the sum of square of distances of all points from their respective cluster prototypes</a:t>
            </a:r>
            <a:r>
              <a:rPr kumimoji="0" lang="en-US" altLang="en-US" sz="2200" b="0" i="0" u="none" strike="noStrike" cap="none" normalizeH="0" baseline="0" dirty="0">
                <a:ln>
                  <a:noFill/>
                </a:ln>
                <a:solidFill>
                  <a:schemeClr val="tx1"/>
                </a:solidFill>
                <a:effectLst/>
                <a:cs typeface="Arial" panose="020B0604020202020204" pitchFamily="34" charset="0"/>
              </a:rPr>
              <a:t/>
            </a:r>
            <a:br>
              <a:rPr kumimoji="0" lang="en-US" altLang="en-US" sz="2200" b="0" i="0" u="none" strike="noStrike" cap="none" normalizeH="0" baseline="0" dirty="0">
                <a:ln>
                  <a:noFill/>
                </a:ln>
                <a:solidFill>
                  <a:schemeClr val="tx1"/>
                </a:solidFill>
                <a:effectLst/>
                <a:cs typeface="Arial" panose="020B0604020202020204" pitchFamily="34" charset="0"/>
              </a:rPr>
            </a:br>
            <a:r>
              <a:rPr kumimoji="0" lang="en-US" altLang="en-US" sz="2200" b="0" i="0" u="none" strike="noStrike" cap="none" normalizeH="0" baseline="0" dirty="0">
                <a:ln>
                  <a:noFill/>
                </a:ln>
                <a:solidFill>
                  <a:schemeClr val="tx1"/>
                </a:solidFill>
                <a:effectLst/>
                <a:cs typeface="Arial" panose="020B0604020202020204" pitchFamily="34" charset="0"/>
              </a:rPr>
              <a:t/>
            </a:r>
            <a:br>
              <a:rPr kumimoji="0" lang="en-US" altLang="en-US" sz="2200" b="0" i="0" u="none" strike="noStrike" cap="none" normalizeH="0" baseline="0" dirty="0">
                <a:ln>
                  <a:noFill/>
                </a:ln>
                <a:solidFill>
                  <a:schemeClr val="tx1"/>
                </a:solidFill>
                <a:effectLst/>
                <a:cs typeface="Arial" panose="020B0604020202020204" pitchFamily="34" charset="0"/>
              </a:rPr>
            </a:br>
            <a:r>
              <a:rPr kumimoji="0" lang="en-US" altLang="en-US" sz="2200" b="0" i="0" u="none" strike="noStrike" cap="none" normalizeH="0" baseline="0" dirty="0">
                <a:ln>
                  <a:noFill/>
                </a:ln>
                <a:solidFill>
                  <a:srgbClr val="000000"/>
                </a:solidFill>
                <a:effectLst/>
                <a:cs typeface="Arial" panose="020B0604020202020204" pitchFamily="34" charset="0"/>
              </a:rPr>
              <a:t>Taking partial derivative of cost function </a:t>
            </a:r>
            <a:r>
              <a:rPr kumimoji="0" lang="en-US" altLang="en-US" sz="2200" b="0" i="0" u="none" strike="noStrike" cap="none" normalizeH="0" baseline="0" dirty="0" err="1">
                <a:ln>
                  <a:noFill/>
                </a:ln>
                <a:solidFill>
                  <a:srgbClr val="000000"/>
                </a:solidFill>
                <a:effectLst/>
                <a:cs typeface="Arial" panose="020B0604020202020204" pitchFamily="34" charset="0"/>
              </a:rPr>
              <a:t>w.r.t</a:t>
            </a:r>
            <a:r>
              <a:rPr kumimoji="0" lang="en-US" altLang="en-US" sz="2200" b="0" i="0" u="none" strike="noStrike" cap="none" normalizeH="0" baseline="0" dirty="0">
                <a:ln>
                  <a:noFill/>
                </a:ln>
                <a:solidFill>
                  <a:srgbClr val="000000"/>
                </a:solidFill>
                <a:effectLst/>
                <a:cs typeface="Arial" panose="020B0604020202020204" pitchFamily="34" charset="0"/>
              </a:rPr>
              <a:t> each cluster prototype and equating to 0, we get</a:t>
            </a:r>
            <a:r>
              <a:rPr kumimoji="0" lang="en-US" altLang="en-US" sz="2200" b="0" i="0" u="none" strike="noStrike" cap="none" normalizeH="0" baseline="0" dirty="0">
                <a:ln>
                  <a:noFill/>
                </a:ln>
                <a:solidFill>
                  <a:schemeClr val="tx1"/>
                </a:solidFill>
                <a:effectLst/>
                <a:cs typeface="Arial" panose="020B0604020202020204" pitchFamily="34" charset="0"/>
              </a:rPr>
              <a:t/>
            </a:r>
            <a:br>
              <a:rPr kumimoji="0" lang="en-US" altLang="en-US" sz="2200" b="0" i="0" u="none" strike="noStrike" cap="none" normalizeH="0" baseline="0" dirty="0">
                <a:ln>
                  <a:noFill/>
                </a:ln>
                <a:solidFill>
                  <a:schemeClr val="tx1"/>
                </a:solidFill>
                <a:effectLst/>
                <a:cs typeface="Arial" panose="020B0604020202020204" pitchFamily="34" charset="0"/>
              </a:rPr>
            </a:br>
            <a:r>
              <a:rPr kumimoji="0" lang="en-US" altLang="en-US" sz="2200" b="0" i="0" u="none" strike="noStrike" cap="none" normalizeH="0" baseline="0" dirty="0">
                <a:ln>
                  <a:noFill/>
                </a:ln>
                <a:solidFill>
                  <a:schemeClr val="tx1"/>
                </a:solidFill>
                <a:effectLst/>
                <a:cs typeface="Arial" panose="020B0604020202020204" pitchFamily="34" charset="0"/>
              </a:rPr>
              <a:t/>
            </a:r>
            <a:br>
              <a:rPr kumimoji="0" lang="en-US" altLang="en-US" sz="2200" b="0" i="0" u="none" strike="noStrike" cap="none" normalizeH="0" baseline="0" dirty="0">
                <a:ln>
                  <a:noFill/>
                </a:ln>
                <a:solidFill>
                  <a:schemeClr val="tx1"/>
                </a:solidFill>
                <a:effectLst/>
                <a:cs typeface="Arial" panose="020B0604020202020204" pitchFamily="34" charset="0"/>
              </a:rPr>
            </a:br>
            <a:endParaRPr kumimoji="0" lang="en-US" altLang="en-US" sz="2200" b="0" i="0" u="none" strike="noStrike" cap="none" normalizeH="0" baseline="0" dirty="0">
              <a:ln>
                <a:noFill/>
              </a:ln>
              <a:solidFill>
                <a:schemeClr val="tx1"/>
              </a:solidFill>
              <a:effectLst/>
              <a:cs typeface="Arial" panose="020B0604020202020204" pitchFamily="34" charset="0"/>
            </a:endParaRPr>
          </a:p>
        </p:txBody>
      </p:sp>
      <p:pic>
        <p:nvPicPr>
          <p:cNvPr id="5122" name="Picture 2">
            <a:extLst>
              <a:ext uri="{FF2B5EF4-FFF2-40B4-BE49-F238E27FC236}">
                <a16:creationId xmlns:a16="http://schemas.microsoft.com/office/drawing/2014/main" xmlns="" id="{044C7513-F039-6AA7-5E92-EEF4FE0D7E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199" y="2705100"/>
            <a:ext cx="4433637" cy="125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5455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hlinkClick r:id="rId2"/>
            <a:extLst>
              <a:ext uri="{FF2B5EF4-FFF2-40B4-BE49-F238E27FC236}">
                <a16:creationId xmlns:a16="http://schemas.microsoft.com/office/drawing/2014/main" xmlns="" id="{5AD85215-DBEB-B176-569A-2ECC5CD593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4338" y="249118"/>
            <a:ext cx="5498019" cy="1103617"/>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a:hlinkClick r:id="rId4"/>
            <a:extLst>
              <a:ext uri="{FF2B5EF4-FFF2-40B4-BE49-F238E27FC236}">
                <a16:creationId xmlns:a16="http://schemas.microsoft.com/office/drawing/2014/main" xmlns="" id="{73BAC7C1-8D49-E5F9-40C4-C1F9AE9BAA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9332" y="1448910"/>
            <a:ext cx="3832561" cy="110361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hlinkClick r:id="rId6"/>
            <a:extLst>
              <a:ext uri="{FF2B5EF4-FFF2-40B4-BE49-F238E27FC236}">
                <a16:creationId xmlns:a16="http://schemas.microsoft.com/office/drawing/2014/main" xmlns="" id="{982B54D5-0D72-87F4-F204-519B2FEF93B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903" y="2878564"/>
            <a:ext cx="3531574" cy="1103617"/>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a:hlinkClick r:id="rId8"/>
            <a:extLst>
              <a:ext uri="{FF2B5EF4-FFF2-40B4-BE49-F238E27FC236}">
                <a16:creationId xmlns:a16="http://schemas.microsoft.com/office/drawing/2014/main" xmlns="" id="{E69BFB0C-155D-1E78-91E8-C14BA454F11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86524" y="3134847"/>
            <a:ext cx="3330916" cy="82269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hlinkClick r:id="rId10"/>
            <a:extLst>
              <a:ext uri="{FF2B5EF4-FFF2-40B4-BE49-F238E27FC236}">
                <a16:creationId xmlns:a16="http://schemas.microsoft.com/office/drawing/2014/main" xmlns="" id="{28C40B8B-C7C7-C4EC-9904-F1200D0922A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4037" y="4318086"/>
            <a:ext cx="8087021" cy="646331"/>
          </a:xfrm>
          <a:prstGeom prst="rect">
            <a:avLst/>
          </a:prstGeom>
          <a:noFill/>
          <a:extLst>
            <a:ext uri="{909E8E84-426E-40DD-AFC4-6F175D3DCCD1}">
              <a14:hiddenFill xmlns:a14="http://schemas.microsoft.com/office/drawing/2010/main">
                <a:solidFill>
                  <a:srgbClr val="FFFFFF"/>
                </a:solidFill>
              </a14:hiddenFill>
            </a:ext>
          </a:extLst>
        </p:spPr>
      </p:pic>
      <p:pic>
        <p:nvPicPr>
          <p:cNvPr id="4103" name="Picture 7">
            <a:extLst>
              <a:ext uri="{FF2B5EF4-FFF2-40B4-BE49-F238E27FC236}">
                <a16:creationId xmlns:a16="http://schemas.microsoft.com/office/drawing/2014/main" xmlns="" id="{BCCBAA44-B2FB-E5AE-FDA5-B3A565B9CA4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77440" y="4931080"/>
            <a:ext cx="3037560" cy="101252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116237B5-5AD7-1041-95D3-36453D77B62A}"/>
              </a:ext>
            </a:extLst>
          </p:cNvPr>
          <p:cNvSpPr txBox="1"/>
          <p:nvPr/>
        </p:nvSpPr>
        <p:spPr>
          <a:xfrm>
            <a:off x="525903" y="6203318"/>
            <a:ext cx="8389497" cy="369332"/>
          </a:xfrm>
          <a:prstGeom prst="rect">
            <a:avLst/>
          </a:prstGeom>
          <a:noFill/>
        </p:spPr>
        <p:txBody>
          <a:bodyPr wrap="square">
            <a:spAutoFit/>
          </a:bodyPr>
          <a:lstStyle/>
          <a:p>
            <a:r>
              <a:rPr lang="en-IN" b="0" i="0" dirty="0">
                <a:solidFill>
                  <a:srgbClr val="000000"/>
                </a:solidFill>
                <a:effectLst/>
                <a:latin typeface="Source Serif Pro" panose="02040603050405020204" pitchFamily="18" charset="0"/>
              </a:rPr>
              <a:t>Thus, the prototypes that minimize the cost function are the cluster centroids</a:t>
            </a:r>
            <a:endParaRPr lang="en-US" dirty="0"/>
          </a:p>
        </p:txBody>
      </p:sp>
    </p:spTree>
    <p:extLst>
      <p:ext uri="{BB962C8B-B14F-4D97-AF65-F5344CB8AC3E}">
        <p14:creationId xmlns:p14="http://schemas.microsoft.com/office/powerpoint/2010/main" val="1341092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4E627B-A2DE-4F69-91A6-C9391F8FDF59}"/>
              </a:ext>
            </a:extLst>
          </p:cNvPr>
          <p:cNvSpPr>
            <a:spLocks noGrp="1"/>
          </p:cNvSpPr>
          <p:nvPr>
            <p:ph type="title"/>
          </p:nvPr>
        </p:nvSpPr>
        <p:spPr/>
        <p:txBody>
          <a:bodyPr>
            <a:normAutofit fontScale="90000"/>
          </a:bodyPr>
          <a:lstStyle/>
          <a:p>
            <a:r>
              <a:rPr lang="en-IN" b="1" i="0" dirty="0">
                <a:solidFill>
                  <a:srgbClr val="000000"/>
                </a:solidFill>
                <a:effectLst/>
                <a:latin typeface="Source Serif Pro" panose="02040603050405020204" pitchFamily="18" charset="0"/>
              </a:rPr>
              <a:t>Choosing initial centroids</a:t>
            </a:r>
            <a:br>
              <a:rPr lang="en-IN" b="1" i="0" dirty="0">
                <a:solidFill>
                  <a:srgbClr val="000000"/>
                </a:solidFill>
                <a:effectLst/>
                <a:latin typeface="Source Serif Pro" panose="02040603050405020204" pitchFamily="18" charset="0"/>
              </a:rPr>
            </a:br>
            <a:endParaRPr lang="en-US" dirty="0"/>
          </a:p>
        </p:txBody>
      </p:sp>
      <p:sp>
        <p:nvSpPr>
          <p:cNvPr id="3" name="Content Placeholder 2">
            <a:extLst>
              <a:ext uri="{FF2B5EF4-FFF2-40B4-BE49-F238E27FC236}">
                <a16:creationId xmlns:a16="http://schemas.microsoft.com/office/drawing/2014/main" xmlns="" id="{A997AFCA-FB0C-189A-C852-C3FD9CE07216}"/>
              </a:ext>
            </a:extLst>
          </p:cNvPr>
          <p:cNvSpPr>
            <a:spLocks noGrp="1"/>
          </p:cNvSpPr>
          <p:nvPr>
            <p:ph idx="1"/>
          </p:nvPr>
        </p:nvSpPr>
        <p:spPr>
          <a:xfrm>
            <a:off x="0" y="880585"/>
            <a:ext cx="9143999" cy="4525963"/>
          </a:xfrm>
        </p:spPr>
        <p:txBody>
          <a:bodyPr>
            <a:noAutofit/>
          </a:bodyPr>
          <a:lstStyle/>
          <a:p>
            <a:pPr marL="0" indent="0">
              <a:buNone/>
            </a:pPr>
            <a:r>
              <a:rPr lang="en-IN" sz="2200" dirty="0"/>
              <a:t>The k-means algorithm does not guarantee a global optimum and might converge on a local optimum. </a:t>
            </a:r>
          </a:p>
          <a:p>
            <a:pPr marL="0" indent="0">
              <a:buNone/>
            </a:pPr>
            <a:r>
              <a:rPr lang="en-IN" sz="2200" dirty="0"/>
              <a:t>Therefore choosing initial centroids is a key step in the algorithm. One common approach is to randomly initialize the centroids but this approach generally leads to poor results</a:t>
            </a:r>
            <a:br>
              <a:rPr lang="en-IN" sz="2200" dirty="0"/>
            </a:br>
            <a:r>
              <a:rPr lang="en-IN" sz="2200" dirty="0"/>
              <a:t/>
            </a:r>
            <a:br>
              <a:rPr lang="en-IN" sz="2200" dirty="0"/>
            </a:br>
            <a:r>
              <a:rPr lang="en-IN" sz="2200" dirty="0"/>
              <a:t>One way to overcome this is to perform multiple runs with different initial centroids and choose the resulting clusters with least sum of squared error. Often this approach does not work either. </a:t>
            </a:r>
            <a:br>
              <a:rPr lang="en-IN" sz="2200" dirty="0"/>
            </a:br>
            <a:r>
              <a:rPr lang="en-IN" sz="2200" dirty="0"/>
              <a:t/>
            </a:r>
            <a:br>
              <a:rPr lang="en-IN" sz="2200" dirty="0"/>
            </a:br>
            <a:r>
              <a:rPr lang="en-IN" sz="2200" dirty="0"/>
              <a:t>Another way to choose initial centroids is to first choose a single point which is the centroid of all points. Then choose a point which is farthest from that point and use it as another centroid. Then choose a point which is farthest from both the previous centroids and so on choose K initial centroids</a:t>
            </a:r>
            <a:br>
              <a:rPr lang="en-IN" sz="2200" dirty="0"/>
            </a:br>
            <a:r>
              <a:rPr lang="en-IN" sz="2200" dirty="0"/>
              <a:t/>
            </a:r>
            <a:br>
              <a:rPr lang="en-IN" sz="2200" dirty="0"/>
            </a:br>
            <a:r>
              <a:rPr lang="en-IN" sz="2200" dirty="0"/>
              <a:t>To reduce computations and to be robust to outliers, we use a sample of points instead of the entire dataset</a:t>
            </a:r>
            <a:br>
              <a:rPr lang="en-IN" sz="2200" dirty="0"/>
            </a:br>
            <a:r>
              <a:rPr lang="en-IN" sz="2200" dirty="0"/>
              <a:t/>
            </a:r>
            <a:br>
              <a:rPr lang="en-IN" sz="2200" dirty="0"/>
            </a:br>
            <a:r>
              <a:rPr lang="en-IN" sz="2200" dirty="0"/>
              <a:t>Other advanced techniques to choosing initial centroids is given in the references and further reading section</a:t>
            </a:r>
            <a:endParaRPr lang="en-US" sz="2200" dirty="0"/>
          </a:p>
        </p:txBody>
      </p:sp>
    </p:spTree>
    <p:extLst>
      <p:ext uri="{BB962C8B-B14F-4D97-AF65-F5344CB8AC3E}">
        <p14:creationId xmlns:p14="http://schemas.microsoft.com/office/powerpoint/2010/main" val="20184811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58B252-0988-71DA-6B9F-EB09A5D5260A}"/>
              </a:ext>
            </a:extLst>
          </p:cNvPr>
          <p:cNvSpPr>
            <a:spLocks noGrp="1"/>
          </p:cNvSpPr>
          <p:nvPr>
            <p:ph type="title"/>
          </p:nvPr>
        </p:nvSpPr>
        <p:spPr/>
        <p:txBody>
          <a:bodyPr>
            <a:normAutofit fontScale="90000"/>
          </a:bodyPr>
          <a:lstStyle/>
          <a:p>
            <a:r>
              <a:rPr lang="en-IN" b="1" dirty="0">
                <a:solidFill>
                  <a:srgbClr val="292929"/>
                </a:solidFill>
                <a:latin typeface="sohne"/>
              </a:rPr>
              <a:t>The Elbow Method</a:t>
            </a:r>
            <a:br>
              <a:rPr lang="en-IN" b="1" dirty="0">
                <a:solidFill>
                  <a:srgbClr val="292929"/>
                </a:solidFill>
                <a:latin typeface="sohne"/>
              </a:rPr>
            </a:br>
            <a:endParaRPr lang="en-US" dirty="0"/>
          </a:p>
        </p:txBody>
      </p:sp>
      <p:sp>
        <p:nvSpPr>
          <p:cNvPr id="3" name="Content Placeholder 2">
            <a:extLst>
              <a:ext uri="{FF2B5EF4-FFF2-40B4-BE49-F238E27FC236}">
                <a16:creationId xmlns:a16="http://schemas.microsoft.com/office/drawing/2014/main" xmlns="" id="{6510CAEC-9EED-8DE7-C5B2-7E28FB664997}"/>
              </a:ext>
            </a:extLst>
          </p:cNvPr>
          <p:cNvSpPr>
            <a:spLocks noGrp="1"/>
          </p:cNvSpPr>
          <p:nvPr>
            <p:ph idx="1"/>
          </p:nvPr>
        </p:nvSpPr>
        <p:spPr/>
        <p:txBody>
          <a:bodyPr>
            <a:normAutofit fontScale="70000" lnSpcReduction="20000"/>
          </a:bodyPr>
          <a:lstStyle/>
          <a:p>
            <a:pPr algn="l"/>
            <a:r>
              <a:rPr lang="en-IN" b="0" i="0" dirty="0">
                <a:solidFill>
                  <a:srgbClr val="292929"/>
                </a:solidFill>
                <a:effectLst/>
                <a:latin typeface="source-serif-pro"/>
              </a:rPr>
              <a:t>This is probably the most well-known method for determining the optimal number of clusters.</a:t>
            </a:r>
            <a:r>
              <a:rPr lang="en-IN" b="0" i="1" dirty="0">
                <a:solidFill>
                  <a:srgbClr val="292929"/>
                </a:solidFill>
                <a:effectLst/>
                <a:latin typeface="source-serif-pro"/>
              </a:rPr>
              <a:t> It is also a bit naive in its approach.</a:t>
            </a:r>
            <a:endParaRPr lang="en-IN" b="0" i="0" dirty="0">
              <a:solidFill>
                <a:srgbClr val="292929"/>
              </a:solidFill>
              <a:effectLst/>
              <a:latin typeface="source-serif-pro"/>
            </a:endParaRPr>
          </a:p>
          <a:p>
            <a:r>
              <a:rPr lang="en-IN" b="0" i="1" dirty="0">
                <a:solidFill>
                  <a:srgbClr val="292929"/>
                </a:solidFill>
                <a:effectLst/>
                <a:latin typeface="source-serif-pro"/>
              </a:rPr>
              <a:t>Calculate the </a:t>
            </a:r>
            <a:r>
              <a:rPr lang="en-IN" b="1" i="1" dirty="0">
                <a:solidFill>
                  <a:srgbClr val="292929"/>
                </a:solidFill>
                <a:effectLst/>
                <a:latin typeface="source-serif-pro"/>
              </a:rPr>
              <a:t>Within-Cluster-Sum of Squared</a:t>
            </a:r>
            <a:r>
              <a:rPr lang="en-IN" b="0" i="1" dirty="0">
                <a:solidFill>
                  <a:srgbClr val="292929"/>
                </a:solidFill>
                <a:effectLst/>
                <a:latin typeface="source-serif-pro"/>
              </a:rPr>
              <a:t> Errors (WSS) for </a:t>
            </a:r>
            <a:r>
              <a:rPr lang="en-IN" b="1" i="1" dirty="0">
                <a:solidFill>
                  <a:srgbClr val="292929"/>
                </a:solidFill>
                <a:effectLst/>
                <a:latin typeface="source-serif-pro"/>
              </a:rPr>
              <a:t>different values of k</a:t>
            </a:r>
            <a:r>
              <a:rPr lang="en-IN" b="0" i="1" dirty="0">
                <a:solidFill>
                  <a:srgbClr val="292929"/>
                </a:solidFill>
                <a:effectLst/>
                <a:latin typeface="source-serif-pro"/>
              </a:rPr>
              <a:t>, and choose the k for which WSS becomes first starts to diminish. In the plot of WSS-versus-k, this is visible as an </a:t>
            </a:r>
            <a:r>
              <a:rPr lang="en-IN" b="1" i="1" dirty="0">
                <a:solidFill>
                  <a:srgbClr val="292929"/>
                </a:solidFill>
                <a:effectLst/>
                <a:latin typeface="source-serif-pro"/>
              </a:rPr>
              <a:t>elbow.</a:t>
            </a:r>
            <a:endParaRPr lang="en-IN" b="0" i="1" dirty="0">
              <a:solidFill>
                <a:srgbClr val="292929"/>
              </a:solidFill>
              <a:effectLst/>
              <a:latin typeface="source-serif-pro"/>
            </a:endParaRPr>
          </a:p>
          <a:p>
            <a:pPr algn="l"/>
            <a:r>
              <a:rPr lang="en-IN" b="0" i="0" dirty="0">
                <a:solidFill>
                  <a:srgbClr val="292929"/>
                </a:solidFill>
                <a:effectLst/>
                <a:latin typeface="source-serif-pro"/>
              </a:rPr>
              <a:t>Within-Cluster-Sum of Squared Errors sounds a bit complex. Let’s break it down:</a:t>
            </a:r>
          </a:p>
          <a:p>
            <a:pPr lvl="1">
              <a:buFont typeface="Arial" panose="020B0604020202020204" pitchFamily="34" charset="0"/>
              <a:buChar char="•"/>
            </a:pPr>
            <a:r>
              <a:rPr lang="en-IN" b="0" i="0" dirty="0">
                <a:solidFill>
                  <a:srgbClr val="292929"/>
                </a:solidFill>
                <a:effectLst/>
                <a:latin typeface="source-serif-pro"/>
              </a:rPr>
              <a:t>The Squared Error for each point is the square of the distance of the point from its representation i.e. its predicted cluster </a:t>
            </a:r>
            <a:r>
              <a:rPr lang="en-IN" b="0" i="0" dirty="0" err="1">
                <a:solidFill>
                  <a:srgbClr val="292929"/>
                </a:solidFill>
                <a:effectLst/>
                <a:latin typeface="source-serif-pro"/>
              </a:rPr>
              <a:t>center</a:t>
            </a:r>
            <a:r>
              <a:rPr lang="en-IN" b="0" i="0" dirty="0">
                <a:solidFill>
                  <a:srgbClr val="292929"/>
                </a:solidFill>
                <a:effectLst/>
                <a:latin typeface="source-serif-pro"/>
              </a:rPr>
              <a:t>.</a:t>
            </a:r>
          </a:p>
          <a:p>
            <a:pPr lvl="1">
              <a:buFont typeface="Arial" panose="020B0604020202020204" pitchFamily="34" charset="0"/>
              <a:buChar char="•"/>
            </a:pPr>
            <a:r>
              <a:rPr lang="en-IN" b="0" i="0" dirty="0">
                <a:solidFill>
                  <a:srgbClr val="292929"/>
                </a:solidFill>
                <a:effectLst/>
                <a:latin typeface="source-serif-pro"/>
              </a:rPr>
              <a:t>The WSS score is the sum of these Squared Errors for all the points.</a:t>
            </a:r>
          </a:p>
          <a:p>
            <a:pPr lvl="1">
              <a:buFont typeface="Arial" panose="020B0604020202020204" pitchFamily="34" charset="0"/>
              <a:buChar char="•"/>
            </a:pPr>
            <a:r>
              <a:rPr lang="en-IN" b="0" i="0" dirty="0">
                <a:solidFill>
                  <a:srgbClr val="292929"/>
                </a:solidFill>
                <a:effectLst/>
                <a:latin typeface="source-serif-pro"/>
              </a:rPr>
              <a:t>Any distance metric like the Euclidean Distance or the Manhattan Distance can be used.</a:t>
            </a:r>
          </a:p>
          <a:p>
            <a:endParaRPr lang="en-US" dirty="0"/>
          </a:p>
        </p:txBody>
      </p:sp>
    </p:spTree>
    <p:extLst>
      <p:ext uri="{BB962C8B-B14F-4D97-AF65-F5344CB8AC3E}">
        <p14:creationId xmlns:p14="http://schemas.microsoft.com/office/powerpoint/2010/main" val="533181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xmlns="" id="{7E257E5D-24CD-E8CA-EF71-9310D8683E9B}"/>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228600"/>
            <a:ext cx="6992516" cy="3352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xmlns="" id="{E427CDBE-6673-9E4A-18C2-8A2AB1CC446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57750" y="3429000"/>
            <a:ext cx="6553200" cy="3140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2826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34358C-A364-9914-0660-654D5F3CAD6F}"/>
              </a:ext>
            </a:extLst>
          </p:cNvPr>
          <p:cNvSpPr>
            <a:spLocks noGrp="1"/>
          </p:cNvSpPr>
          <p:nvPr>
            <p:ph type="title"/>
          </p:nvPr>
        </p:nvSpPr>
        <p:spPr/>
        <p:txBody>
          <a:bodyPr/>
          <a:lstStyle/>
          <a:p>
            <a:r>
              <a:rPr lang="en-US" dirty="0"/>
              <a:t>K-</a:t>
            </a:r>
            <a:r>
              <a:rPr lang="en-US" dirty="0" err="1"/>
              <a:t>Metoids</a:t>
            </a:r>
            <a:r>
              <a:rPr lang="en-US" dirty="0"/>
              <a:t> </a:t>
            </a:r>
          </a:p>
        </p:txBody>
      </p:sp>
      <p:sp>
        <p:nvSpPr>
          <p:cNvPr id="3" name="Content Placeholder 2">
            <a:extLst>
              <a:ext uri="{FF2B5EF4-FFF2-40B4-BE49-F238E27FC236}">
                <a16:creationId xmlns:a16="http://schemas.microsoft.com/office/drawing/2014/main" xmlns="" id="{858BD81C-F11F-AD67-0925-E94E0C10AA07}"/>
              </a:ext>
            </a:extLst>
          </p:cNvPr>
          <p:cNvSpPr>
            <a:spLocks noGrp="1"/>
          </p:cNvSpPr>
          <p:nvPr>
            <p:ph idx="1"/>
          </p:nvPr>
        </p:nvSpPr>
        <p:spPr/>
        <p:txBody>
          <a:bodyPr>
            <a:normAutofit lnSpcReduction="10000"/>
          </a:bodyPr>
          <a:lstStyle/>
          <a:p>
            <a:pPr marL="0" indent="0">
              <a:buNone/>
            </a:pPr>
            <a:r>
              <a:rPr lang="en-IN" dirty="0"/>
              <a:t>The k-means algorithm is sensitive to outliers because such objects are far away from the majority of the data, and thus, when assigned to a cluster, they can dramatically distort the mean value of the cluster. </a:t>
            </a:r>
          </a:p>
          <a:p>
            <a:pPr marL="0" indent="0">
              <a:buNone/>
            </a:pPr>
            <a:r>
              <a:rPr lang="en-IN" dirty="0"/>
              <a:t>This inadvertently affects the assignment of other objects to clusters. This effect is particularly exacerbated due to the use of the squared-error function.</a:t>
            </a:r>
            <a:endParaRPr lang="en-US" dirty="0"/>
          </a:p>
        </p:txBody>
      </p:sp>
    </p:spTree>
    <p:extLst>
      <p:ext uri="{BB962C8B-B14F-4D97-AF65-F5344CB8AC3E}">
        <p14:creationId xmlns:p14="http://schemas.microsoft.com/office/powerpoint/2010/main" val="39312037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DC4784-D24C-A8F2-2D8F-E80F907829D0}"/>
              </a:ext>
            </a:extLst>
          </p:cNvPr>
          <p:cNvSpPr>
            <a:spLocks noGrp="1"/>
          </p:cNvSpPr>
          <p:nvPr>
            <p:ph type="title"/>
          </p:nvPr>
        </p:nvSpPr>
        <p:spPr/>
        <p:txBody>
          <a:bodyPr/>
          <a:lstStyle/>
          <a:p>
            <a:r>
              <a:rPr lang="en-US" dirty="0"/>
              <a:t>K-</a:t>
            </a:r>
            <a:r>
              <a:rPr lang="en-US" dirty="0" err="1"/>
              <a:t>Metoids</a:t>
            </a:r>
            <a:r>
              <a:rPr lang="en-US" dirty="0"/>
              <a:t> Process </a:t>
            </a:r>
          </a:p>
        </p:txBody>
      </p:sp>
      <p:sp>
        <p:nvSpPr>
          <p:cNvPr id="3" name="Content Placeholder 2">
            <a:extLst>
              <a:ext uri="{FF2B5EF4-FFF2-40B4-BE49-F238E27FC236}">
                <a16:creationId xmlns:a16="http://schemas.microsoft.com/office/drawing/2014/main" xmlns="" id="{45D79AB2-2566-463F-1516-0B1ACF26FF97}"/>
              </a:ext>
            </a:extLst>
          </p:cNvPr>
          <p:cNvSpPr>
            <a:spLocks noGrp="1"/>
          </p:cNvSpPr>
          <p:nvPr>
            <p:ph idx="1"/>
          </p:nvPr>
        </p:nvSpPr>
        <p:spPr/>
        <p:txBody>
          <a:bodyPr>
            <a:normAutofit fontScale="92500" lnSpcReduction="20000"/>
          </a:bodyPr>
          <a:lstStyle/>
          <a:p>
            <a:r>
              <a:rPr lang="en-IN" dirty="0"/>
              <a:t>Instead of taking the mean value of the objects in a cluster as a reference point, we can pick actual objects to represent the clusters, using one representative object per cluster. </a:t>
            </a:r>
          </a:p>
          <a:p>
            <a:r>
              <a:rPr lang="en-IN" dirty="0"/>
              <a:t>Each remaining object is assigned to the cluster of which the representative object is the most similar. </a:t>
            </a:r>
          </a:p>
          <a:p>
            <a:r>
              <a:rPr lang="en-IN" dirty="0"/>
              <a:t>The partitioning method is then performed based on the principle of minimizing the sum of the dissimilarities between each object p and its corresponding representative object. </a:t>
            </a:r>
            <a:endParaRPr lang="en-US" dirty="0"/>
          </a:p>
        </p:txBody>
      </p:sp>
    </p:spTree>
    <p:extLst>
      <p:ext uri="{BB962C8B-B14F-4D97-AF65-F5344CB8AC3E}">
        <p14:creationId xmlns:p14="http://schemas.microsoft.com/office/powerpoint/2010/main" val="1915612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E70E61D1-7F6B-10BA-77B1-05036E39C0C7}"/>
              </a:ext>
            </a:extLst>
          </p:cNvPr>
          <p:cNvPicPr>
            <a:picLocks noGrp="1" noChangeAspect="1"/>
          </p:cNvPicPr>
          <p:nvPr>
            <p:ph idx="1"/>
          </p:nvPr>
        </p:nvPicPr>
        <p:blipFill rotWithShape="1">
          <a:blip r:embed="rId2"/>
          <a:srcRect l="53157" t="58927" r="24745" b="34338"/>
          <a:stretch/>
        </p:blipFill>
        <p:spPr>
          <a:xfrm>
            <a:off x="2819400" y="117484"/>
            <a:ext cx="4359936" cy="830464"/>
          </a:xfrm>
          <a:prstGeom prst="rect">
            <a:avLst/>
          </a:prstGeom>
        </p:spPr>
      </p:pic>
      <p:sp>
        <p:nvSpPr>
          <p:cNvPr id="5" name="TextBox 4">
            <a:extLst>
              <a:ext uri="{FF2B5EF4-FFF2-40B4-BE49-F238E27FC236}">
                <a16:creationId xmlns:a16="http://schemas.microsoft.com/office/drawing/2014/main" xmlns="" id="{D8D3F43D-A759-45D4-2E87-1A166FC7D191}"/>
              </a:ext>
            </a:extLst>
          </p:cNvPr>
          <p:cNvSpPr txBox="1"/>
          <p:nvPr/>
        </p:nvSpPr>
        <p:spPr>
          <a:xfrm>
            <a:off x="304800" y="381000"/>
            <a:ext cx="3634072" cy="461665"/>
          </a:xfrm>
          <a:prstGeom prst="rect">
            <a:avLst/>
          </a:prstGeom>
          <a:noFill/>
        </p:spPr>
        <p:txBody>
          <a:bodyPr wrap="none" rtlCol="0">
            <a:spAutoFit/>
          </a:bodyPr>
          <a:lstStyle/>
          <a:p>
            <a:r>
              <a:rPr lang="en-US" sz="2400" dirty="0"/>
              <a:t>Absolute Error Criterion is : </a:t>
            </a:r>
          </a:p>
        </p:txBody>
      </p:sp>
      <p:sp>
        <p:nvSpPr>
          <p:cNvPr id="7" name="TextBox 6">
            <a:extLst>
              <a:ext uri="{FF2B5EF4-FFF2-40B4-BE49-F238E27FC236}">
                <a16:creationId xmlns:a16="http://schemas.microsoft.com/office/drawing/2014/main" xmlns="" id="{22B9652B-7BFC-B0D5-1F85-8075AE47C6E5}"/>
              </a:ext>
            </a:extLst>
          </p:cNvPr>
          <p:cNvSpPr txBox="1"/>
          <p:nvPr/>
        </p:nvSpPr>
        <p:spPr>
          <a:xfrm>
            <a:off x="228600" y="1053230"/>
            <a:ext cx="8382000" cy="1569660"/>
          </a:xfrm>
          <a:prstGeom prst="rect">
            <a:avLst/>
          </a:prstGeom>
          <a:noFill/>
        </p:spPr>
        <p:txBody>
          <a:bodyPr wrap="square">
            <a:spAutoFit/>
          </a:bodyPr>
          <a:lstStyle/>
          <a:p>
            <a:r>
              <a:rPr lang="en-IN" sz="2400" dirty="0"/>
              <a:t>where E is the sum of the absolute error for all objects p in the data set, and oi is the representative object of Ci . This is the basis for the k-medoids method, which groups n objects into k clusters by minimizing the absolute error. </a:t>
            </a:r>
            <a:endParaRPr lang="en-US" sz="2400" dirty="0"/>
          </a:p>
        </p:txBody>
      </p:sp>
    </p:spTree>
    <p:extLst>
      <p:ext uri="{BB962C8B-B14F-4D97-AF65-F5344CB8AC3E}">
        <p14:creationId xmlns:p14="http://schemas.microsoft.com/office/powerpoint/2010/main" val="2164306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3A028E-7AC7-BD35-3B1B-FC32A0493E2C}"/>
              </a:ext>
            </a:extLst>
          </p:cNvPr>
          <p:cNvSpPr>
            <a:spLocks noGrp="1"/>
          </p:cNvSpPr>
          <p:nvPr>
            <p:ph type="title"/>
          </p:nvPr>
        </p:nvSpPr>
        <p:spPr>
          <a:xfrm>
            <a:off x="381000" y="0"/>
            <a:ext cx="8229600" cy="1143000"/>
          </a:xfrm>
        </p:spPr>
        <p:txBody>
          <a:bodyPr/>
          <a:lstStyle/>
          <a:p>
            <a:r>
              <a:rPr lang="en-IN" dirty="0"/>
              <a:t>PAM</a:t>
            </a:r>
            <a:r>
              <a:rPr lang="en-US" dirty="0"/>
              <a:t>: </a:t>
            </a:r>
            <a:r>
              <a:rPr lang="en-IN" dirty="0"/>
              <a:t>Partition Around Medoids</a:t>
            </a:r>
            <a:endParaRPr lang="en-US" dirty="0"/>
          </a:p>
        </p:txBody>
      </p:sp>
      <p:sp>
        <p:nvSpPr>
          <p:cNvPr id="3" name="Content Placeholder 2">
            <a:extLst>
              <a:ext uri="{FF2B5EF4-FFF2-40B4-BE49-F238E27FC236}">
                <a16:creationId xmlns:a16="http://schemas.microsoft.com/office/drawing/2014/main" xmlns="" id="{E41FE7F5-D2B4-797D-3F38-EE368C2F7613}"/>
              </a:ext>
            </a:extLst>
          </p:cNvPr>
          <p:cNvSpPr>
            <a:spLocks noGrp="1"/>
          </p:cNvSpPr>
          <p:nvPr>
            <p:ph idx="1"/>
          </p:nvPr>
        </p:nvSpPr>
        <p:spPr>
          <a:xfrm>
            <a:off x="152400" y="990600"/>
            <a:ext cx="8839200" cy="4525963"/>
          </a:xfrm>
        </p:spPr>
        <p:txBody>
          <a:bodyPr>
            <a:noAutofit/>
          </a:bodyPr>
          <a:lstStyle/>
          <a:p>
            <a:r>
              <a:rPr lang="en-IN" sz="2800" dirty="0"/>
              <a:t>Like the k-means algorithm, the initial representative objects (called seeds) are chosen arbitrarily. </a:t>
            </a:r>
          </a:p>
          <a:p>
            <a:r>
              <a:rPr lang="en-IN" sz="2800" dirty="0"/>
              <a:t>We consider whether replacing a representative object by a nonrepresentative object would improve the clustering quality. </a:t>
            </a:r>
          </a:p>
          <a:p>
            <a:r>
              <a:rPr lang="en-IN" sz="2800" dirty="0"/>
              <a:t>All the possible replacements are tried out. </a:t>
            </a:r>
          </a:p>
          <a:p>
            <a:r>
              <a:rPr lang="en-IN" sz="2800" dirty="0"/>
              <a:t>The iterative process of replacing representative objects by other objects continues until the quality of the resulting clustering cannot be improved by any replacement. </a:t>
            </a:r>
          </a:p>
          <a:p>
            <a:r>
              <a:rPr lang="en-IN" sz="2800" dirty="0"/>
              <a:t>This quality is measured by a cost function of the average dissimilarity between an object and the representative object of its cluster</a:t>
            </a:r>
            <a:endParaRPr lang="en-US" sz="2800" dirty="0"/>
          </a:p>
        </p:txBody>
      </p:sp>
    </p:spTree>
    <p:extLst>
      <p:ext uri="{BB962C8B-B14F-4D97-AF65-F5344CB8AC3E}">
        <p14:creationId xmlns:p14="http://schemas.microsoft.com/office/powerpoint/2010/main" val="3946122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A61E0077-4E8E-A1E4-EA1B-FE863FCDD134}"/>
              </a:ext>
            </a:extLst>
          </p:cNvPr>
          <p:cNvPicPr>
            <a:picLocks noChangeAspect="1"/>
          </p:cNvPicPr>
          <p:nvPr/>
        </p:nvPicPr>
        <p:blipFill rotWithShape="1">
          <a:blip r:embed="rId2"/>
          <a:srcRect l="44118" t="39020" r="20588" b="39019"/>
          <a:stretch/>
        </p:blipFill>
        <p:spPr>
          <a:xfrm>
            <a:off x="1436917" y="228600"/>
            <a:ext cx="6270166" cy="2438400"/>
          </a:xfrm>
          <a:prstGeom prst="rect">
            <a:avLst/>
          </a:prstGeom>
        </p:spPr>
      </p:pic>
      <p:pic>
        <p:nvPicPr>
          <p:cNvPr id="9" name="Picture 8">
            <a:extLst>
              <a:ext uri="{FF2B5EF4-FFF2-40B4-BE49-F238E27FC236}">
                <a16:creationId xmlns:a16="http://schemas.microsoft.com/office/drawing/2014/main" xmlns="" id="{6B879214-D9FD-0BAD-BA30-4FE96E020A12}"/>
              </a:ext>
            </a:extLst>
          </p:cNvPr>
          <p:cNvPicPr>
            <a:picLocks noChangeAspect="1"/>
          </p:cNvPicPr>
          <p:nvPr/>
        </p:nvPicPr>
        <p:blipFill rotWithShape="1">
          <a:blip r:embed="rId3"/>
          <a:srcRect l="48039" t="32745" r="17647" b="45294"/>
          <a:stretch/>
        </p:blipFill>
        <p:spPr>
          <a:xfrm>
            <a:off x="571504" y="2459277"/>
            <a:ext cx="8000992" cy="3200400"/>
          </a:xfrm>
          <a:prstGeom prst="rect">
            <a:avLst/>
          </a:prstGeom>
        </p:spPr>
      </p:pic>
    </p:spTree>
    <p:extLst>
      <p:ext uri="{BB962C8B-B14F-4D97-AF65-F5344CB8AC3E}">
        <p14:creationId xmlns:p14="http://schemas.microsoft.com/office/powerpoint/2010/main" val="40287107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804DE7DD-52F2-3C6D-3653-4D4A174749E2}"/>
              </a:ext>
            </a:extLst>
          </p:cNvPr>
          <p:cNvPicPr>
            <a:picLocks noGrp="1" noChangeAspect="1"/>
          </p:cNvPicPr>
          <p:nvPr>
            <p:ph idx="1"/>
          </p:nvPr>
        </p:nvPicPr>
        <p:blipFill rotWithShape="1">
          <a:blip r:embed="rId2"/>
          <a:srcRect l="43687" t="40407" r="19484" b="40388"/>
          <a:stretch/>
        </p:blipFill>
        <p:spPr>
          <a:xfrm>
            <a:off x="152400" y="1295400"/>
            <a:ext cx="8652218" cy="2819900"/>
          </a:xfrm>
          <a:prstGeom prst="rect">
            <a:avLst/>
          </a:prstGeom>
        </p:spPr>
      </p:pic>
    </p:spTree>
    <p:extLst>
      <p:ext uri="{BB962C8B-B14F-4D97-AF65-F5344CB8AC3E}">
        <p14:creationId xmlns:p14="http://schemas.microsoft.com/office/powerpoint/2010/main" val="10125525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FC7C9BFA-BC9A-85A1-858D-BE96F9954FCB}"/>
              </a:ext>
            </a:extLst>
          </p:cNvPr>
          <p:cNvSpPr txBox="1"/>
          <p:nvPr/>
        </p:nvSpPr>
        <p:spPr>
          <a:xfrm>
            <a:off x="1981200" y="152400"/>
            <a:ext cx="6180731" cy="553998"/>
          </a:xfrm>
          <a:prstGeom prst="rect">
            <a:avLst/>
          </a:prstGeom>
          <a:noFill/>
        </p:spPr>
        <p:txBody>
          <a:bodyPr wrap="none" rtlCol="0">
            <a:spAutoFit/>
          </a:bodyPr>
          <a:lstStyle/>
          <a:p>
            <a:r>
              <a:rPr lang="en-US" sz="3000" dirty="0"/>
              <a:t>CLARA : Clustering </a:t>
            </a:r>
            <a:r>
              <a:rPr lang="en-US" sz="3000" dirty="0" err="1"/>
              <a:t>LARge</a:t>
            </a:r>
            <a:r>
              <a:rPr lang="en-US" sz="3000" dirty="0"/>
              <a:t> Applications </a:t>
            </a:r>
          </a:p>
        </p:txBody>
      </p:sp>
      <p:sp>
        <p:nvSpPr>
          <p:cNvPr id="9" name="Content Placeholder 8">
            <a:extLst>
              <a:ext uri="{FF2B5EF4-FFF2-40B4-BE49-F238E27FC236}">
                <a16:creationId xmlns:a16="http://schemas.microsoft.com/office/drawing/2014/main" xmlns="" id="{FBCCB200-7C5D-AC9B-4D18-52DA4F9FF864}"/>
              </a:ext>
            </a:extLst>
          </p:cNvPr>
          <p:cNvSpPr>
            <a:spLocks noGrp="1"/>
          </p:cNvSpPr>
          <p:nvPr>
            <p:ph idx="1"/>
          </p:nvPr>
        </p:nvSpPr>
        <p:spPr/>
        <p:txBody>
          <a:bodyPr/>
          <a:lstStyle/>
          <a:p>
            <a:r>
              <a:rPr lang="en-US" dirty="0"/>
              <a:t>Instead of taking whole dataset into consideration, CLARA uses random sample of the data set </a:t>
            </a:r>
          </a:p>
          <a:p>
            <a:r>
              <a:rPr lang="en-US" dirty="0"/>
              <a:t>PAM is then applied to compute the best </a:t>
            </a:r>
            <a:r>
              <a:rPr lang="en-US" dirty="0" err="1"/>
              <a:t>metoids</a:t>
            </a:r>
            <a:r>
              <a:rPr lang="en-US" dirty="0"/>
              <a:t> from the sample. </a:t>
            </a:r>
          </a:p>
          <a:p>
            <a:r>
              <a:rPr lang="en-US" dirty="0"/>
              <a:t>CLARA builds clustering from multiple random samples and returns the best clustering as the output </a:t>
            </a:r>
          </a:p>
          <a:p>
            <a:endParaRPr lang="en-US" dirty="0"/>
          </a:p>
          <a:p>
            <a:endParaRPr lang="en-US" dirty="0"/>
          </a:p>
        </p:txBody>
      </p:sp>
    </p:spTree>
    <p:extLst>
      <p:ext uri="{BB962C8B-B14F-4D97-AF65-F5344CB8AC3E}">
        <p14:creationId xmlns:p14="http://schemas.microsoft.com/office/powerpoint/2010/main" val="26547418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E9471C-1315-BCF9-2321-A32C8C4B4D8B}"/>
              </a:ext>
            </a:extLst>
          </p:cNvPr>
          <p:cNvSpPr>
            <a:spLocks noGrp="1"/>
          </p:cNvSpPr>
          <p:nvPr>
            <p:ph type="title"/>
          </p:nvPr>
        </p:nvSpPr>
        <p:spPr/>
        <p:txBody>
          <a:bodyPr>
            <a:normAutofit fontScale="90000"/>
          </a:bodyPr>
          <a:lstStyle/>
          <a:p>
            <a:r>
              <a:rPr lang="en-IN" dirty="0">
                <a:solidFill>
                  <a:srgbClr val="222222"/>
                </a:solidFill>
                <a:latin typeface="Lato" panose="020F0502020204030203" pitchFamily="34" charset="0"/>
              </a:rPr>
              <a:t>Types of clustering algorithms</a:t>
            </a:r>
            <a:br>
              <a:rPr lang="en-IN" dirty="0">
                <a:solidFill>
                  <a:srgbClr val="222222"/>
                </a:solidFill>
                <a:latin typeface="Lato" panose="020F0502020204030203" pitchFamily="34" charset="0"/>
              </a:rPr>
            </a:br>
            <a:endParaRPr lang="en-US" dirty="0"/>
          </a:p>
        </p:txBody>
      </p:sp>
      <p:sp>
        <p:nvSpPr>
          <p:cNvPr id="3" name="Content Placeholder 2">
            <a:extLst>
              <a:ext uri="{FF2B5EF4-FFF2-40B4-BE49-F238E27FC236}">
                <a16:creationId xmlns:a16="http://schemas.microsoft.com/office/drawing/2014/main" xmlns="" id="{0CD446FB-8EA7-77FA-F0CB-398A91CC5A49}"/>
              </a:ext>
            </a:extLst>
          </p:cNvPr>
          <p:cNvSpPr>
            <a:spLocks noGrp="1"/>
          </p:cNvSpPr>
          <p:nvPr>
            <p:ph idx="1"/>
          </p:nvPr>
        </p:nvSpPr>
        <p:spPr>
          <a:xfrm>
            <a:off x="-152400" y="914400"/>
            <a:ext cx="9296400" cy="5943600"/>
          </a:xfrm>
        </p:spPr>
        <p:txBody>
          <a:bodyPr>
            <a:noAutofit/>
          </a:bodyPr>
          <a:lstStyle/>
          <a:p>
            <a:pPr algn="just">
              <a:buFont typeface="Arial" panose="020B0604020202020204" pitchFamily="34" charset="0"/>
              <a:buChar char="•"/>
            </a:pPr>
            <a:r>
              <a:rPr lang="en-IN" sz="2200" b="1" i="0" dirty="0">
                <a:solidFill>
                  <a:srgbClr val="222222"/>
                </a:solidFill>
                <a:effectLst/>
                <a:latin typeface="Lato" panose="020F0502020204030203" pitchFamily="34" charset="0"/>
              </a:rPr>
              <a:t>Centroid models:</a:t>
            </a:r>
            <a:r>
              <a:rPr lang="en-IN" sz="2200" b="0" i="0" dirty="0">
                <a:solidFill>
                  <a:srgbClr val="222222"/>
                </a:solidFill>
                <a:effectLst/>
                <a:latin typeface="Lato" panose="020F0502020204030203" pitchFamily="34" charset="0"/>
              </a:rPr>
              <a:t> </a:t>
            </a:r>
          </a:p>
          <a:p>
            <a:pPr lvl="1" algn="just">
              <a:buFont typeface="Arial" panose="020B0604020202020204" pitchFamily="34" charset="0"/>
              <a:buChar char="•"/>
            </a:pPr>
            <a:r>
              <a:rPr lang="en-IN" sz="2200" b="0" i="0" dirty="0">
                <a:solidFill>
                  <a:srgbClr val="222222"/>
                </a:solidFill>
                <a:effectLst/>
                <a:latin typeface="Lato" panose="020F0502020204030203" pitchFamily="34" charset="0"/>
              </a:rPr>
              <a:t>Distance/similarity</a:t>
            </a:r>
          </a:p>
          <a:p>
            <a:pPr lvl="1" algn="just">
              <a:buFont typeface="Arial" panose="020B0604020202020204" pitchFamily="34" charset="0"/>
              <a:buChar char="•"/>
            </a:pPr>
            <a:r>
              <a:rPr lang="en-IN" sz="2200" b="0" i="0" dirty="0">
                <a:solidFill>
                  <a:srgbClr val="222222"/>
                </a:solidFill>
                <a:effectLst/>
                <a:latin typeface="Lato" panose="020F0502020204030203" pitchFamily="34" charset="0"/>
              </a:rPr>
              <a:t>no. of clusters required </a:t>
            </a:r>
          </a:p>
          <a:p>
            <a:pPr lvl="1" algn="just">
              <a:buFont typeface="Arial" panose="020B0604020202020204" pitchFamily="34" charset="0"/>
              <a:buChar char="•"/>
            </a:pPr>
            <a:r>
              <a:rPr lang="en-IN" sz="2200" b="0" i="0" dirty="0">
                <a:solidFill>
                  <a:srgbClr val="222222"/>
                </a:solidFill>
                <a:effectLst/>
                <a:latin typeface="Lato" panose="020F0502020204030203" pitchFamily="34" charset="0"/>
              </a:rPr>
              <a:t>important to have prior knowledge of the dataset. </a:t>
            </a:r>
          </a:p>
          <a:p>
            <a:pPr lvl="1" algn="just">
              <a:buFont typeface="Arial" panose="020B0604020202020204" pitchFamily="34" charset="0"/>
              <a:buChar char="•"/>
            </a:pPr>
            <a:r>
              <a:rPr lang="en-IN" sz="2200" b="0" i="0" dirty="0">
                <a:solidFill>
                  <a:srgbClr val="222222"/>
                </a:solidFill>
                <a:effectLst/>
                <a:latin typeface="Lato" panose="020F0502020204030203" pitchFamily="34" charset="0"/>
              </a:rPr>
              <a:t>Iterative relocation to find the local optima.</a:t>
            </a:r>
          </a:p>
          <a:p>
            <a:pPr algn="just"/>
            <a:r>
              <a:rPr lang="en-IN" sz="2200" b="1" i="0" dirty="0">
                <a:solidFill>
                  <a:srgbClr val="222222"/>
                </a:solidFill>
                <a:effectLst/>
                <a:latin typeface="Lato" panose="020F0502020204030203" pitchFamily="34" charset="0"/>
              </a:rPr>
              <a:t>Connectivity (Hierarchical) models:</a:t>
            </a:r>
            <a:r>
              <a:rPr lang="en-IN" sz="2200" b="0" i="0" dirty="0">
                <a:solidFill>
                  <a:srgbClr val="222222"/>
                </a:solidFill>
                <a:effectLst/>
                <a:latin typeface="Lato" panose="020F0502020204030203" pitchFamily="34" charset="0"/>
              </a:rPr>
              <a:t> </a:t>
            </a:r>
          </a:p>
          <a:p>
            <a:pPr lvl="1" algn="just"/>
            <a:r>
              <a:rPr lang="en-IN" sz="2200" b="0" i="0" dirty="0">
                <a:solidFill>
                  <a:srgbClr val="222222"/>
                </a:solidFill>
                <a:effectLst/>
                <a:latin typeface="Lato" panose="020F0502020204030203" pitchFamily="34" charset="0"/>
              </a:rPr>
              <a:t>As the name suggests, these models are based on the notion that the data points closer in data space exhibit more similarity to each other than the data points lying farther away. </a:t>
            </a:r>
          </a:p>
          <a:p>
            <a:pPr lvl="1" algn="just"/>
            <a:r>
              <a:rPr lang="en-IN" sz="2200" b="0" i="0" dirty="0">
                <a:solidFill>
                  <a:srgbClr val="222222"/>
                </a:solidFill>
                <a:effectLst/>
                <a:latin typeface="Lato" panose="020F0502020204030203" pitchFamily="34" charset="0"/>
              </a:rPr>
              <a:t>These models can follow two approaches. </a:t>
            </a:r>
          </a:p>
          <a:p>
            <a:pPr lvl="2" algn="just"/>
            <a:r>
              <a:rPr lang="en-IN" sz="2200" b="0" i="0" dirty="0">
                <a:solidFill>
                  <a:srgbClr val="222222"/>
                </a:solidFill>
                <a:effectLst/>
                <a:latin typeface="Lato" panose="020F0502020204030203" pitchFamily="34" charset="0"/>
              </a:rPr>
              <a:t>they start with classifying all data points into separate clusters &amp; then aggregating them as the distance decreases. </a:t>
            </a:r>
          </a:p>
          <a:p>
            <a:pPr lvl="2" algn="just"/>
            <a:r>
              <a:rPr lang="en-IN" sz="2200" b="0" i="0" dirty="0">
                <a:solidFill>
                  <a:srgbClr val="222222"/>
                </a:solidFill>
                <a:effectLst/>
                <a:latin typeface="Lato" panose="020F0502020204030203" pitchFamily="34" charset="0"/>
              </a:rPr>
              <a:t>all data points are classified as a single cluster and then partitioned as the distance increases. </a:t>
            </a:r>
          </a:p>
          <a:p>
            <a:pPr lvl="2" algn="just"/>
            <a:r>
              <a:rPr lang="en-IN" sz="2200" b="0" i="0" dirty="0">
                <a:solidFill>
                  <a:srgbClr val="222222"/>
                </a:solidFill>
                <a:effectLst/>
                <a:latin typeface="Lato" panose="020F0502020204030203" pitchFamily="34" charset="0"/>
              </a:rPr>
              <a:t>easy to interpret but lacks scalability for handling big datasets</a:t>
            </a:r>
          </a:p>
          <a:p>
            <a:pPr marL="914400" lvl="2" indent="0" algn="just">
              <a:buNone/>
            </a:pPr>
            <a:endParaRPr lang="en-US" sz="2200" dirty="0"/>
          </a:p>
        </p:txBody>
      </p:sp>
    </p:spTree>
    <p:extLst>
      <p:ext uri="{BB962C8B-B14F-4D97-AF65-F5344CB8AC3E}">
        <p14:creationId xmlns:p14="http://schemas.microsoft.com/office/powerpoint/2010/main" val="17954317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E9471C-1315-BCF9-2321-A32C8C4B4D8B}"/>
              </a:ext>
            </a:extLst>
          </p:cNvPr>
          <p:cNvSpPr>
            <a:spLocks noGrp="1"/>
          </p:cNvSpPr>
          <p:nvPr>
            <p:ph type="title"/>
          </p:nvPr>
        </p:nvSpPr>
        <p:spPr/>
        <p:txBody>
          <a:bodyPr>
            <a:normAutofit fontScale="90000"/>
          </a:bodyPr>
          <a:lstStyle/>
          <a:p>
            <a:r>
              <a:rPr lang="en-IN" dirty="0">
                <a:solidFill>
                  <a:srgbClr val="222222"/>
                </a:solidFill>
                <a:latin typeface="Lato" panose="020F0502020204030203" pitchFamily="34" charset="0"/>
              </a:rPr>
              <a:t>Types of clustering algorithms</a:t>
            </a:r>
            <a:br>
              <a:rPr lang="en-IN" dirty="0">
                <a:solidFill>
                  <a:srgbClr val="222222"/>
                </a:solidFill>
                <a:latin typeface="Lato" panose="020F0502020204030203" pitchFamily="34" charset="0"/>
              </a:rPr>
            </a:br>
            <a:endParaRPr lang="en-US" dirty="0"/>
          </a:p>
        </p:txBody>
      </p:sp>
      <p:sp>
        <p:nvSpPr>
          <p:cNvPr id="3" name="Content Placeholder 2">
            <a:extLst>
              <a:ext uri="{FF2B5EF4-FFF2-40B4-BE49-F238E27FC236}">
                <a16:creationId xmlns:a16="http://schemas.microsoft.com/office/drawing/2014/main" xmlns="" id="{0CD446FB-8EA7-77FA-F0CB-398A91CC5A49}"/>
              </a:ext>
            </a:extLst>
          </p:cNvPr>
          <p:cNvSpPr>
            <a:spLocks noGrp="1"/>
          </p:cNvSpPr>
          <p:nvPr>
            <p:ph idx="1"/>
          </p:nvPr>
        </p:nvSpPr>
        <p:spPr>
          <a:xfrm>
            <a:off x="0" y="990600"/>
            <a:ext cx="8991600" cy="4525963"/>
          </a:xfrm>
        </p:spPr>
        <p:txBody>
          <a:bodyPr>
            <a:noAutofit/>
          </a:bodyPr>
          <a:lstStyle/>
          <a:p>
            <a:pPr algn="just"/>
            <a:r>
              <a:rPr lang="en-IN" sz="2400" b="1" i="0" dirty="0">
                <a:solidFill>
                  <a:srgbClr val="222222"/>
                </a:solidFill>
                <a:effectLst/>
                <a:latin typeface="Lato" panose="020F0502020204030203" pitchFamily="34" charset="0"/>
              </a:rPr>
              <a:t>Distribution models:</a:t>
            </a:r>
            <a:r>
              <a:rPr lang="en-IN" sz="2400" b="0" i="0" dirty="0">
                <a:solidFill>
                  <a:srgbClr val="222222"/>
                </a:solidFill>
                <a:effectLst/>
                <a:latin typeface="Lato" panose="020F0502020204030203" pitchFamily="34" charset="0"/>
              </a:rPr>
              <a:t> </a:t>
            </a:r>
          </a:p>
          <a:p>
            <a:pPr lvl="1" algn="just"/>
            <a:r>
              <a:rPr lang="en-IN" sz="2400" b="0" i="0" dirty="0">
                <a:solidFill>
                  <a:srgbClr val="222222"/>
                </a:solidFill>
                <a:effectLst/>
                <a:latin typeface="Lato" panose="020F0502020204030203" pitchFamily="34" charset="0"/>
              </a:rPr>
              <a:t>notion of how probable is it that all data points in the cluster belong to the same distribution (For example: Normal, Gaussian). </a:t>
            </a:r>
          </a:p>
          <a:p>
            <a:pPr lvl="1" algn="just"/>
            <a:r>
              <a:rPr lang="en-IN" sz="2400" b="0" i="0" dirty="0">
                <a:solidFill>
                  <a:srgbClr val="222222"/>
                </a:solidFill>
                <a:effectLst/>
                <a:latin typeface="Lato" panose="020F0502020204030203" pitchFamily="34" charset="0"/>
              </a:rPr>
              <a:t>These models often suffer from overfitting. </a:t>
            </a:r>
          </a:p>
          <a:p>
            <a:pPr lvl="1" algn="just"/>
            <a:r>
              <a:rPr lang="en-IN" sz="2400" b="0" i="0" dirty="0">
                <a:solidFill>
                  <a:srgbClr val="222222"/>
                </a:solidFill>
                <a:effectLst/>
                <a:latin typeface="Lato" panose="020F0502020204030203" pitchFamily="34" charset="0"/>
              </a:rPr>
              <a:t>Expectation-maximization algorithm which uses multivariate normal distributions.</a:t>
            </a:r>
          </a:p>
          <a:p>
            <a:pPr algn="just">
              <a:buFont typeface="Arial" panose="020B0604020202020204" pitchFamily="34" charset="0"/>
              <a:buChar char="•"/>
            </a:pPr>
            <a:r>
              <a:rPr lang="en-IN" sz="2400" b="1" i="0" dirty="0">
                <a:solidFill>
                  <a:srgbClr val="222222"/>
                </a:solidFill>
                <a:effectLst/>
                <a:latin typeface="Lato" panose="020F0502020204030203" pitchFamily="34" charset="0"/>
              </a:rPr>
              <a:t>Density Models:</a:t>
            </a:r>
            <a:r>
              <a:rPr lang="en-IN" sz="2400" b="1" i="0" u="sng" dirty="0">
                <a:solidFill>
                  <a:srgbClr val="222222"/>
                </a:solidFill>
                <a:effectLst/>
                <a:latin typeface="Lato" panose="020F0502020204030203" pitchFamily="34" charset="0"/>
              </a:rPr>
              <a:t> </a:t>
            </a:r>
          </a:p>
          <a:p>
            <a:pPr lvl="1" algn="just">
              <a:buFont typeface="Arial" panose="020B0604020202020204" pitchFamily="34" charset="0"/>
              <a:buChar char="•"/>
            </a:pPr>
            <a:r>
              <a:rPr lang="en-IN" sz="2400" b="0" i="0" dirty="0">
                <a:solidFill>
                  <a:srgbClr val="222222"/>
                </a:solidFill>
                <a:effectLst/>
                <a:latin typeface="Lato" panose="020F0502020204030203" pitchFamily="34" charset="0"/>
              </a:rPr>
              <a:t>These models search the data space for areas of varied density of data points in the data space. </a:t>
            </a:r>
          </a:p>
          <a:p>
            <a:pPr lvl="1" algn="just">
              <a:buFont typeface="Arial" panose="020B0604020202020204" pitchFamily="34" charset="0"/>
              <a:buChar char="•"/>
            </a:pPr>
            <a:r>
              <a:rPr lang="en-IN" sz="2400" b="0" i="0" dirty="0">
                <a:solidFill>
                  <a:srgbClr val="222222"/>
                </a:solidFill>
                <a:effectLst/>
                <a:latin typeface="Lato" panose="020F0502020204030203" pitchFamily="34" charset="0"/>
              </a:rPr>
              <a:t>It isolates various different density regions and assign the data points within these regions in the same cluster</a:t>
            </a:r>
            <a:r>
              <a:rPr lang="en-IN" sz="2400" dirty="0">
                <a:solidFill>
                  <a:srgbClr val="222222"/>
                </a:solidFill>
                <a:latin typeface="Lato" panose="020F0502020204030203" pitchFamily="34" charset="0"/>
              </a:rPr>
              <a:t>s</a:t>
            </a:r>
          </a:p>
          <a:p>
            <a:pPr lvl="1" algn="just">
              <a:buFont typeface="Arial" panose="020B0604020202020204" pitchFamily="34" charset="0"/>
              <a:buChar char="•"/>
            </a:pPr>
            <a:r>
              <a:rPr lang="en-IN" sz="2400" b="0" i="0" dirty="0">
                <a:solidFill>
                  <a:srgbClr val="222222"/>
                </a:solidFill>
                <a:effectLst/>
                <a:latin typeface="Lato" panose="020F0502020204030203" pitchFamily="34" charset="0"/>
              </a:rPr>
              <a:t>Popular examples of density models are DBSCAN and OPTICS.</a:t>
            </a:r>
          </a:p>
          <a:p>
            <a:endParaRPr lang="en-US" sz="2400" dirty="0"/>
          </a:p>
        </p:txBody>
      </p:sp>
    </p:spTree>
    <p:extLst>
      <p:ext uri="{BB962C8B-B14F-4D97-AF65-F5344CB8AC3E}">
        <p14:creationId xmlns:p14="http://schemas.microsoft.com/office/powerpoint/2010/main" val="33697675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EC7772-C5D1-BDBE-496E-AC977B98E678}"/>
              </a:ext>
            </a:extLst>
          </p:cNvPr>
          <p:cNvSpPr>
            <a:spLocks noGrp="1"/>
          </p:cNvSpPr>
          <p:nvPr>
            <p:ph type="title"/>
          </p:nvPr>
        </p:nvSpPr>
        <p:spPr/>
        <p:txBody>
          <a:bodyPr/>
          <a:lstStyle/>
          <a:p>
            <a:r>
              <a:rPr lang="en-US" dirty="0"/>
              <a:t>Hierarchical Clustering </a:t>
            </a:r>
          </a:p>
        </p:txBody>
      </p:sp>
      <p:sp>
        <p:nvSpPr>
          <p:cNvPr id="3" name="Content Placeholder 2">
            <a:extLst>
              <a:ext uri="{FF2B5EF4-FFF2-40B4-BE49-F238E27FC236}">
                <a16:creationId xmlns:a16="http://schemas.microsoft.com/office/drawing/2014/main" xmlns="" id="{D0EAC92D-F35A-134E-CA22-5BDC41B137E3}"/>
              </a:ext>
            </a:extLst>
          </p:cNvPr>
          <p:cNvSpPr>
            <a:spLocks noGrp="1"/>
          </p:cNvSpPr>
          <p:nvPr>
            <p:ph idx="1"/>
          </p:nvPr>
        </p:nvSpPr>
        <p:spPr/>
        <p:txBody>
          <a:bodyPr>
            <a:normAutofit/>
          </a:bodyPr>
          <a:lstStyle/>
          <a:p>
            <a:pPr marL="0" indent="0" algn="l">
              <a:buNone/>
            </a:pPr>
            <a:r>
              <a:rPr lang="en-IN" b="0" i="0" dirty="0">
                <a:solidFill>
                  <a:srgbClr val="222222"/>
                </a:solidFill>
                <a:effectLst/>
                <a:latin typeface="Lato" panose="020F0502020204030203" pitchFamily="34" charset="0"/>
              </a:rPr>
              <a:t>An algorithm that builds hierarchy of clusters. This algorithm starts with all the data points assigned to a cluster of their own. Then two nearest clusters are merged into the same cluster. In the end, this algorithm terminates when there is only a single cluster left.</a:t>
            </a:r>
          </a:p>
          <a:p>
            <a:pPr algn="just"/>
            <a:endParaRPr lang="en-IN" b="0" i="0" dirty="0">
              <a:solidFill>
                <a:srgbClr val="222222"/>
              </a:solidFill>
              <a:effectLst/>
              <a:latin typeface="Lato" panose="020F0502020204030203" pitchFamily="34" charset="0"/>
            </a:endParaRPr>
          </a:p>
          <a:p>
            <a:endParaRPr lang="en-US" dirty="0"/>
          </a:p>
        </p:txBody>
      </p:sp>
    </p:spTree>
    <p:extLst>
      <p:ext uri="{BB962C8B-B14F-4D97-AF65-F5344CB8AC3E}">
        <p14:creationId xmlns:p14="http://schemas.microsoft.com/office/powerpoint/2010/main" val="25369012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95E7A0C-CCFC-1A25-036A-84F209B3F319}"/>
              </a:ext>
            </a:extLst>
          </p:cNvPr>
          <p:cNvSpPr>
            <a:spLocks noGrp="1"/>
          </p:cNvSpPr>
          <p:nvPr>
            <p:ph idx="1"/>
          </p:nvPr>
        </p:nvSpPr>
        <p:spPr>
          <a:xfrm>
            <a:off x="1600200" y="274638"/>
            <a:ext cx="6230983" cy="2974204"/>
          </a:xfrm>
        </p:spPr>
        <p:txBody>
          <a:bodyPr/>
          <a:lstStyle/>
          <a:p>
            <a:pPr marL="0" indent="0">
              <a:buNone/>
            </a:pPr>
            <a:r>
              <a:rPr lang="en-IN" b="0" i="0" dirty="0">
                <a:solidFill>
                  <a:srgbClr val="222222"/>
                </a:solidFill>
                <a:effectLst/>
                <a:latin typeface="Lato" panose="020F0502020204030203" pitchFamily="34" charset="0"/>
              </a:rPr>
              <a:t>The results of hierarchical clustering can be shown using dendrogram. The dendrogram can be interpreted as:</a:t>
            </a:r>
            <a:endParaRPr lang="en-US" dirty="0"/>
          </a:p>
        </p:txBody>
      </p:sp>
      <p:pic>
        <p:nvPicPr>
          <p:cNvPr id="6146" name="Picture 2" descr="hierarchical clustering, dendogram">
            <a:extLst>
              <a:ext uri="{FF2B5EF4-FFF2-40B4-BE49-F238E27FC236}">
                <a16:creationId xmlns:a16="http://schemas.microsoft.com/office/drawing/2014/main" xmlns="" id="{CD7E4572-84A1-0B3E-718B-4009D51FA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3291" y="2362200"/>
            <a:ext cx="5384800"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56834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323BBDD-11C2-B5C3-59A8-A81A2C8FFF90}"/>
              </a:ext>
            </a:extLst>
          </p:cNvPr>
          <p:cNvSpPr>
            <a:spLocks noGrp="1"/>
          </p:cNvSpPr>
          <p:nvPr>
            <p:ph idx="1"/>
          </p:nvPr>
        </p:nvSpPr>
        <p:spPr/>
        <p:txBody>
          <a:bodyPr>
            <a:normAutofit/>
          </a:bodyPr>
          <a:lstStyle/>
          <a:p>
            <a:pPr marL="0" indent="0" algn="just">
              <a:buNone/>
            </a:pPr>
            <a:r>
              <a:rPr lang="en-IN" b="0" i="0" dirty="0">
                <a:solidFill>
                  <a:srgbClr val="222222"/>
                </a:solidFill>
                <a:effectLst/>
                <a:latin typeface="Lato" panose="020F0502020204030203" pitchFamily="34" charset="0"/>
              </a:rPr>
              <a:t>At the bottom, we start with 25 data points, each assigned to separate clusters. Two closest clusters are then merged till we have just one cluster at the top. The height in the dendrogram at which two clusters are merged represents the distance between two clusters in the data space.</a:t>
            </a:r>
          </a:p>
          <a:p>
            <a:pPr marL="0" indent="0">
              <a:buNone/>
            </a:pPr>
            <a:r>
              <a:rPr lang="en-IN" dirty="0"/>
              <a:t/>
            </a:r>
            <a:br>
              <a:rPr lang="en-IN" dirty="0"/>
            </a:br>
            <a:endParaRPr lang="en-US" dirty="0"/>
          </a:p>
        </p:txBody>
      </p:sp>
    </p:spTree>
    <p:extLst>
      <p:ext uri="{BB962C8B-B14F-4D97-AF65-F5344CB8AC3E}">
        <p14:creationId xmlns:p14="http://schemas.microsoft.com/office/powerpoint/2010/main" val="24609844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5905717-618C-7CC4-6DBD-490E4B199411}"/>
              </a:ext>
            </a:extLst>
          </p:cNvPr>
          <p:cNvSpPr>
            <a:spLocks noGrp="1"/>
          </p:cNvSpPr>
          <p:nvPr>
            <p:ph idx="1"/>
          </p:nvPr>
        </p:nvSpPr>
        <p:spPr/>
        <p:txBody>
          <a:bodyPr>
            <a:normAutofit fontScale="92500" lnSpcReduction="20000"/>
          </a:bodyPr>
          <a:lstStyle/>
          <a:p>
            <a:pPr algn="just"/>
            <a:r>
              <a:rPr lang="en-IN" b="0" i="0" dirty="0">
                <a:solidFill>
                  <a:srgbClr val="222222"/>
                </a:solidFill>
                <a:effectLst/>
                <a:latin typeface="Lato" panose="020F0502020204030203" pitchFamily="34" charset="0"/>
              </a:rPr>
              <a:t>The decision of the no. of clusters that can best depict different groups can be chosen by observing the dendrogram. The best choice of the no. of clusters is the no. of vertical lines in the dendrogram cut by a horizontal line that can transverse the maximum distance vertically without intersecting a cluster.</a:t>
            </a:r>
          </a:p>
          <a:p>
            <a:pPr algn="just"/>
            <a:r>
              <a:rPr lang="en-IN" b="0" i="0" dirty="0">
                <a:solidFill>
                  <a:srgbClr val="222222"/>
                </a:solidFill>
                <a:effectLst/>
                <a:latin typeface="Lato" panose="020F0502020204030203" pitchFamily="34" charset="0"/>
              </a:rPr>
              <a:t>In the above example, the best choice of no. of clusters will be 4 as the red horizontal line in the dendrogram below covers maximum vertical distance AB.</a:t>
            </a:r>
          </a:p>
          <a:p>
            <a:endParaRPr lang="en-US" dirty="0"/>
          </a:p>
        </p:txBody>
      </p:sp>
    </p:spTree>
    <p:extLst>
      <p:ext uri="{BB962C8B-B14F-4D97-AF65-F5344CB8AC3E}">
        <p14:creationId xmlns:p14="http://schemas.microsoft.com/office/powerpoint/2010/main" val="26102448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ierarchical clustering">
            <a:extLst>
              <a:ext uri="{FF2B5EF4-FFF2-40B4-BE49-F238E27FC236}">
                <a16:creationId xmlns:a16="http://schemas.microsoft.com/office/drawing/2014/main" xmlns="" id="{10C84D8C-A151-12E3-1FEE-16EEC584A61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3600" y="2339181"/>
            <a:ext cx="48768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81886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BBAF4ED-ECC1-1CF0-66F0-59A0A34CC4B3}"/>
              </a:ext>
            </a:extLst>
          </p:cNvPr>
          <p:cNvSpPr>
            <a:spLocks noGrp="1"/>
          </p:cNvSpPr>
          <p:nvPr>
            <p:ph idx="1"/>
          </p:nvPr>
        </p:nvSpPr>
        <p:spPr/>
        <p:txBody>
          <a:bodyPr>
            <a:normAutofit/>
          </a:bodyPr>
          <a:lstStyle/>
          <a:p>
            <a:pPr algn="just">
              <a:buFont typeface="Arial" panose="020B0604020202020204" pitchFamily="34" charset="0"/>
              <a:buChar char="•"/>
            </a:pPr>
            <a:r>
              <a:rPr lang="en-IN" b="0" i="0" dirty="0">
                <a:solidFill>
                  <a:srgbClr val="222222"/>
                </a:solidFill>
                <a:effectLst/>
                <a:latin typeface="Lato" panose="020F0502020204030203" pitchFamily="34" charset="0"/>
              </a:rPr>
              <a:t>bottom up approach</a:t>
            </a:r>
            <a:endParaRPr lang="en-IN" dirty="0">
              <a:solidFill>
                <a:srgbClr val="222222"/>
              </a:solidFill>
              <a:latin typeface="Lato" panose="020F0502020204030203" pitchFamily="34" charset="0"/>
            </a:endParaRPr>
          </a:p>
          <a:p>
            <a:pPr algn="just">
              <a:buFont typeface="Arial" panose="020B0604020202020204" pitchFamily="34" charset="0"/>
              <a:buChar char="•"/>
            </a:pPr>
            <a:r>
              <a:rPr lang="en-IN" b="0" i="0" dirty="0">
                <a:solidFill>
                  <a:srgbClr val="222222"/>
                </a:solidFill>
                <a:effectLst/>
                <a:latin typeface="Lato" panose="020F0502020204030203" pitchFamily="34" charset="0"/>
              </a:rPr>
              <a:t>top-down approach - starting with all data points assigned in the same cluster and recursively performing splits till each data point is assigned a separate cluster.</a:t>
            </a:r>
          </a:p>
          <a:p>
            <a:pPr algn="just">
              <a:buFont typeface="Arial" panose="020B0604020202020204" pitchFamily="34" charset="0"/>
              <a:buChar char="•"/>
            </a:pPr>
            <a:r>
              <a:rPr lang="en-IN" b="0" i="0" dirty="0">
                <a:solidFill>
                  <a:srgbClr val="222222"/>
                </a:solidFill>
                <a:effectLst/>
                <a:latin typeface="Lato" panose="020F0502020204030203" pitchFamily="34" charset="0"/>
              </a:rPr>
              <a:t>The decision of merging two clusters is taken on the basis of closeness of these clusters.</a:t>
            </a:r>
          </a:p>
          <a:p>
            <a:endParaRPr lang="en-US" dirty="0"/>
          </a:p>
        </p:txBody>
      </p:sp>
    </p:spTree>
    <p:extLst>
      <p:ext uri="{BB962C8B-B14F-4D97-AF65-F5344CB8AC3E}">
        <p14:creationId xmlns:p14="http://schemas.microsoft.com/office/powerpoint/2010/main" val="24088951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6E7CCE1-3F89-E2F8-88B2-8476B47417D0}"/>
              </a:ext>
            </a:extLst>
          </p:cNvPr>
          <p:cNvSpPr>
            <a:spLocks noGrp="1"/>
          </p:cNvSpPr>
          <p:nvPr>
            <p:ph idx="1"/>
          </p:nvPr>
        </p:nvSpPr>
        <p:spPr/>
        <p:txBody>
          <a:bodyPr>
            <a:normAutofit lnSpcReduction="10000"/>
          </a:bodyPr>
          <a:lstStyle/>
          <a:p>
            <a:r>
              <a:rPr lang="en-US" altLang="en-US" sz="3200" b="1" dirty="0"/>
              <a:t>Bottom-Up (</a:t>
            </a:r>
            <a:r>
              <a:rPr lang="en-US" altLang="zh-CN" sz="3200" b="1" dirty="0">
                <a:ea typeface="SimSun" pitchFamily="2" charset="-122"/>
              </a:rPr>
              <a:t>agglomerative</a:t>
            </a:r>
            <a:r>
              <a:rPr lang="en-US" altLang="en-US" sz="3200" b="1" dirty="0"/>
              <a:t>):</a:t>
            </a:r>
            <a:r>
              <a:rPr lang="en-US" altLang="en-US" sz="3200" dirty="0"/>
              <a:t> Starting with each item in its own cluster, find the best pair to merge into a new cluster. Repeat until all clusters are fused together. </a:t>
            </a:r>
          </a:p>
          <a:p>
            <a:endParaRPr lang="en-US" altLang="en-US" sz="3200" b="1" dirty="0"/>
          </a:p>
          <a:p>
            <a:r>
              <a:rPr lang="en-US" altLang="en-US" sz="3200" b="1" dirty="0"/>
              <a:t>Top-Down (</a:t>
            </a:r>
            <a:r>
              <a:rPr lang="en-US" altLang="zh-CN" sz="3200" b="1" dirty="0">
                <a:ea typeface="SimSun" pitchFamily="2" charset="-122"/>
              </a:rPr>
              <a:t>divisive</a:t>
            </a:r>
            <a:r>
              <a:rPr lang="en-US" altLang="en-US" sz="3200" b="1" dirty="0"/>
              <a:t>):</a:t>
            </a:r>
            <a:r>
              <a:rPr lang="en-US" altLang="en-US" sz="3200" dirty="0"/>
              <a:t> Starting with all the data in a single cluster, consider every possible way to divide the cluster into two. Choose the best division and recursively operate on both sides.</a:t>
            </a:r>
          </a:p>
          <a:p>
            <a:endParaRPr lang="en-US" dirty="0"/>
          </a:p>
        </p:txBody>
      </p:sp>
    </p:spTree>
    <p:extLst>
      <p:ext uri="{BB962C8B-B14F-4D97-AF65-F5344CB8AC3E}">
        <p14:creationId xmlns:p14="http://schemas.microsoft.com/office/powerpoint/2010/main" val="31340398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4A2432-6B02-DAC4-22B2-F7481A684A69}"/>
              </a:ext>
            </a:extLst>
          </p:cNvPr>
          <p:cNvSpPr>
            <a:spLocks noGrp="1"/>
          </p:cNvSpPr>
          <p:nvPr>
            <p:ph type="title"/>
          </p:nvPr>
        </p:nvSpPr>
        <p:spPr/>
        <p:txBody>
          <a:bodyPr/>
          <a:lstStyle/>
          <a:p>
            <a:r>
              <a:rPr lang="en-US" dirty="0"/>
              <a:t>Agglomerative</a:t>
            </a:r>
          </a:p>
        </p:txBody>
      </p:sp>
      <p:sp>
        <p:nvSpPr>
          <p:cNvPr id="3" name="Content Placeholder 2">
            <a:extLst>
              <a:ext uri="{FF2B5EF4-FFF2-40B4-BE49-F238E27FC236}">
                <a16:creationId xmlns:a16="http://schemas.microsoft.com/office/drawing/2014/main" xmlns="" id="{1339F63D-6E7F-6B89-0684-9E1424FCFD0F}"/>
              </a:ext>
            </a:extLst>
          </p:cNvPr>
          <p:cNvSpPr>
            <a:spLocks noGrp="1"/>
          </p:cNvSpPr>
          <p:nvPr>
            <p:ph idx="1"/>
          </p:nvPr>
        </p:nvSpPr>
        <p:spPr/>
        <p:txBody>
          <a:bodyPr>
            <a:normAutofit fontScale="85000" lnSpcReduction="20000"/>
          </a:bodyPr>
          <a:lstStyle/>
          <a:p>
            <a:pPr marL="0" indent="0">
              <a:buNone/>
            </a:pPr>
            <a:r>
              <a:rPr lang="en-IN" dirty="0"/>
              <a:t>An agglomerative hierarchical clustering method uses a bottom-up strategy. It typically starts by letting each object form its own cluster and iteratively merges clusters into larger and larger clusters, until all the objects are in a single cluster or certain termination conditions are satisfied. The single cluster becomes the hierarchy’s root. For the merging step, it finds the two clusters that are closest to each other (according to some similarity measure), and combines the two to form one cluster. Because two clusters are merged per iteration, where each cluster contains at least one object, an agglomerative method requires at most n iterations. </a:t>
            </a:r>
            <a:endParaRPr lang="en-US" dirty="0"/>
          </a:p>
        </p:txBody>
      </p:sp>
    </p:spTree>
    <p:extLst>
      <p:ext uri="{BB962C8B-B14F-4D97-AF65-F5344CB8AC3E}">
        <p14:creationId xmlns:p14="http://schemas.microsoft.com/office/powerpoint/2010/main" val="2992460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F453B0-C977-6740-A993-5A6A22BB31A9}"/>
              </a:ext>
            </a:extLst>
          </p:cNvPr>
          <p:cNvSpPr>
            <a:spLocks noGrp="1"/>
          </p:cNvSpPr>
          <p:nvPr>
            <p:ph type="title"/>
          </p:nvPr>
        </p:nvSpPr>
        <p:spPr/>
        <p:txBody>
          <a:bodyPr/>
          <a:lstStyle/>
          <a:p>
            <a:r>
              <a:rPr lang="en-US" dirty="0"/>
              <a:t>Divisive</a:t>
            </a:r>
          </a:p>
        </p:txBody>
      </p:sp>
      <p:sp>
        <p:nvSpPr>
          <p:cNvPr id="3" name="Content Placeholder 2">
            <a:extLst>
              <a:ext uri="{FF2B5EF4-FFF2-40B4-BE49-F238E27FC236}">
                <a16:creationId xmlns:a16="http://schemas.microsoft.com/office/drawing/2014/main" xmlns="" id="{47AD1E25-9D7C-BC58-A815-ED9FCB580065}"/>
              </a:ext>
            </a:extLst>
          </p:cNvPr>
          <p:cNvSpPr>
            <a:spLocks noGrp="1"/>
          </p:cNvSpPr>
          <p:nvPr>
            <p:ph idx="1"/>
          </p:nvPr>
        </p:nvSpPr>
        <p:spPr/>
        <p:txBody>
          <a:bodyPr>
            <a:normAutofit fontScale="92500" lnSpcReduction="10000"/>
          </a:bodyPr>
          <a:lstStyle/>
          <a:p>
            <a:pPr marL="0" indent="0">
              <a:buNone/>
            </a:pPr>
            <a:r>
              <a:rPr lang="en-IN" dirty="0"/>
              <a:t>A divisive hierarchical clustering method employs a top-down strategy. It starts by placing all objects in one cluster, which is the hierarchy’s root. It then divides the root cluster into several smaller subclusters, and recursively partitions those clusters into smaller ones. The partitioning process continues until each cluster at the lowest level is coherent enough—either containing only one object, or the objects within a cluster are sufficiently similar to each other.</a:t>
            </a:r>
            <a:endParaRPr lang="en-US" dirty="0"/>
          </a:p>
        </p:txBody>
      </p:sp>
    </p:spTree>
    <p:extLst>
      <p:ext uri="{BB962C8B-B14F-4D97-AF65-F5344CB8AC3E}">
        <p14:creationId xmlns:p14="http://schemas.microsoft.com/office/powerpoint/2010/main" val="20937372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10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3151" y="5200651"/>
            <a:ext cx="307181" cy="664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5" name="Picture 10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1" y="5200651"/>
            <a:ext cx="350044" cy="650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556" name="Group 1028"/>
          <p:cNvGrpSpPr>
            <a:grpSpLocks/>
          </p:cNvGrpSpPr>
          <p:nvPr/>
        </p:nvGrpSpPr>
        <p:grpSpPr bwMode="auto">
          <a:xfrm>
            <a:off x="4400550" y="2341960"/>
            <a:ext cx="3257550" cy="3565922"/>
            <a:chOff x="2736" y="1247"/>
            <a:chExt cx="2736" cy="2995"/>
          </a:xfrm>
        </p:grpSpPr>
        <p:grpSp>
          <p:nvGrpSpPr>
            <p:cNvPr id="23562" name="Group 1029"/>
            <p:cNvGrpSpPr>
              <a:grpSpLocks/>
            </p:cNvGrpSpPr>
            <p:nvPr/>
          </p:nvGrpSpPr>
          <p:grpSpPr bwMode="auto">
            <a:xfrm>
              <a:off x="3312" y="2016"/>
              <a:ext cx="2160" cy="2160"/>
              <a:chOff x="1632" y="1248"/>
              <a:chExt cx="2160" cy="2160"/>
            </a:xfrm>
          </p:grpSpPr>
          <p:grpSp>
            <p:nvGrpSpPr>
              <p:cNvPr id="23573" name="Group 1030"/>
              <p:cNvGrpSpPr>
                <a:grpSpLocks/>
              </p:cNvGrpSpPr>
              <p:nvPr/>
            </p:nvGrpSpPr>
            <p:grpSpPr bwMode="auto">
              <a:xfrm>
                <a:off x="1632" y="1248"/>
                <a:ext cx="432" cy="432"/>
                <a:chOff x="1776" y="1920"/>
                <a:chExt cx="432" cy="432"/>
              </a:xfrm>
            </p:grpSpPr>
            <p:sp>
              <p:nvSpPr>
                <p:cNvPr id="23646" name="Rectangle 1031"/>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47" name="Text Box 1032"/>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0</a:t>
                  </a:r>
                </a:p>
              </p:txBody>
            </p:sp>
          </p:grpSp>
          <p:grpSp>
            <p:nvGrpSpPr>
              <p:cNvPr id="23574" name="Group 1033"/>
              <p:cNvGrpSpPr>
                <a:grpSpLocks/>
              </p:cNvGrpSpPr>
              <p:nvPr/>
            </p:nvGrpSpPr>
            <p:grpSpPr bwMode="auto">
              <a:xfrm>
                <a:off x="2064" y="1248"/>
                <a:ext cx="432" cy="432"/>
                <a:chOff x="1776" y="1920"/>
                <a:chExt cx="432" cy="432"/>
              </a:xfrm>
            </p:grpSpPr>
            <p:sp>
              <p:nvSpPr>
                <p:cNvPr id="23644" name="Rectangle 1034"/>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45" name="Text Box 1035"/>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8</a:t>
                  </a:r>
                </a:p>
              </p:txBody>
            </p:sp>
          </p:grpSp>
          <p:grpSp>
            <p:nvGrpSpPr>
              <p:cNvPr id="23575" name="Group 1036"/>
              <p:cNvGrpSpPr>
                <a:grpSpLocks/>
              </p:cNvGrpSpPr>
              <p:nvPr/>
            </p:nvGrpSpPr>
            <p:grpSpPr bwMode="auto">
              <a:xfrm>
                <a:off x="2496" y="1248"/>
                <a:ext cx="432" cy="432"/>
                <a:chOff x="1776" y="1920"/>
                <a:chExt cx="432" cy="432"/>
              </a:xfrm>
            </p:grpSpPr>
            <p:sp>
              <p:nvSpPr>
                <p:cNvPr id="23642" name="Rectangle 1037"/>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43" name="Text Box 1038"/>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8</a:t>
                  </a:r>
                </a:p>
              </p:txBody>
            </p:sp>
          </p:grpSp>
          <p:grpSp>
            <p:nvGrpSpPr>
              <p:cNvPr id="23576" name="Group 1039"/>
              <p:cNvGrpSpPr>
                <a:grpSpLocks/>
              </p:cNvGrpSpPr>
              <p:nvPr/>
            </p:nvGrpSpPr>
            <p:grpSpPr bwMode="auto">
              <a:xfrm>
                <a:off x="2928" y="1248"/>
                <a:ext cx="432" cy="432"/>
                <a:chOff x="1776" y="1920"/>
                <a:chExt cx="432" cy="432"/>
              </a:xfrm>
            </p:grpSpPr>
            <p:sp>
              <p:nvSpPr>
                <p:cNvPr id="23640" name="Rectangle 1040"/>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41" name="Text Box 1041"/>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7</a:t>
                  </a:r>
                </a:p>
              </p:txBody>
            </p:sp>
          </p:grpSp>
          <p:grpSp>
            <p:nvGrpSpPr>
              <p:cNvPr id="23577" name="Group 1042"/>
              <p:cNvGrpSpPr>
                <a:grpSpLocks/>
              </p:cNvGrpSpPr>
              <p:nvPr/>
            </p:nvGrpSpPr>
            <p:grpSpPr bwMode="auto">
              <a:xfrm>
                <a:off x="3360" y="1248"/>
                <a:ext cx="432" cy="432"/>
                <a:chOff x="1776" y="1920"/>
                <a:chExt cx="432" cy="432"/>
              </a:xfrm>
            </p:grpSpPr>
            <p:sp>
              <p:nvSpPr>
                <p:cNvPr id="23638" name="Rectangle 1043"/>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39" name="Text Box 1044"/>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7</a:t>
                  </a:r>
                </a:p>
              </p:txBody>
            </p:sp>
          </p:grpSp>
          <p:grpSp>
            <p:nvGrpSpPr>
              <p:cNvPr id="23578" name="Group 1045"/>
              <p:cNvGrpSpPr>
                <a:grpSpLocks/>
              </p:cNvGrpSpPr>
              <p:nvPr/>
            </p:nvGrpSpPr>
            <p:grpSpPr bwMode="auto">
              <a:xfrm>
                <a:off x="1632" y="1680"/>
                <a:ext cx="432" cy="432"/>
                <a:chOff x="1776" y="1920"/>
                <a:chExt cx="432" cy="432"/>
              </a:xfrm>
            </p:grpSpPr>
            <p:sp>
              <p:nvSpPr>
                <p:cNvPr id="23636" name="Rectangle 1046"/>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37" name="Text Box 1047"/>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79" name="Group 1048"/>
              <p:cNvGrpSpPr>
                <a:grpSpLocks/>
              </p:cNvGrpSpPr>
              <p:nvPr/>
            </p:nvGrpSpPr>
            <p:grpSpPr bwMode="auto">
              <a:xfrm>
                <a:off x="2064" y="1680"/>
                <a:ext cx="432" cy="432"/>
                <a:chOff x="1776" y="1920"/>
                <a:chExt cx="432" cy="432"/>
              </a:xfrm>
            </p:grpSpPr>
            <p:sp>
              <p:nvSpPr>
                <p:cNvPr id="23634" name="Rectangle 1049"/>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35" name="Text Box 1050"/>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0</a:t>
                  </a:r>
                </a:p>
              </p:txBody>
            </p:sp>
          </p:grpSp>
          <p:grpSp>
            <p:nvGrpSpPr>
              <p:cNvPr id="23580" name="Group 1051"/>
              <p:cNvGrpSpPr>
                <a:grpSpLocks/>
              </p:cNvGrpSpPr>
              <p:nvPr/>
            </p:nvGrpSpPr>
            <p:grpSpPr bwMode="auto">
              <a:xfrm>
                <a:off x="2496" y="1680"/>
                <a:ext cx="432" cy="432"/>
                <a:chOff x="1776" y="1920"/>
                <a:chExt cx="432" cy="432"/>
              </a:xfrm>
            </p:grpSpPr>
            <p:sp>
              <p:nvSpPr>
                <p:cNvPr id="23632" name="Rectangle 1052"/>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33" name="Text Box 1053"/>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2</a:t>
                  </a:r>
                </a:p>
              </p:txBody>
            </p:sp>
          </p:grpSp>
          <p:grpSp>
            <p:nvGrpSpPr>
              <p:cNvPr id="23581" name="Group 1054"/>
              <p:cNvGrpSpPr>
                <a:grpSpLocks/>
              </p:cNvGrpSpPr>
              <p:nvPr/>
            </p:nvGrpSpPr>
            <p:grpSpPr bwMode="auto">
              <a:xfrm>
                <a:off x="2928" y="1680"/>
                <a:ext cx="432" cy="432"/>
                <a:chOff x="1776" y="1920"/>
                <a:chExt cx="432" cy="432"/>
              </a:xfrm>
            </p:grpSpPr>
            <p:sp>
              <p:nvSpPr>
                <p:cNvPr id="23630" name="Rectangle 1055"/>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31" name="Text Box 1056"/>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4</a:t>
                  </a:r>
                </a:p>
              </p:txBody>
            </p:sp>
          </p:grpSp>
          <p:grpSp>
            <p:nvGrpSpPr>
              <p:cNvPr id="23582" name="Group 1057"/>
              <p:cNvGrpSpPr>
                <a:grpSpLocks/>
              </p:cNvGrpSpPr>
              <p:nvPr/>
            </p:nvGrpSpPr>
            <p:grpSpPr bwMode="auto">
              <a:xfrm>
                <a:off x="3360" y="1680"/>
                <a:ext cx="432" cy="432"/>
                <a:chOff x="1776" y="1920"/>
                <a:chExt cx="432" cy="432"/>
              </a:xfrm>
            </p:grpSpPr>
            <p:sp>
              <p:nvSpPr>
                <p:cNvPr id="23628" name="Rectangle 1058"/>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29" name="Text Box 1059"/>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4</a:t>
                  </a:r>
                </a:p>
              </p:txBody>
            </p:sp>
          </p:grpSp>
          <p:grpSp>
            <p:nvGrpSpPr>
              <p:cNvPr id="23583" name="Group 1060"/>
              <p:cNvGrpSpPr>
                <a:grpSpLocks/>
              </p:cNvGrpSpPr>
              <p:nvPr/>
            </p:nvGrpSpPr>
            <p:grpSpPr bwMode="auto">
              <a:xfrm>
                <a:off x="1632" y="2112"/>
                <a:ext cx="432" cy="432"/>
                <a:chOff x="1776" y="1920"/>
                <a:chExt cx="432" cy="432"/>
              </a:xfrm>
            </p:grpSpPr>
            <p:sp>
              <p:nvSpPr>
                <p:cNvPr id="23626" name="Rectangle 1061"/>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27" name="Text Box 1062"/>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84" name="Group 1063"/>
              <p:cNvGrpSpPr>
                <a:grpSpLocks/>
              </p:cNvGrpSpPr>
              <p:nvPr/>
            </p:nvGrpSpPr>
            <p:grpSpPr bwMode="auto">
              <a:xfrm>
                <a:off x="2064" y="2112"/>
                <a:ext cx="432" cy="432"/>
                <a:chOff x="1776" y="1920"/>
                <a:chExt cx="432" cy="432"/>
              </a:xfrm>
            </p:grpSpPr>
            <p:sp>
              <p:nvSpPr>
                <p:cNvPr id="23624" name="Rectangle 1064"/>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25" name="Text Box 1065"/>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85" name="Group 1066"/>
              <p:cNvGrpSpPr>
                <a:grpSpLocks/>
              </p:cNvGrpSpPr>
              <p:nvPr/>
            </p:nvGrpSpPr>
            <p:grpSpPr bwMode="auto">
              <a:xfrm>
                <a:off x="2496" y="2112"/>
                <a:ext cx="432" cy="432"/>
                <a:chOff x="1776" y="1920"/>
                <a:chExt cx="432" cy="432"/>
              </a:xfrm>
            </p:grpSpPr>
            <p:sp>
              <p:nvSpPr>
                <p:cNvPr id="23622" name="Rectangle 1067"/>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23" name="Text Box 1068"/>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0</a:t>
                  </a:r>
                </a:p>
              </p:txBody>
            </p:sp>
          </p:grpSp>
          <p:grpSp>
            <p:nvGrpSpPr>
              <p:cNvPr id="23586" name="Group 1069"/>
              <p:cNvGrpSpPr>
                <a:grpSpLocks/>
              </p:cNvGrpSpPr>
              <p:nvPr/>
            </p:nvGrpSpPr>
            <p:grpSpPr bwMode="auto">
              <a:xfrm>
                <a:off x="2928" y="2112"/>
                <a:ext cx="432" cy="432"/>
                <a:chOff x="1776" y="1920"/>
                <a:chExt cx="432" cy="432"/>
              </a:xfrm>
            </p:grpSpPr>
            <p:sp>
              <p:nvSpPr>
                <p:cNvPr id="23620" name="Rectangle 1070"/>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21" name="Text Box 1071"/>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3</a:t>
                  </a:r>
                </a:p>
              </p:txBody>
            </p:sp>
          </p:grpSp>
          <p:grpSp>
            <p:nvGrpSpPr>
              <p:cNvPr id="23587" name="Group 1072"/>
              <p:cNvGrpSpPr>
                <a:grpSpLocks/>
              </p:cNvGrpSpPr>
              <p:nvPr/>
            </p:nvGrpSpPr>
            <p:grpSpPr bwMode="auto">
              <a:xfrm>
                <a:off x="3360" y="2112"/>
                <a:ext cx="432" cy="432"/>
                <a:chOff x="1776" y="1920"/>
                <a:chExt cx="432" cy="432"/>
              </a:xfrm>
            </p:grpSpPr>
            <p:sp>
              <p:nvSpPr>
                <p:cNvPr id="23618" name="Rectangle 1073"/>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19" name="Text Box 1074"/>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3</a:t>
                  </a:r>
                </a:p>
              </p:txBody>
            </p:sp>
          </p:grpSp>
          <p:grpSp>
            <p:nvGrpSpPr>
              <p:cNvPr id="23588" name="Group 1075"/>
              <p:cNvGrpSpPr>
                <a:grpSpLocks/>
              </p:cNvGrpSpPr>
              <p:nvPr/>
            </p:nvGrpSpPr>
            <p:grpSpPr bwMode="auto">
              <a:xfrm>
                <a:off x="1632" y="2544"/>
                <a:ext cx="432" cy="432"/>
                <a:chOff x="1776" y="1920"/>
                <a:chExt cx="432" cy="432"/>
              </a:xfrm>
            </p:grpSpPr>
            <p:sp>
              <p:nvSpPr>
                <p:cNvPr id="23616" name="Rectangle 1076"/>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17" name="Text Box 1077"/>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89" name="Group 1078"/>
              <p:cNvGrpSpPr>
                <a:grpSpLocks/>
              </p:cNvGrpSpPr>
              <p:nvPr/>
            </p:nvGrpSpPr>
            <p:grpSpPr bwMode="auto">
              <a:xfrm>
                <a:off x="2064" y="2544"/>
                <a:ext cx="432" cy="432"/>
                <a:chOff x="1776" y="1920"/>
                <a:chExt cx="432" cy="432"/>
              </a:xfrm>
            </p:grpSpPr>
            <p:sp>
              <p:nvSpPr>
                <p:cNvPr id="23614" name="Rectangle 1079"/>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15" name="Text Box 1080"/>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90" name="Group 1081"/>
              <p:cNvGrpSpPr>
                <a:grpSpLocks/>
              </p:cNvGrpSpPr>
              <p:nvPr/>
            </p:nvGrpSpPr>
            <p:grpSpPr bwMode="auto">
              <a:xfrm>
                <a:off x="2496" y="2544"/>
                <a:ext cx="432" cy="432"/>
                <a:chOff x="1776" y="1920"/>
                <a:chExt cx="432" cy="432"/>
              </a:xfrm>
            </p:grpSpPr>
            <p:sp>
              <p:nvSpPr>
                <p:cNvPr id="23612" name="Rectangle 1082"/>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13" name="Text Box 1083"/>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91" name="Group 1084"/>
              <p:cNvGrpSpPr>
                <a:grpSpLocks/>
              </p:cNvGrpSpPr>
              <p:nvPr/>
            </p:nvGrpSpPr>
            <p:grpSpPr bwMode="auto">
              <a:xfrm>
                <a:off x="2928" y="2544"/>
                <a:ext cx="432" cy="432"/>
                <a:chOff x="1776" y="1920"/>
                <a:chExt cx="432" cy="432"/>
              </a:xfrm>
            </p:grpSpPr>
            <p:sp>
              <p:nvSpPr>
                <p:cNvPr id="23610" name="Rectangle 1085"/>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11" name="Text Box 1086"/>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0</a:t>
                  </a:r>
                </a:p>
              </p:txBody>
            </p:sp>
          </p:grpSp>
          <p:grpSp>
            <p:nvGrpSpPr>
              <p:cNvPr id="23592" name="Group 1087"/>
              <p:cNvGrpSpPr>
                <a:grpSpLocks/>
              </p:cNvGrpSpPr>
              <p:nvPr/>
            </p:nvGrpSpPr>
            <p:grpSpPr bwMode="auto">
              <a:xfrm>
                <a:off x="3360" y="2544"/>
                <a:ext cx="432" cy="432"/>
                <a:chOff x="1776" y="1920"/>
                <a:chExt cx="432" cy="432"/>
              </a:xfrm>
            </p:grpSpPr>
            <p:sp>
              <p:nvSpPr>
                <p:cNvPr id="23608" name="Rectangle 1088"/>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09" name="Text Box 1089"/>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1</a:t>
                  </a:r>
                </a:p>
              </p:txBody>
            </p:sp>
          </p:grpSp>
          <p:grpSp>
            <p:nvGrpSpPr>
              <p:cNvPr id="23593" name="Group 1090"/>
              <p:cNvGrpSpPr>
                <a:grpSpLocks/>
              </p:cNvGrpSpPr>
              <p:nvPr/>
            </p:nvGrpSpPr>
            <p:grpSpPr bwMode="auto">
              <a:xfrm>
                <a:off x="1632" y="2976"/>
                <a:ext cx="432" cy="432"/>
                <a:chOff x="1776" y="1920"/>
                <a:chExt cx="432" cy="432"/>
              </a:xfrm>
            </p:grpSpPr>
            <p:sp>
              <p:nvSpPr>
                <p:cNvPr id="23606" name="Rectangle 1091"/>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07" name="Text Box 1092"/>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94" name="Group 1093"/>
              <p:cNvGrpSpPr>
                <a:grpSpLocks/>
              </p:cNvGrpSpPr>
              <p:nvPr/>
            </p:nvGrpSpPr>
            <p:grpSpPr bwMode="auto">
              <a:xfrm>
                <a:off x="2064" y="2976"/>
                <a:ext cx="432" cy="432"/>
                <a:chOff x="1776" y="1920"/>
                <a:chExt cx="432" cy="432"/>
              </a:xfrm>
            </p:grpSpPr>
            <p:sp>
              <p:nvSpPr>
                <p:cNvPr id="23604" name="Rectangle 1094"/>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05" name="Text Box 1095"/>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95" name="Group 1096"/>
              <p:cNvGrpSpPr>
                <a:grpSpLocks/>
              </p:cNvGrpSpPr>
              <p:nvPr/>
            </p:nvGrpSpPr>
            <p:grpSpPr bwMode="auto">
              <a:xfrm>
                <a:off x="2496" y="2976"/>
                <a:ext cx="432" cy="432"/>
                <a:chOff x="1776" y="1920"/>
                <a:chExt cx="432" cy="432"/>
              </a:xfrm>
            </p:grpSpPr>
            <p:sp>
              <p:nvSpPr>
                <p:cNvPr id="23602" name="Rectangle 1097"/>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03" name="Text Box 1098"/>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96" name="Group 1099"/>
              <p:cNvGrpSpPr>
                <a:grpSpLocks/>
              </p:cNvGrpSpPr>
              <p:nvPr/>
            </p:nvGrpSpPr>
            <p:grpSpPr bwMode="auto">
              <a:xfrm>
                <a:off x="2928" y="2976"/>
                <a:ext cx="432" cy="432"/>
                <a:chOff x="1776" y="1920"/>
                <a:chExt cx="432" cy="432"/>
              </a:xfrm>
            </p:grpSpPr>
            <p:sp>
              <p:nvSpPr>
                <p:cNvPr id="23600" name="Rectangle 1100"/>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601" name="Text Box 1101"/>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sz="1800"/>
                </a:p>
              </p:txBody>
            </p:sp>
          </p:grpSp>
          <p:grpSp>
            <p:nvGrpSpPr>
              <p:cNvPr id="23597" name="Group 1102"/>
              <p:cNvGrpSpPr>
                <a:grpSpLocks/>
              </p:cNvGrpSpPr>
              <p:nvPr/>
            </p:nvGrpSpPr>
            <p:grpSpPr bwMode="auto">
              <a:xfrm>
                <a:off x="3360" y="2976"/>
                <a:ext cx="432" cy="432"/>
                <a:chOff x="1776" y="1920"/>
                <a:chExt cx="432" cy="432"/>
              </a:xfrm>
            </p:grpSpPr>
            <p:sp>
              <p:nvSpPr>
                <p:cNvPr id="23598" name="Rectangle 1103"/>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3599" name="Text Box 1104"/>
                <p:cNvSpPr txBox="1">
                  <a:spLocks noChangeArrowheads="1"/>
                </p:cNvSpPr>
                <p:nvPr/>
              </p:nvSpPr>
              <p:spPr bwMode="auto">
                <a:xfrm>
                  <a:off x="1776" y="1968"/>
                  <a:ext cx="4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1800"/>
                    <a:t>0</a:t>
                  </a:r>
                </a:p>
              </p:txBody>
            </p:sp>
          </p:grpSp>
        </p:grpSp>
        <p:pic>
          <p:nvPicPr>
            <p:cNvPr id="23563" name="Picture 1105" descr="Edna Krabappe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60" y="1360"/>
              <a:ext cx="280"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4" name="Picture 110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40" y="1592"/>
              <a:ext cx="171"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5" name="Picture 1107" descr="C:\Documents and Settings\eamonn\Desktop\bios_family_marge.gi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76" y="1247"/>
              <a:ext cx="236" cy="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6" name="Picture 110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43" y="1425"/>
              <a:ext cx="320" cy="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7" name="Picture 1109"/>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40" y="1440"/>
              <a:ext cx="411"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8" name="Picture 1110" descr="Edna Krabappe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80" y="1968"/>
              <a:ext cx="280"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9" name="Picture 111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72" y="2496"/>
              <a:ext cx="171"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0" name="Picture 1112" descr="C:\Documents and Settings\eamonn\Desktop\bios_family_marge.gi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784" y="2736"/>
              <a:ext cx="236" cy="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1" name="Picture 11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6" y="3696"/>
              <a:ext cx="294"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2" name="Picture 11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 y="3264"/>
              <a:ext cx="258" cy="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3557" name="Text Box 1115"/>
          <p:cNvSpPr txBox="1">
            <a:spLocks noChangeArrowheads="1"/>
          </p:cNvSpPr>
          <p:nvPr/>
        </p:nvSpPr>
        <p:spPr bwMode="auto">
          <a:xfrm>
            <a:off x="1371600" y="4343400"/>
            <a:ext cx="2507418" cy="1494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4050"/>
              <a:t>D(  ,  ) = 8</a:t>
            </a:r>
          </a:p>
          <a:p>
            <a:pPr>
              <a:spcBef>
                <a:spcPct val="25000"/>
              </a:spcBef>
            </a:pPr>
            <a:r>
              <a:rPr lang="en-US" altLang="en-US" sz="4050"/>
              <a:t>D(  ,  ) = 1</a:t>
            </a:r>
          </a:p>
        </p:txBody>
      </p:sp>
      <p:pic>
        <p:nvPicPr>
          <p:cNvPr id="23558" name="Picture 1116" descr="Edna Krabappe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00250" y="4343401"/>
            <a:ext cx="333375" cy="722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111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0301" y="4514851"/>
            <a:ext cx="203597" cy="460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0" name="Text Box 1118"/>
          <p:cNvSpPr txBox="1">
            <a:spLocks noChangeArrowheads="1"/>
          </p:cNvSpPr>
          <p:nvPr/>
        </p:nvSpPr>
        <p:spPr bwMode="auto">
          <a:xfrm>
            <a:off x="1371601" y="1921669"/>
            <a:ext cx="2983706"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We begin with a distance matrix which contains the distances between every pair of objects in our database.</a:t>
            </a:r>
          </a:p>
        </p:txBody>
      </p:sp>
      <p:sp>
        <p:nvSpPr>
          <p:cNvPr id="23561" name="TextBox 94"/>
          <p:cNvSpPr txBox="1">
            <a:spLocks noChangeArrowheads="1"/>
          </p:cNvSpPr>
          <p:nvPr/>
        </p:nvSpPr>
        <p:spPr bwMode="auto">
          <a:xfrm>
            <a:off x="4725591" y="1094185"/>
            <a:ext cx="313739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Slide based on one by Eamonn Keogh</a:t>
            </a:r>
          </a:p>
        </p:txBody>
      </p:sp>
    </p:spTree>
    <p:extLst>
      <p:ext uri="{BB962C8B-B14F-4D97-AF65-F5344CB8AC3E}">
        <p14:creationId xmlns:p14="http://schemas.microsoft.com/office/powerpoint/2010/main" val="34884895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Text Box 1026"/>
          <p:cNvSpPr txBox="1">
            <a:spLocks noChangeArrowheads="1"/>
          </p:cNvSpPr>
          <p:nvPr/>
        </p:nvSpPr>
        <p:spPr bwMode="auto">
          <a:xfrm>
            <a:off x="1243013" y="957263"/>
            <a:ext cx="3181350" cy="1246495"/>
          </a:xfrm>
          <a:prstGeom prst="rect">
            <a:avLst/>
          </a:prstGeom>
          <a:noFill/>
          <a:ln w="9525">
            <a:noFill/>
            <a:miter lim="800000"/>
            <a:headEnd/>
            <a:tailEnd/>
          </a:ln>
          <a:effectLst/>
        </p:spPr>
        <p:txBody>
          <a:bodyPr>
            <a:spAutoFit/>
          </a:bodyPr>
          <a:lstStyle/>
          <a:p>
            <a:pPr>
              <a:defRPr/>
            </a:pPr>
            <a:r>
              <a:rPr kumimoji="1" lang="en-US" sz="1350" b="1">
                <a:solidFill>
                  <a:schemeClr val="tx2"/>
                </a:solidFill>
                <a:effectLst>
                  <a:outerShdw blurRad="38100" dist="38100" dir="2700000" algn="tl">
                    <a:srgbClr val="DDDDDD"/>
                  </a:outerShdw>
                </a:effectLst>
                <a:latin typeface="Helvetica" pitchFamily="-111" charset="0"/>
                <a:ea typeface="ＭＳ Ｐゴシック" pitchFamily="-111" charset="-128"/>
                <a:cs typeface="ＭＳ Ｐゴシック" pitchFamily="-111" charset="-128"/>
              </a:rPr>
              <a:t>Bottom-Up (</a:t>
            </a:r>
            <a:r>
              <a:rPr kumimoji="1" lang="en-US" altLang="zh-CN" sz="1350" b="1">
                <a:solidFill>
                  <a:schemeClr val="tx2"/>
                </a:solidFill>
                <a:effectLst>
                  <a:outerShdw blurRad="38100" dist="38100" dir="2700000" algn="tl">
                    <a:srgbClr val="DDDDDD"/>
                  </a:outerShdw>
                </a:effectLst>
                <a:latin typeface="Helvetica" pitchFamily="-111" charset="0"/>
                <a:ea typeface="SimSun" pitchFamily="2" charset="-122"/>
                <a:cs typeface="SimSun" pitchFamily="2" charset="-122"/>
              </a:rPr>
              <a:t>agglomerative</a:t>
            </a:r>
            <a:r>
              <a:rPr kumimoji="1" lang="en-US" sz="1350" b="1">
                <a:solidFill>
                  <a:schemeClr val="tx2"/>
                </a:solidFill>
                <a:effectLst>
                  <a:outerShdw blurRad="38100" dist="38100" dir="2700000" algn="tl">
                    <a:srgbClr val="DDDDDD"/>
                  </a:outerShdw>
                </a:effectLst>
                <a:latin typeface="Helvetica" pitchFamily="-111" charset="0"/>
                <a:ea typeface="ＭＳ Ｐゴシック" pitchFamily="-111" charset="-128"/>
                <a:cs typeface="ＭＳ Ｐゴシック" pitchFamily="-111" charset="-128"/>
              </a:rPr>
              <a:t>):</a:t>
            </a:r>
            <a:r>
              <a:rPr lang="en-US" sz="1500">
                <a:latin typeface="Arial" pitchFamily="-111" charset="0"/>
                <a:ea typeface="ＭＳ Ｐゴシック" pitchFamily="-111" charset="-128"/>
                <a:cs typeface="ＭＳ Ｐゴシック" pitchFamily="-111" charset="-128"/>
              </a:rPr>
              <a:t> Starting with each item in its own cluster, find the best pair to merge into a new cluster. Repeat until all clusters are fused together. </a:t>
            </a:r>
          </a:p>
        </p:txBody>
      </p:sp>
      <p:grpSp>
        <p:nvGrpSpPr>
          <p:cNvPr id="24579" name="Group 1027"/>
          <p:cNvGrpSpPr>
            <a:grpSpLocks/>
          </p:cNvGrpSpPr>
          <p:nvPr/>
        </p:nvGrpSpPr>
        <p:grpSpPr bwMode="auto">
          <a:xfrm>
            <a:off x="7230666" y="5124450"/>
            <a:ext cx="770334" cy="729854"/>
            <a:chOff x="1267" y="3584"/>
            <a:chExt cx="647" cy="613"/>
          </a:xfrm>
        </p:grpSpPr>
        <p:grpSp>
          <p:nvGrpSpPr>
            <p:cNvPr id="24614" name="Group 1028"/>
            <p:cNvGrpSpPr>
              <a:grpSpLocks/>
            </p:cNvGrpSpPr>
            <p:nvPr/>
          </p:nvGrpSpPr>
          <p:grpSpPr bwMode="auto">
            <a:xfrm>
              <a:off x="1267" y="3735"/>
              <a:ext cx="647" cy="462"/>
              <a:chOff x="252" y="2364"/>
              <a:chExt cx="2258" cy="1608"/>
            </a:xfrm>
          </p:grpSpPr>
          <p:pic>
            <p:nvPicPr>
              <p:cNvPr id="24618" name="Picture 10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9" name="Picture 103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4615" name="Line 1031"/>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4616" name="Line 1032"/>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4617" name="Line 1033"/>
            <p:cNvSpPr>
              <a:spLocks noChangeShapeType="1"/>
            </p:cNvSpPr>
            <p:nvPr/>
          </p:nvSpPr>
          <p:spPr bwMode="auto">
            <a:xfrm flipH="1">
              <a:off x="1426" y="3584"/>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4580" name="Group 1034"/>
          <p:cNvGrpSpPr>
            <a:grpSpLocks/>
          </p:cNvGrpSpPr>
          <p:nvPr/>
        </p:nvGrpSpPr>
        <p:grpSpPr bwMode="auto">
          <a:xfrm>
            <a:off x="2780110" y="5185173"/>
            <a:ext cx="770334" cy="729853"/>
            <a:chOff x="1165" y="3566"/>
            <a:chExt cx="647" cy="613"/>
          </a:xfrm>
        </p:grpSpPr>
        <p:grpSp>
          <p:nvGrpSpPr>
            <p:cNvPr id="24607" name="Group 1035"/>
            <p:cNvGrpSpPr>
              <a:grpSpLocks/>
            </p:cNvGrpSpPr>
            <p:nvPr/>
          </p:nvGrpSpPr>
          <p:grpSpPr bwMode="auto">
            <a:xfrm>
              <a:off x="1165" y="3717"/>
              <a:ext cx="647" cy="462"/>
              <a:chOff x="252" y="2364"/>
              <a:chExt cx="2258" cy="1608"/>
            </a:xfrm>
          </p:grpSpPr>
          <p:pic>
            <p:nvPicPr>
              <p:cNvPr id="24612" name="Picture 103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3" name="Picture 103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608" name="Group 1038"/>
            <p:cNvGrpSpPr>
              <a:grpSpLocks/>
            </p:cNvGrpSpPr>
            <p:nvPr/>
          </p:nvGrpSpPr>
          <p:grpSpPr bwMode="auto">
            <a:xfrm>
              <a:off x="1324" y="3566"/>
              <a:ext cx="314" cy="83"/>
              <a:chOff x="1324" y="3566"/>
              <a:chExt cx="314" cy="83"/>
            </a:xfrm>
          </p:grpSpPr>
          <p:sp>
            <p:nvSpPr>
              <p:cNvPr id="24609" name="Line 1039"/>
              <p:cNvSpPr>
                <a:spLocks noChangeShapeType="1"/>
              </p:cNvSpPr>
              <p:nvPr/>
            </p:nvSpPr>
            <p:spPr bwMode="auto">
              <a:xfrm flipH="1" flipV="1">
                <a:off x="1636" y="3566"/>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4610" name="Line 1040"/>
              <p:cNvSpPr>
                <a:spLocks noChangeShapeType="1"/>
              </p:cNvSpPr>
              <p:nvPr/>
            </p:nvSpPr>
            <p:spPr bwMode="auto">
              <a:xfrm flipH="1" flipV="1">
                <a:off x="1327" y="3566"/>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4611" name="Line 1041"/>
              <p:cNvSpPr>
                <a:spLocks noChangeShapeType="1"/>
              </p:cNvSpPr>
              <p:nvPr/>
            </p:nvSpPr>
            <p:spPr bwMode="auto">
              <a:xfrm flipH="1">
                <a:off x="1324" y="3566"/>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grpSp>
        <p:nvGrpSpPr>
          <p:cNvPr id="24581" name="Group 1042"/>
          <p:cNvGrpSpPr>
            <a:grpSpLocks/>
          </p:cNvGrpSpPr>
          <p:nvPr/>
        </p:nvGrpSpPr>
        <p:grpSpPr bwMode="auto">
          <a:xfrm>
            <a:off x="3613547" y="5003007"/>
            <a:ext cx="570309" cy="912019"/>
            <a:chOff x="2072" y="3380"/>
            <a:chExt cx="479" cy="802"/>
          </a:xfrm>
        </p:grpSpPr>
        <p:pic>
          <p:nvPicPr>
            <p:cNvPr id="24601" name="Picture 1043" descr="Edna Krabappe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2" name="Picture 1044"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603" name="Group 1045"/>
            <p:cNvGrpSpPr>
              <a:grpSpLocks/>
            </p:cNvGrpSpPr>
            <p:nvPr/>
          </p:nvGrpSpPr>
          <p:grpSpPr bwMode="auto">
            <a:xfrm>
              <a:off x="2170" y="3380"/>
              <a:ext cx="314" cy="185"/>
              <a:chOff x="2170" y="3380"/>
              <a:chExt cx="314" cy="185"/>
            </a:xfrm>
          </p:grpSpPr>
          <p:sp>
            <p:nvSpPr>
              <p:cNvPr id="24604" name="Line 1046"/>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4605" name="Line 1047"/>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4606" name="Line 1048"/>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grpSp>
        <p:nvGrpSpPr>
          <p:cNvPr id="24582" name="Group 1049"/>
          <p:cNvGrpSpPr>
            <a:grpSpLocks/>
          </p:cNvGrpSpPr>
          <p:nvPr/>
        </p:nvGrpSpPr>
        <p:grpSpPr bwMode="auto">
          <a:xfrm>
            <a:off x="2113361" y="4975623"/>
            <a:ext cx="582215" cy="939403"/>
            <a:chOff x="2663" y="3356"/>
            <a:chExt cx="489" cy="789"/>
          </a:xfrm>
        </p:grpSpPr>
        <p:pic>
          <p:nvPicPr>
            <p:cNvPr id="24595" name="Picture 105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014" y="3800"/>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6" name="Picture 105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63" y="3707"/>
              <a:ext cx="331"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597" name="Group 1052"/>
            <p:cNvGrpSpPr>
              <a:grpSpLocks/>
            </p:cNvGrpSpPr>
            <p:nvPr/>
          </p:nvGrpSpPr>
          <p:grpSpPr bwMode="auto">
            <a:xfrm>
              <a:off x="2758" y="3356"/>
              <a:ext cx="314" cy="209"/>
              <a:chOff x="2170" y="3380"/>
              <a:chExt cx="314" cy="185"/>
            </a:xfrm>
          </p:grpSpPr>
          <p:sp>
            <p:nvSpPr>
              <p:cNvPr id="24598" name="Line 1053"/>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4599" name="Line 1054"/>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4600" name="Line 1055"/>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grpSp>
        <p:nvGrpSpPr>
          <p:cNvPr id="24583" name="Group 1056"/>
          <p:cNvGrpSpPr>
            <a:grpSpLocks/>
          </p:cNvGrpSpPr>
          <p:nvPr/>
        </p:nvGrpSpPr>
        <p:grpSpPr bwMode="auto">
          <a:xfrm>
            <a:off x="4582717" y="4995863"/>
            <a:ext cx="611981" cy="904875"/>
            <a:chOff x="2889" y="3476"/>
            <a:chExt cx="514" cy="760"/>
          </a:xfrm>
        </p:grpSpPr>
        <p:pic>
          <p:nvPicPr>
            <p:cNvPr id="24589" name="Picture 1057"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89" y="3691"/>
              <a:ext cx="19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0" name="Picture 105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45" y="3751"/>
              <a:ext cx="25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591" name="Group 1059"/>
            <p:cNvGrpSpPr>
              <a:grpSpLocks/>
            </p:cNvGrpSpPr>
            <p:nvPr/>
          </p:nvGrpSpPr>
          <p:grpSpPr bwMode="auto">
            <a:xfrm>
              <a:off x="3010" y="3476"/>
              <a:ext cx="314" cy="195"/>
              <a:chOff x="2170" y="3380"/>
              <a:chExt cx="314" cy="185"/>
            </a:xfrm>
          </p:grpSpPr>
          <p:sp>
            <p:nvSpPr>
              <p:cNvPr id="24592" name="Line 1060"/>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4593" name="Line 1061"/>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4594" name="Line 1062"/>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sp>
        <p:nvSpPr>
          <p:cNvPr id="24584" name="Text Box 1063"/>
          <p:cNvSpPr txBox="1">
            <a:spLocks noChangeArrowheads="1"/>
          </p:cNvSpPr>
          <p:nvPr/>
        </p:nvSpPr>
        <p:spPr bwMode="auto">
          <a:xfrm>
            <a:off x="4231481" y="5317331"/>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b="1"/>
              <a:t>…</a:t>
            </a:r>
          </a:p>
        </p:txBody>
      </p:sp>
      <p:sp>
        <p:nvSpPr>
          <p:cNvPr id="24585" name="Text Box 1064"/>
          <p:cNvSpPr txBox="1">
            <a:spLocks noChangeArrowheads="1"/>
          </p:cNvSpPr>
          <p:nvPr/>
        </p:nvSpPr>
        <p:spPr bwMode="auto">
          <a:xfrm>
            <a:off x="1143001" y="5103019"/>
            <a:ext cx="1117997"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Consider all possible merges…</a:t>
            </a:r>
          </a:p>
        </p:txBody>
      </p:sp>
      <p:sp>
        <p:nvSpPr>
          <p:cNvPr id="24586" name="Text Box 1065"/>
          <p:cNvSpPr txBox="1">
            <a:spLocks noChangeArrowheads="1"/>
          </p:cNvSpPr>
          <p:nvPr/>
        </p:nvSpPr>
        <p:spPr bwMode="auto">
          <a:xfrm>
            <a:off x="5407820" y="5131594"/>
            <a:ext cx="83224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Choose the best</a:t>
            </a:r>
          </a:p>
        </p:txBody>
      </p:sp>
      <p:sp>
        <p:nvSpPr>
          <p:cNvPr id="24587" name="Rectangle 1066"/>
          <p:cNvSpPr>
            <a:spLocks noChangeArrowheads="1"/>
          </p:cNvSpPr>
          <p:nvPr/>
        </p:nvSpPr>
        <p:spPr bwMode="auto">
          <a:xfrm>
            <a:off x="1143000" y="4800601"/>
            <a:ext cx="6858000" cy="10715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4588" name="TextBox 42"/>
          <p:cNvSpPr txBox="1">
            <a:spLocks noChangeArrowheads="1"/>
          </p:cNvSpPr>
          <p:nvPr/>
        </p:nvSpPr>
        <p:spPr bwMode="auto">
          <a:xfrm>
            <a:off x="5194697" y="957264"/>
            <a:ext cx="2694384"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This slide and next 4 based on slides by Eamonn Keogh</a:t>
            </a:r>
          </a:p>
        </p:txBody>
      </p:sp>
    </p:spTree>
    <p:extLst>
      <p:ext uri="{BB962C8B-B14F-4D97-AF65-F5344CB8AC3E}">
        <p14:creationId xmlns:p14="http://schemas.microsoft.com/office/powerpoint/2010/main" val="29525677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Text Box 1026"/>
          <p:cNvSpPr txBox="1">
            <a:spLocks noChangeArrowheads="1"/>
          </p:cNvSpPr>
          <p:nvPr/>
        </p:nvSpPr>
        <p:spPr bwMode="auto">
          <a:xfrm>
            <a:off x="1243013" y="957263"/>
            <a:ext cx="3181350" cy="1246495"/>
          </a:xfrm>
          <a:prstGeom prst="rect">
            <a:avLst/>
          </a:prstGeom>
          <a:noFill/>
          <a:ln w="9525">
            <a:noFill/>
            <a:miter lim="800000"/>
            <a:headEnd/>
            <a:tailEnd/>
          </a:ln>
          <a:effectLst/>
        </p:spPr>
        <p:txBody>
          <a:bodyPr>
            <a:spAutoFit/>
          </a:bodyPr>
          <a:lstStyle/>
          <a:p>
            <a:pPr>
              <a:defRPr/>
            </a:pPr>
            <a:r>
              <a:rPr kumimoji="1" lang="en-US" sz="1350" b="1">
                <a:solidFill>
                  <a:schemeClr val="tx2"/>
                </a:solidFill>
                <a:effectLst>
                  <a:outerShdw blurRad="38100" dist="38100" dir="2700000" algn="tl">
                    <a:srgbClr val="DDDDDD"/>
                  </a:outerShdw>
                </a:effectLst>
                <a:latin typeface="Helvetica" pitchFamily="-111" charset="0"/>
                <a:ea typeface="ＭＳ Ｐゴシック" pitchFamily="-111" charset="-128"/>
                <a:cs typeface="ＭＳ Ｐゴシック" pitchFamily="-111" charset="-128"/>
              </a:rPr>
              <a:t>Bottom-Up (</a:t>
            </a:r>
            <a:r>
              <a:rPr kumimoji="1" lang="en-US" altLang="zh-CN" sz="1350" b="1">
                <a:solidFill>
                  <a:schemeClr val="tx2"/>
                </a:solidFill>
                <a:effectLst>
                  <a:outerShdw blurRad="38100" dist="38100" dir="2700000" algn="tl">
                    <a:srgbClr val="DDDDDD"/>
                  </a:outerShdw>
                </a:effectLst>
                <a:latin typeface="Helvetica" pitchFamily="-111" charset="0"/>
                <a:ea typeface="SimSun" pitchFamily="2" charset="-122"/>
                <a:cs typeface="SimSun" pitchFamily="2" charset="-122"/>
              </a:rPr>
              <a:t>agglomerative</a:t>
            </a:r>
            <a:r>
              <a:rPr kumimoji="1" lang="en-US" sz="1350" b="1">
                <a:solidFill>
                  <a:schemeClr val="tx2"/>
                </a:solidFill>
                <a:effectLst>
                  <a:outerShdw blurRad="38100" dist="38100" dir="2700000" algn="tl">
                    <a:srgbClr val="DDDDDD"/>
                  </a:outerShdw>
                </a:effectLst>
                <a:latin typeface="Helvetica" pitchFamily="-111" charset="0"/>
                <a:ea typeface="ＭＳ Ｐゴシック" pitchFamily="-111" charset="-128"/>
                <a:cs typeface="ＭＳ Ｐゴシック" pitchFamily="-111" charset="-128"/>
              </a:rPr>
              <a:t>):</a:t>
            </a:r>
            <a:r>
              <a:rPr lang="en-US" sz="1500">
                <a:latin typeface="Arial" pitchFamily="-111" charset="0"/>
                <a:ea typeface="ＭＳ Ｐゴシック" pitchFamily="-111" charset="-128"/>
                <a:cs typeface="ＭＳ Ｐゴシック" pitchFamily="-111" charset="-128"/>
              </a:rPr>
              <a:t> Starting with each item in its own cluster, find the best pair to merge into a new cluster. Repeat until all clusters are fused together. </a:t>
            </a:r>
          </a:p>
        </p:txBody>
      </p:sp>
      <p:grpSp>
        <p:nvGrpSpPr>
          <p:cNvPr id="25603" name="Group 1027"/>
          <p:cNvGrpSpPr>
            <a:grpSpLocks/>
          </p:cNvGrpSpPr>
          <p:nvPr/>
        </p:nvGrpSpPr>
        <p:grpSpPr bwMode="auto">
          <a:xfrm>
            <a:off x="7230666" y="5124450"/>
            <a:ext cx="770334" cy="729854"/>
            <a:chOff x="1267" y="3584"/>
            <a:chExt cx="647" cy="613"/>
          </a:xfrm>
        </p:grpSpPr>
        <p:grpSp>
          <p:nvGrpSpPr>
            <p:cNvPr id="25678" name="Group 1028"/>
            <p:cNvGrpSpPr>
              <a:grpSpLocks/>
            </p:cNvGrpSpPr>
            <p:nvPr/>
          </p:nvGrpSpPr>
          <p:grpSpPr bwMode="auto">
            <a:xfrm>
              <a:off x="1267" y="3735"/>
              <a:ext cx="647" cy="462"/>
              <a:chOff x="252" y="2364"/>
              <a:chExt cx="2258" cy="1608"/>
            </a:xfrm>
          </p:grpSpPr>
          <p:pic>
            <p:nvPicPr>
              <p:cNvPr id="25682" name="Picture 10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83" name="Picture 103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5679" name="Line 1031"/>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80" name="Line 1032"/>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81" name="Line 1033"/>
            <p:cNvSpPr>
              <a:spLocks noChangeShapeType="1"/>
            </p:cNvSpPr>
            <p:nvPr/>
          </p:nvSpPr>
          <p:spPr bwMode="auto">
            <a:xfrm flipH="1">
              <a:off x="1426" y="3584"/>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5604" name="Group 1034"/>
          <p:cNvGrpSpPr>
            <a:grpSpLocks/>
          </p:cNvGrpSpPr>
          <p:nvPr/>
        </p:nvGrpSpPr>
        <p:grpSpPr bwMode="auto">
          <a:xfrm>
            <a:off x="7202091" y="4206480"/>
            <a:ext cx="770334" cy="550069"/>
            <a:chOff x="252" y="2364"/>
            <a:chExt cx="2258" cy="1608"/>
          </a:xfrm>
        </p:grpSpPr>
        <p:pic>
          <p:nvPicPr>
            <p:cNvPr id="25676" name="Picture 103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77" name="Picture 103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5605" name="Line 1037"/>
          <p:cNvSpPr>
            <a:spLocks noChangeShapeType="1"/>
          </p:cNvSpPr>
          <p:nvPr/>
        </p:nvSpPr>
        <p:spPr bwMode="auto">
          <a:xfrm flipH="1" flipV="1">
            <a:off x="7762875" y="4026695"/>
            <a:ext cx="0" cy="98822"/>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06" name="Line 1038"/>
          <p:cNvSpPr>
            <a:spLocks noChangeShapeType="1"/>
          </p:cNvSpPr>
          <p:nvPr/>
        </p:nvSpPr>
        <p:spPr bwMode="auto">
          <a:xfrm flipH="1" flipV="1">
            <a:off x="7394972" y="4026695"/>
            <a:ext cx="0" cy="98822"/>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07" name="Line 1039"/>
          <p:cNvSpPr>
            <a:spLocks noChangeShapeType="1"/>
          </p:cNvSpPr>
          <p:nvPr/>
        </p:nvSpPr>
        <p:spPr bwMode="auto">
          <a:xfrm flipH="1">
            <a:off x="7391401" y="4026694"/>
            <a:ext cx="373856"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nvGrpSpPr>
          <p:cNvPr id="25608" name="Group 1040"/>
          <p:cNvGrpSpPr>
            <a:grpSpLocks/>
          </p:cNvGrpSpPr>
          <p:nvPr/>
        </p:nvGrpSpPr>
        <p:grpSpPr bwMode="auto">
          <a:xfrm>
            <a:off x="6617495" y="3920728"/>
            <a:ext cx="456010" cy="860822"/>
            <a:chOff x="4598" y="2573"/>
            <a:chExt cx="383" cy="723"/>
          </a:xfrm>
        </p:grpSpPr>
        <p:pic>
          <p:nvPicPr>
            <p:cNvPr id="25670" name="Picture 104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98" y="2956"/>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71" name="Picture 1042"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91" y="2712"/>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72" name="Group 1043"/>
            <p:cNvGrpSpPr>
              <a:grpSpLocks/>
            </p:cNvGrpSpPr>
            <p:nvPr/>
          </p:nvGrpSpPr>
          <p:grpSpPr bwMode="auto">
            <a:xfrm>
              <a:off x="4638" y="2573"/>
              <a:ext cx="315" cy="169"/>
              <a:chOff x="2112" y="2976"/>
              <a:chExt cx="703" cy="377"/>
            </a:xfrm>
          </p:grpSpPr>
          <p:sp>
            <p:nvSpPr>
              <p:cNvPr id="25673" name="Line 1044"/>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74" name="Line 1045"/>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75" name="Line 1046"/>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grpSp>
        <p:nvGrpSpPr>
          <p:cNvPr id="25609" name="Group 1047"/>
          <p:cNvGrpSpPr>
            <a:grpSpLocks/>
          </p:cNvGrpSpPr>
          <p:nvPr/>
        </p:nvGrpSpPr>
        <p:grpSpPr bwMode="auto">
          <a:xfrm>
            <a:off x="2780110" y="5185173"/>
            <a:ext cx="770334" cy="729853"/>
            <a:chOff x="1165" y="3566"/>
            <a:chExt cx="647" cy="613"/>
          </a:xfrm>
        </p:grpSpPr>
        <p:grpSp>
          <p:nvGrpSpPr>
            <p:cNvPr id="25663" name="Group 1048"/>
            <p:cNvGrpSpPr>
              <a:grpSpLocks/>
            </p:cNvGrpSpPr>
            <p:nvPr/>
          </p:nvGrpSpPr>
          <p:grpSpPr bwMode="auto">
            <a:xfrm>
              <a:off x="1165" y="3717"/>
              <a:ext cx="647" cy="462"/>
              <a:chOff x="252" y="2364"/>
              <a:chExt cx="2258" cy="1608"/>
            </a:xfrm>
          </p:grpSpPr>
          <p:pic>
            <p:nvPicPr>
              <p:cNvPr id="25668" name="Picture 104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69" name="Picture 105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664" name="Group 1051"/>
            <p:cNvGrpSpPr>
              <a:grpSpLocks/>
            </p:cNvGrpSpPr>
            <p:nvPr/>
          </p:nvGrpSpPr>
          <p:grpSpPr bwMode="auto">
            <a:xfrm>
              <a:off x="1324" y="3566"/>
              <a:ext cx="314" cy="83"/>
              <a:chOff x="1324" y="3566"/>
              <a:chExt cx="314" cy="83"/>
            </a:xfrm>
          </p:grpSpPr>
          <p:sp>
            <p:nvSpPr>
              <p:cNvPr id="25665" name="Line 1052"/>
              <p:cNvSpPr>
                <a:spLocks noChangeShapeType="1"/>
              </p:cNvSpPr>
              <p:nvPr/>
            </p:nvSpPr>
            <p:spPr bwMode="auto">
              <a:xfrm flipH="1" flipV="1">
                <a:off x="1636" y="3566"/>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66" name="Line 1053"/>
              <p:cNvSpPr>
                <a:spLocks noChangeShapeType="1"/>
              </p:cNvSpPr>
              <p:nvPr/>
            </p:nvSpPr>
            <p:spPr bwMode="auto">
              <a:xfrm flipH="1" flipV="1">
                <a:off x="1327" y="3566"/>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67" name="Line 1054"/>
              <p:cNvSpPr>
                <a:spLocks noChangeShapeType="1"/>
              </p:cNvSpPr>
              <p:nvPr/>
            </p:nvSpPr>
            <p:spPr bwMode="auto">
              <a:xfrm flipH="1">
                <a:off x="1324" y="3566"/>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pic>
        <p:nvPicPr>
          <p:cNvPr id="25610" name="Picture 105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45545" y="4310063"/>
            <a:ext cx="164306" cy="372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1" name="Line 1056"/>
          <p:cNvSpPr>
            <a:spLocks noChangeShapeType="1"/>
          </p:cNvSpPr>
          <p:nvPr/>
        </p:nvSpPr>
        <p:spPr bwMode="auto">
          <a:xfrm flipH="1" flipV="1">
            <a:off x="2528888" y="3938588"/>
            <a:ext cx="0" cy="209550"/>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12" name="Line 1057"/>
          <p:cNvSpPr>
            <a:spLocks noChangeShapeType="1"/>
          </p:cNvSpPr>
          <p:nvPr/>
        </p:nvSpPr>
        <p:spPr bwMode="auto">
          <a:xfrm flipH="1">
            <a:off x="2520555" y="3932635"/>
            <a:ext cx="564356"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5613" name="Line 1058"/>
          <p:cNvSpPr>
            <a:spLocks noChangeShapeType="1"/>
          </p:cNvSpPr>
          <p:nvPr/>
        </p:nvSpPr>
        <p:spPr bwMode="auto">
          <a:xfrm rot="5400000" flipH="1">
            <a:off x="3049191" y="3956447"/>
            <a:ext cx="7381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nvGrpSpPr>
          <p:cNvPr id="25614" name="Group 1059"/>
          <p:cNvGrpSpPr>
            <a:grpSpLocks/>
          </p:cNvGrpSpPr>
          <p:nvPr/>
        </p:nvGrpSpPr>
        <p:grpSpPr bwMode="auto">
          <a:xfrm>
            <a:off x="3613547" y="5003007"/>
            <a:ext cx="570309" cy="912019"/>
            <a:chOff x="2072" y="3380"/>
            <a:chExt cx="479" cy="802"/>
          </a:xfrm>
        </p:grpSpPr>
        <p:pic>
          <p:nvPicPr>
            <p:cNvPr id="25657" name="Picture 1060" descr="Edna Krabappel"/>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8" name="Picture 1061"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59" name="Group 1062"/>
            <p:cNvGrpSpPr>
              <a:grpSpLocks/>
            </p:cNvGrpSpPr>
            <p:nvPr/>
          </p:nvGrpSpPr>
          <p:grpSpPr bwMode="auto">
            <a:xfrm>
              <a:off x="2170" y="3380"/>
              <a:ext cx="314" cy="185"/>
              <a:chOff x="2170" y="3380"/>
              <a:chExt cx="314" cy="185"/>
            </a:xfrm>
          </p:grpSpPr>
          <p:sp>
            <p:nvSpPr>
              <p:cNvPr id="25660" name="Line 1063"/>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61" name="Line 1064"/>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62" name="Line 1065"/>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grpSp>
        <p:nvGrpSpPr>
          <p:cNvPr id="25615" name="Group 1066"/>
          <p:cNvGrpSpPr>
            <a:grpSpLocks/>
          </p:cNvGrpSpPr>
          <p:nvPr/>
        </p:nvGrpSpPr>
        <p:grpSpPr bwMode="auto">
          <a:xfrm>
            <a:off x="2113361" y="4975623"/>
            <a:ext cx="582215" cy="939403"/>
            <a:chOff x="2663" y="3356"/>
            <a:chExt cx="489" cy="789"/>
          </a:xfrm>
        </p:grpSpPr>
        <p:pic>
          <p:nvPicPr>
            <p:cNvPr id="25651" name="Picture 106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14" y="3800"/>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2" name="Picture 10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63" y="3707"/>
              <a:ext cx="331"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53" name="Group 1069"/>
            <p:cNvGrpSpPr>
              <a:grpSpLocks/>
            </p:cNvGrpSpPr>
            <p:nvPr/>
          </p:nvGrpSpPr>
          <p:grpSpPr bwMode="auto">
            <a:xfrm>
              <a:off x="2758" y="3356"/>
              <a:ext cx="314" cy="209"/>
              <a:chOff x="2170" y="3380"/>
              <a:chExt cx="314" cy="185"/>
            </a:xfrm>
          </p:grpSpPr>
          <p:sp>
            <p:nvSpPr>
              <p:cNvPr id="25654" name="Line 1070"/>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55" name="Line 1071"/>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56" name="Line 1072"/>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grpSp>
        <p:nvGrpSpPr>
          <p:cNvPr id="25616" name="Group 1073"/>
          <p:cNvGrpSpPr>
            <a:grpSpLocks/>
          </p:cNvGrpSpPr>
          <p:nvPr/>
        </p:nvGrpSpPr>
        <p:grpSpPr bwMode="auto">
          <a:xfrm>
            <a:off x="4582717" y="4995863"/>
            <a:ext cx="611981" cy="904875"/>
            <a:chOff x="2889" y="3476"/>
            <a:chExt cx="514" cy="760"/>
          </a:xfrm>
        </p:grpSpPr>
        <p:pic>
          <p:nvPicPr>
            <p:cNvPr id="25645" name="Picture 1074"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89" y="3691"/>
              <a:ext cx="19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46" name="Picture 107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45" y="3751"/>
              <a:ext cx="25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47" name="Group 1076"/>
            <p:cNvGrpSpPr>
              <a:grpSpLocks/>
            </p:cNvGrpSpPr>
            <p:nvPr/>
          </p:nvGrpSpPr>
          <p:grpSpPr bwMode="auto">
            <a:xfrm>
              <a:off x="3010" y="3476"/>
              <a:ext cx="314" cy="195"/>
              <a:chOff x="2170" y="3380"/>
              <a:chExt cx="314" cy="185"/>
            </a:xfrm>
          </p:grpSpPr>
          <p:sp>
            <p:nvSpPr>
              <p:cNvPr id="25648" name="Line 1077"/>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49" name="Line 1078"/>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50" name="Line 1079"/>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sp>
        <p:nvSpPr>
          <p:cNvPr id="25617" name="Text Box 1080"/>
          <p:cNvSpPr txBox="1">
            <a:spLocks noChangeArrowheads="1"/>
          </p:cNvSpPr>
          <p:nvPr/>
        </p:nvSpPr>
        <p:spPr bwMode="auto">
          <a:xfrm>
            <a:off x="4231481" y="5317331"/>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b="1"/>
              <a:t>…</a:t>
            </a:r>
          </a:p>
        </p:txBody>
      </p:sp>
      <p:sp>
        <p:nvSpPr>
          <p:cNvPr id="25618" name="Text Box 1081"/>
          <p:cNvSpPr txBox="1">
            <a:spLocks noChangeArrowheads="1"/>
          </p:cNvSpPr>
          <p:nvPr/>
        </p:nvSpPr>
        <p:spPr bwMode="auto">
          <a:xfrm>
            <a:off x="1143001" y="5103019"/>
            <a:ext cx="1117997"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Consider all possible merges…</a:t>
            </a:r>
          </a:p>
        </p:txBody>
      </p:sp>
      <p:sp>
        <p:nvSpPr>
          <p:cNvPr id="25619" name="Text Box 1082"/>
          <p:cNvSpPr txBox="1">
            <a:spLocks noChangeArrowheads="1"/>
          </p:cNvSpPr>
          <p:nvPr/>
        </p:nvSpPr>
        <p:spPr bwMode="auto">
          <a:xfrm>
            <a:off x="5407820" y="5131594"/>
            <a:ext cx="83224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Choose the best</a:t>
            </a:r>
          </a:p>
        </p:txBody>
      </p:sp>
      <p:sp>
        <p:nvSpPr>
          <p:cNvPr id="25620" name="Rectangle 1083"/>
          <p:cNvSpPr>
            <a:spLocks noChangeArrowheads="1"/>
          </p:cNvSpPr>
          <p:nvPr/>
        </p:nvSpPr>
        <p:spPr bwMode="auto">
          <a:xfrm>
            <a:off x="1143000" y="4800601"/>
            <a:ext cx="6858000" cy="10715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5621" name="Rectangle 1084"/>
          <p:cNvSpPr>
            <a:spLocks noChangeArrowheads="1"/>
          </p:cNvSpPr>
          <p:nvPr/>
        </p:nvSpPr>
        <p:spPr bwMode="auto">
          <a:xfrm>
            <a:off x="1143000" y="3700464"/>
            <a:ext cx="6858000" cy="10715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5622" name="Text Box 1085"/>
          <p:cNvSpPr txBox="1">
            <a:spLocks noChangeArrowheads="1"/>
          </p:cNvSpPr>
          <p:nvPr/>
        </p:nvSpPr>
        <p:spPr bwMode="auto">
          <a:xfrm>
            <a:off x="1143001" y="3924300"/>
            <a:ext cx="1117997"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Consider all possible merges…</a:t>
            </a:r>
          </a:p>
        </p:txBody>
      </p:sp>
      <p:grpSp>
        <p:nvGrpSpPr>
          <p:cNvPr id="25623" name="Group 1086"/>
          <p:cNvGrpSpPr>
            <a:grpSpLocks/>
          </p:cNvGrpSpPr>
          <p:nvPr/>
        </p:nvGrpSpPr>
        <p:grpSpPr bwMode="auto">
          <a:xfrm>
            <a:off x="2730104" y="3995737"/>
            <a:ext cx="770334" cy="729854"/>
            <a:chOff x="1267" y="3584"/>
            <a:chExt cx="647" cy="613"/>
          </a:xfrm>
        </p:grpSpPr>
        <p:grpSp>
          <p:nvGrpSpPr>
            <p:cNvPr id="25639" name="Group 1087"/>
            <p:cNvGrpSpPr>
              <a:grpSpLocks/>
            </p:cNvGrpSpPr>
            <p:nvPr/>
          </p:nvGrpSpPr>
          <p:grpSpPr bwMode="auto">
            <a:xfrm>
              <a:off x="1267" y="3735"/>
              <a:ext cx="647" cy="462"/>
              <a:chOff x="252" y="2364"/>
              <a:chExt cx="2258" cy="1608"/>
            </a:xfrm>
          </p:grpSpPr>
          <p:pic>
            <p:nvPicPr>
              <p:cNvPr id="25643" name="Picture 108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44" name="Picture 108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5640" name="Line 1090"/>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41" name="Line 1091"/>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42" name="Line 1092"/>
            <p:cNvSpPr>
              <a:spLocks noChangeShapeType="1"/>
            </p:cNvSpPr>
            <p:nvPr/>
          </p:nvSpPr>
          <p:spPr bwMode="auto">
            <a:xfrm flipH="1">
              <a:off x="1426" y="3584"/>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pic>
        <p:nvPicPr>
          <p:cNvPr id="25624" name="Picture 109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38551" y="4312444"/>
            <a:ext cx="164306" cy="372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25" name="Picture 1094"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68342" y="4021931"/>
            <a:ext cx="226219"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26" name="Group 1095"/>
          <p:cNvGrpSpPr>
            <a:grpSpLocks/>
          </p:cNvGrpSpPr>
          <p:nvPr/>
        </p:nvGrpSpPr>
        <p:grpSpPr bwMode="auto">
          <a:xfrm>
            <a:off x="3686176" y="3856436"/>
            <a:ext cx="375047" cy="201215"/>
            <a:chOff x="2112" y="2976"/>
            <a:chExt cx="703" cy="377"/>
          </a:xfrm>
        </p:grpSpPr>
        <p:sp>
          <p:nvSpPr>
            <p:cNvPr id="25636" name="Line 1096"/>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37" name="Line 1097"/>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38" name="Line 1098"/>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5627" name="Group 1099"/>
          <p:cNvGrpSpPr>
            <a:grpSpLocks/>
          </p:cNvGrpSpPr>
          <p:nvPr/>
        </p:nvGrpSpPr>
        <p:grpSpPr bwMode="auto">
          <a:xfrm>
            <a:off x="4599385" y="3852864"/>
            <a:ext cx="570309" cy="912019"/>
            <a:chOff x="2072" y="3380"/>
            <a:chExt cx="479" cy="802"/>
          </a:xfrm>
        </p:grpSpPr>
        <p:pic>
          <p:nvPicPr>
            <p:cNvPr id="25630" name="Picture 1100" descr="Edna Krabappel"/>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1" name="Picture 1101"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32" name="Group 1102"/>
            <p:cNvGrpSpPr>
              <a:grpSpLocks/>
            </p:cNvGrpSpPr>
            <p:nvPr/>
          </p:nvGrpSpPr>
          <p:grpSpPr bwMode="auto">
            <a:xfrm>
              <a:off x="2170" y="3380"/>
              <a:ext cx="314" cy="185"/>
              <a:chOff x="2170" y="3380"/>
              <a:chExt cx="314" cy="185"/>
            </a:xfrm>
          </p:grpSpPr>
          <p:sp>
            <p:nvSpPr>
              <p:cNvPr id="25633" name="Line 1103"/>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34" name="Line 1104"/>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5635" name="Line 1105"/>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sp>
        <p:nvSpPr>
          <p:cNvPr id="25628" name="Text Box 1106"/>
          <p:cNvSpPr txBox="1">
            <a:spLocks noChangeArrowheads="1"/>
          </p:cNvSpPr>
          <p:nvPr/>
        </p:nvSpPr>
        <p:spPr bwMode="auto">
          <a:xfrm>
            <a:off x="4181475" y="4245769"/>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b="1"/>
              <a:t>…</a:t>
            </a:r>
          </a:p>
        </p:txBody>
      </p:sp>
      <p:sp>
        <p:nvSpPr>
          <p:cNvPr id="25629" name="Text Box 1107"/>
          <p:cNvSpPr txBox="1">
            <a:spLocks noChangeArrowheads="1"/>
          </p:cNvSpPr>
          <p:nvPr/>
        </p:nvSpPr>
        <p:spPr bwMode="auto">
          <a:xfrm>
            <a:off x="5407820" y="4017169"/>
            <a:ext cx="83224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Choose the best</a:t>
            </a:r>
          </a:p>
        </p:txBody>
      </p:sp>
    </p:spTree>
    <p:extLst>
      <p:ext uri="{BB962C8B-B14F-4D97-AF65-F5344CB8AC3E}">
        <p14:creationId xmlns:p14="http://schemas.microsoft.com/office/powerpoint/2010/main" val="26541867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1026"/>
          <p:cNvSpPr txBox="1">
            <a:spLocks noChangeArrowheads="1"/>
          </p:cNvSpPr>
          <p:nvPr/>
        </p:nvSpPr>
        <p:spPr bwMode="auto">
          <a:xfrm>
            <a:off x="1243013" y="957263"/>
            <a:ext cx="3181350" cy="1246495"/>
          </a:xfrm>
          <a:prstGeom prst="rect">
            <a:avLst/>
          </a:prstGeom>
          <a:noFill/>
          <a:ln w="9525">
            <a:noFill/>
            <a:miter lim="800000"/>
            <a:headEnd/>
            <a:tailEnd/>
          </a:ln>
          <a:effectLst/>
        </p:spPr>
        <p:txBody>
          <a:bodyPr>
            <a:spAutoFit/>
          </a:bodyPr>
          <a:lstStyle/>
          <a:p>
            <a:pPr>
              <a:defRPr/>
            </a:pPr>
            <a:r>
              <a:rPr kumimoji="1" lang="en-US" sz="1350" b="1">
                <a:solidFill>
                  <a:schemeClr val="tx2"/>
                </a:solidFill>
                <a:effectLst>
                  <a:outerShdw blurRad="38100" dist="38100" dir="2700000" algn="tl">
                    <a:srgbClr val="DDDDDD"/>
                  </a:outerShdw>
                </a:effectLst>
                <a:latin typeface="Helvetica" pitchFamily="-111" charset="0"/>
                <a:ea typeface="ＭＳ Ｐゴシック" pitchFamily="-111" charset="-128"/>
                <a:cs typeface="ＭＳ Ｐゴシック" pitchFamily="-111" charset="-128"/>
              </a:rPr>
              <a:t>Bottom-Up (</a:t>
            </a:r>
            <a:r>
              <a:rPr kumimoji="1" lang="en-US" altLang="zh-CN" sz="1350" b="1">
                <a:solidFill>
                  <a:schemeClr val="tx2"/>
                </a:solidFill>
                <a:effectLst>
                  <a:outerShdw blurRad="38100" dist="38100" dir="2700000" algn="tl">
                    <a:srgbClr val="DDDDDD"/>
                  </a:outerShdw>
                </a:effectLst>
                <a:latin typeface="Helvetica" pitchFamily="-111" charset="0"/>
                <a:ea typeface="SimSun" pitchFamily="2" charset="-122"/>
                <a:cs typeface="SimSun" pitchFamily="2" charset="-122"/>
              </a:rPr>
              <a:t>agglomerative</a:t>
            </a:r>
            <a:r>
              <a:rPr kumimoji="1" lang="en-US" sz="1350" b="1">
                <a:solidFill>
                  <a:schemeClr val="tx2"/>
                </a:solidFill>
                <a:effectLst>
                  <a:outerShdw blurRad="38100" dist="38100" dir="2700000" algn="tl">
                    <a:srgbClr val="DDDDDD"/>
                  </a:outerShdw>
                </a:effectLst>
                <a:latin typeface="Helvetica" pitchFamily="-111" charset="0"/>
                <a:ea typeface="ＭＳ Ｐゴシック" pitchFamily="-111" charset="-128"/>
                <a:cs typeface="ＭＳ Ｐゴシック" pitchFamily="-111" charset="-128"/>
              </a:rPr>
              <a:t>):</a:t>
            </a:r>
            <a:r>
              <a:rPr lang="en-US" sz="1500">
                <a:latin typeface="Arial" pitchFamily="-111" charset="0"/>
                <a:ea typeface="ＭＳ Ｐゴシック" pitchFamily="-111" charset="-128"/>
                <a:cs typeface="ＭＳ Ｐゴシック" pitchFamily="-111" charset="-128"/>
              </a:rPr>
              <a:t> Starting with each item in its own cluster, find the best pair to merge into a new cluster. Repeat until all clusters are fused together. </a:t>
            </a:r>
          </a:p>
        </p:txBody>
      </p:sp>
      <p:grpSp>
        <p:nvGrpSpPr>
          <p:cNvPr id="26627" name="Group 1027"/>
          <p:cNvGrpSpPr>
            <a:grpSpLocks/>
          </p:cNvGrpSpPr>
          <p:nvPr/>
        </p:nvGrpSpPr>
        <p:grpSpPr bwMode="auto">
          <a:xfrm>
            <a:off x="7230666" y="5124450"/>
            <a:ext cx="770334" cy="729854"/>
            <a:chOff x="1267" y="3584"/>
            <a:chExt cx="647" cy="613"/>
          </a:xfrm>
        </p:grpSpPr>
        <p:grpSp>
          <p:nvGrpSpPr>
            <p:cNvPr id="26750" name="Group 1028"/>
            <p:cNvGrpSpPr>
              <a:grpSpLocks/>
            </p:cNvGrpSpPr>
            <p:nvPr/>
          </p:nvGrpSpPr>
          <p:grpSpPr bwMode="auto">
            <a:xfrm>
              <a:off x="1267" y="3735"/>
              <a:ext cx="647" cy="462"/>
              <a:chOff x="252" y="2364"/>
              <a:chExt cx="2258" cy="1608"/>
            </a:xfrm>
          </p:grpSpPr>
          <p:pic>
            <p:nvPicPr>
              <p:cNvPr id="26754" name="Picture 10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55" name="Picture 103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751" name="Line 1031"/>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752" name="Line 1032"/>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753" name="Line 1033"/>
            <p:cNvSpPr>
              <a:spLocks noChangeShapeType="1"/>
            </p:cNvSpPr>
            <p:nvPr/>
          </p:nvSpPr>
          <p:spPr bwMode="auto">
            <a:xfrm flipH="1">
              <a:off x="1426" y="3584"/>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6628" name="Group 1034"/>
          <p:cNvGrpSpPr>
            <a:grpSpLocks/>
          </p:cNvGrpSpPr>
          <p:nvPr/>
        </p:nvGrpSpPr>
        <p:grpSpPr bwMode="auto">
          <a:xfrm>
            <a:off x="7202091" y="4206480"/>
            <a:ext cx="770334" cy="550069"/>
            <a:chOff x="252" y="2364"/>
            <a:chExt cx="2258" cy="1608"/>
          </a:xfrm>
        </p:grpSpPr>
        <p:pic>
          <p:nvPicPr>
            <p:cNvPr id="26748" name="Picture 103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49" name="Picture 103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629" name="Line 1037"/>
          <p:cNvSpPr>
            <a:spLocks noChangeShapeType="1"/>
          </p:cNvSpPr>
          <p:nvPr/>
        </p:nvSpPr>
        <p:spPr bwMode="auto">
          <a:xfrm flipH="1" flipV="1">
            <a:off x="7762875" y="4026695"/>
            <a:ext cx="0" cy="98822"/>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630" name="Line 1038"/>
          <p:cNvSpPr>
            <a:spLocks noChangeShapeType="1"/>
          </p:cNvSpPr>
          <p:nvPr/>
        </p:nvSpPr>
        <p:spPr bwMode="auto">
          <a:xfrm flipH="1" flipV="1">
            <a:off x="7394972" y="4026695"/>
            <a:ext cx="0" cy="98822"/>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631" name="Line 1039"/>
          <p:cNvSpPr>
            <a:spLocks noChangeShapeType="1"/>
          </p:cNvSpPr>
          <p:nvPr/>
        </p:nvSpPr>
        <p:spPr bwMode="auto">
          <a:xfrm flipH="1">
            <a:off x="7391401" y="4026694"/>
            <a:ext cx="373856"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nvGrpSpPr>
          <p:cNvPr id="26632" name="Group 1040"/>
          <p:cNvGrpSpPr>
            <a:grpSpLocks/>
          </p:cNvGrpSpPr>
          <p:nvPr/>
        </p:nvGrpSpPr>
        <p:grpSpPr bwMode="auto">
          <a:xfrm>
            <a:off x="6617495" y="3920728"/>
            <a:ext cx="456010" cy="860822"/>
            <a:chOff x="4598" y="2573"/>
            <a:chExt cx="383" cy="723"/>
          </a:xfrm>
        </p:grpSpPr>
        <p:pic>
          <p:nvPicPr>
            <p:cNvPr id="26742" name="Picture 104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98" y="2956"/>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43" name="Picture 1042"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91" y="2712"/>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744" name="Group 1043"/>
            <p:cNvGrpSpPr>
              <a:grpSpLocks/>
            </p:cNvGrpSpPr>
            <p:nvPr/>
          </p:nvGrpSpPr>
          <p:grpSpPr bwMode="auto">
            <a:xfrm>
              <a:off x="4638" y="2573"/>
              <a:ext cx="315" cy="169"/>
              <a:chOff x="2112" y="2976"/>
              <a:chExt cx="703" cy="377"/>
            </a:xfrm>
          </p:grpSpPr>
          <p:sp>
            <p:nvSpPr>
              <p:cNvPr id="26745" name="Line 1044"/>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746" name="Line 1045"/>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747" name="Line 1046"/>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grpSp>
        <p:nvGrpSpPr>
          <p:cNvPr id="26633" name="Group 1047"/>
          <p:cNvGrpSpPr>
            <a:grpSpLocks/>
          </p:cNvGrpSpPr>
          <p:nvPr/>
        </p:nvGrpSpPr>
        <p:grpSpPr bwMode="auto">
          <a:xfrm>
            <a:off x="6610351" y="2578895"/>
            <a:ext cx="1354931" cy="998935"/>
            <a:chOff x="746" y="1753"/>
            <a:chExt cx="1138" cy="839"/>
          </a:xfrm>
        </p:grpSpPr>
        <p:pic>
          <p:nvPicPr>
            <p:cNvPr id="26727" name="Picture 104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6" y="2252"/>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28" name="Picture 1049"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9" y="200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729" name="Group 1050"/>
            <p:cNvGrpSpPr>
              <a:grpSpLocks/>
            </p:cNvGrpSpPr>
            <p:nvPr/>
          </p:nvGrpSpPr>
          <p:grpSpPr bwMode="auto">
            <a:xfrm>
              <a:off x="1237" y="2109"/>
              <a:ext cx="647" cy="462"/>
              <a:chOff x="252" y="2364"/>
              <a:chExt cx="2258" cy="1608"/>
            </a:xfrm>
          </p:grpSpPr>
          <p:pic>
            <p:nvPicPr>
              <p:cNvPr id="26740" name="Picture 105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41" name="Picture 105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730" name="Line 1053"/>
            <p:cNvSpPr>
              <a:spLocks noChangeShapeType="1"/>
            </p:cNvSpPr>
            <p:nvPr/>
          </p:nvSpPr>
          <p:spPr bwMode="auto">
            <a:xfrm flipH="1" flipV="1">
              <a:off x="1708" y="1958"/>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731" name="Line 1054"/>
            <p:cNvSpPr>
              <a:spLocks noChangeShapeType="1"/>
            </p:cNvSpPr>
            <p:nvPr/>
          </p:nvSpPr>
          <p:spPr bwMode="auto">
            <a:xfrm flipH="1" flipV="1">
              <a:off x="1399" y="1958"/>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732" name="Line 1055"/>
            <p:cNvSpPr>
              <a:spLocks noChangeShapeType="1"/>
            </p:cNvSpPr>
            <p:nvPr/>
          </p:nvSpPr>
          <p:spPr bwMode="auto">
            <a:xfrm flipH="1">
              <a:off x="1396" y="1958"/>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6733" name="Line 1056"/>
            <p:cNvSpPr>
              <a:spLocks noChangeShapeType="1"/>
            </p:cNvSpPr>
            <p:nvPr/>
          </p:nvSpPr>
          <p:spPr bwMode="auto">
            <a:xfrm flipH="1">
              <a:off x="936" y="1753"/>
              <a:ext cx="61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6734" name="Line 1057"/>
            <p:cNvSpPr>
              <a:spLocks noChangeShapeType="1"/>
            </p:cNvSpPr>
            <p:nvPr/>
          </p:nvSpPr>
          <p:spPr bwMode="auto">
            <a:xfrm rot="5400000" flipH="1">
              <a:off x="1450" y="1858"/>
              <a:ext cx="20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nvGrpSpPr>
            <p:cNvPr id="26735" name="Group 1058"/>
            <p:cNvGrpSpPr>
              <a:grpSpLocks/>
            </p:cNvGrpSpPr>
            <p:nvPr/>
          </p:nvGrpSpPr>
          <p:grpSpPr bwMode="auto">
            <a:xfrm>
              <a:off x="786" y="1869"/>
              <a:ext cx="315" cy="169"/>
              <a:chOff x="2112" y="2976"/>
              <a:chExt cx="703" cy="377"/>
            </a:xfrm>
          </p:grpSpPr>
          <p:sp>
            <p:nvSpPr>
              <p:cNvPr id="26737" name="Line 1059"/>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738" name="Line 1060"/>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739" name="Line 1061"/>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6736" name="Line 1062"/>
            <p:cNvSpPr>
              <a:spLocks noChangeShapeType="1"/>
            </p:cNvSpPr>
            <p:nvPr/>
          </p:nvSpPr>
          <p:spPr bwMode="auto">
            <a:xfrm rot="5400000" flipH="1">
              <a:off x="878" y="1814"/>
              <a:ext cx="11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6634" name="Group 1063"/>
          <p:cNvGrpSpPr>
            <a:grpSpLocks/>
          </p:cNvGrpSpPr>
          <p:nvPr/>
        </p:nvGrpSpPr>
        <p:grpSpPr bwMode="auto">
          <a:xfrm>
            <a:off x="2780110" y="5185173"/>
            <a:ext cx="770334" cy="729853"/>
            <a:chOff x="1165" y="3566"/>
            <a:chExt cx="647" cy="613"/>
          </a:xfrm>
        </p:grpSpPr>
        <p:grpSp>
          <p:nvGrpSpPr>
            <p:cNvPr id="26720" name="Group 1064"/>
            <p:cNvGrpSpPr>
              <a:grpSpLocks/>
            </p:cNvGrpSpPr>
            <p:nvPr/>
          </p:nvGrpSpPr>
          <p:grpSpPr bwMode="auto">
            <a:xfrm>
              <a:off x="1165" y="3717"/>
              <a:ext cx="647" cy="462"/>
              <a:chOff x="252" y="2364"/>
              <a:chExt cx="2258" cy="1608"/>
            </a:xfrm>
          </p:grpSpPr>
          <p:pic>
            <p:nvPicPr>
              <p:cNvPr id="26725" name="Picture 106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26" name="Picture 106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721" name="Group 1067"/>
            <p:cNvGrpSpPr>
              <a:grpSpLocks/>
            </p:cNvGrpSpPr>
            <p:nvPr/>
          </p:nvGrpSpPr>
          <p:grpSpPr bwMode="auto">
            <a:xfrm>
              <a:off x="1324" y="3566"/>
              <a:ext cx="314" cy="83"/>
              <a:chOff x="1324" y="3566"/>
              <a:chExt cx="314" cy="83"/>
            </a:xfrm>
          </p:grpSpPr>
          <p:sp>
            <p:nvSpPr>
              <p:cNvPr id="26722" name="Line 1068"/>
              <p:cNvSpPr>
                <a:spLocks noChangeShapeType="1"/>
              </p:cNvSpPr>
              <p:nvPr/>
            </p:nvSpPr>
            <p:spPr bwMode="auto">
              <a:xfrm flipH="1" flipV="1">
                <a:off x="1636" y="3566"/>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723" name="Line 1069"/>
              <p:cNvSpPr>
                <a:spLocks noChangeShapeType="1"/>
              </p:cNvSpPr>
              <p:nvPr/>
            </p:nvSpPr>
            <p:spPr bwMode="auto">
              <a:xfrm flipH="1" flipV="1">
                <a:off x="1327" y="3566"/>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724" name="Line 1070"/>
              <p:cNvSpPr>
                <a:spLocks noChangeShapeType="1"/>
              </p:cNvSpPr>
              <p:nvPr/>
            </p:nvSpPr>
            <p:spPr bwMode="auto">
              <a:xfrm flipH="1">
                <a:off x="1324" y="3566"/>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pic>
        <p:nvPicPr>
          <p:cNvPr id="26635" name="Picture 107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45545" y="4310063"/>
            <a:ext cx="164306" cy="372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6" name="Line 1072"/>
          <p:cNvSpPr>
            <a:spLocks noChangeShapeType="1"/>
          </p:cNvSpPr>
          <p:nvPr/>
        </p:nvSpPr>
        <p:spPr bwMode="auto">
          <a:xfrm flipH="1" flipV="1">
            <a:off x="2528888" y="3938588"/>
            <a:ext cx="0" cy="209550"/>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637" name="Line 1073"/>
          <p:cNvSpPr>
            <a:spLocks noChangeShapeType="1"/>
          </p:cNvSpPr>
          <p:nvPr/>
        </p:nvSpPr>
        <p:spPr bwMode="auto">
          <a:xfrm flipH="1">
            <a:off x="2520555" y="3932635"/>
            <a:ext cx="564356"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6638" name="Line 1074"/>
          <p:cNvSpPr>
            <a:spLocks noChangeShapeType="1"/>
          </p:cNvSpPr>
          <p:nvPr/>
        </p:nvSpPr>
        <p:spPr bwMode="auto">
          <a:xfrm rot="5400000" flipH="1">
            <a:off x="3049191" y="3956447"/>
            <a:ext cx="7381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nvGrpSpPr>
          <p:cNvPr id="26639" name="Group 1075"/>
          <p:cNvGrpSpPr>
            <a:grpSpLocks/>
          </p:cNvGrpSpPr>
          <p:nvPr/>
        </p:nvGrpSpPr>
        <p:grpSpPr bwMode="auto">
          <a:xfrm>
            <a:off x="3613547" y="5003007"/>
            <a:ext cx="570309" cy="912019"/>
            <a:chOff x="2072" y="3380"/>
            <a:chExt cx="479" cy="802"/>
          </a:xfrm>
        </p:grpSpPr>
        <p:pic>
          <p:nvPicPr>
            <p:cNvPr id="26714" name="Picture 1076" descr="Edna Krabappel"/>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15" name="Picture 1077"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716" name="Group 1078"/>
            <p:cNvGrpSpPr>
              <a:grpSpLocks/>
            </p:cNvGrpSpPr>
            <p:nvPr/>
          </p:nvGrpSpPr>
          <p:grpSpPr bwMode="auto">
            <a:xfrm>
              <a:off x="2170" y="3380"/>
              <a:ext cx="314" cy="185"/>
              <a:chOff x="2170" y="3380"/>
              <a:chExt cx="314" cy="185"/>
            </a:xfrm>
          </p:grpSpPr>
          <p:sp>
            <p:nvSpPr>
              <p:cNvPr id="26717" name="Line 1079"/>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718" name="Line 1080"/>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719" name="Line 1081"/>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grpSp>
        <p:nvGrpSpPr>
          <p:cNvPr id="26640" name="Group 1082"/>
          <p:cNvGrpSpPr>
            <a:grpSpLocks/>
          </p:cNvGrpSpPr>
          <p:nvPr/>
        </p:nvGrpSpPr>
        <p:grpSpPr bwMode="auto">
          <a:xfrm>
            <a:off x="2113361" y="4975623"/>
            <a:ext cx="582215" cy="939403"/>
            <a:chOff x="2663" y="3356"/>
            <a:chExt cx="489" cy="789"/>
          </a:xfrm>
        </p:grpSpPr>
        <p:pic>
          <p:nvPicPr>
            <p:cNvPr id="26708" name="Picture 108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14" y="3800"/>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09" name="Picture 108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63" y="3707"/>
              <a:ext cx="331"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710" name="Group 1085"/>
            <p:cNvGrpSpPr>
              <a:grpSpLocks/>
            </p:cNvGrpSpPr>
            <p:nvPr/>
          </p:nvGrpSpPr>
          <p:grpSpPr bwMode="auto">
            <a:xfrm>
              <a:off x="2758" y="3356"/>
              <a:ext cx="314" cy="209"/>
              <a:chOff x="2170" y="3380"/>
              <a:chExt cx="314" cy="185"/>
            </a:xfrm>
          </p:grpSpPr>
          <p:sp>
            <p:nvSpPr>
              <p:cNvPr id="26711" name="Line 1086"/>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712" name="Line 1087"/>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713" name="Line 1088"/>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grpSp>
        <p:nvGrpSpPr>
          <p:cNvPr id="26641" name="Group 1089"/>
          <p:cNvGrpSpPr>
            <a:grpSpLocks/>
          </p:cNvGrpSpPr>
          <p:nvPr/>
        </p:nvGrpSpPr>
        <p:grpSpPr bwMode="auto">
          <a:xfrm>
            <a:off x="4582717" y="4995863"/>
            <a:ext cx="611981" cy="904875"/>
            <a:chOff x="2889" y="3476"/>
            <a:chExt cx="514" cy="760"/>
          </a:xfrm>
        </p:grpSpPr>
        <p:pic>
          <p:nvPicPr>
            <p:cNvPr id="26702" name="Picture 1090"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89" y="3691"/>
              <a:ext cx="19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03" name="Picture 109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45" y="3751"/>
              <a:ext cx="25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704" name="Group 1092"/>
            <p:cNvGrpSpPr>
              <a:grpSpLocks/>
            </p:cNvGrpSpPr>
            <p:nvPr/>
          </p:nvGrpSpPr>
          <p:grpSpPr bwMode="auto">
            <a:xfrm>
              <a:off x="3010" y="3476"/>
              <a:ext cx="314" cy="195"/>
              <a:chOff x="2170" y="3380"/>
              <a:chExt cx="314" cy="185"/>
            </a:xfrm>
          </p:grpSpPr>
          <p:sp>
            <p:nvSpPr>
              <p:cNvPr id="26705" name="Line 1093"/>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706" name="Line 1094"/>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707" name="Line 1095"/>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sp>
        <p:nvSpPr>
          <p:cNvPr id="26642" name="Text Box 1096"/>
          <p:cNvSpPr txBox="1">
            <a:spLocks noChangeArrowheads="1"/>
          </p:cNvSpPr>
          <p:nvPr/>
        </p:nvSpPr>
        <p:spPr bwMode="auto">
          <a:xfrm>
            <a:off x="4231481" y="5317331"/>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b="1"/>
              <a:t>…</a:t>
            </a:r>
          </a:p>
        </p:txBody>
      </p:sp>
      <p:sp>
        <p:nvSpPr>
          <p:cNvPr id="26643" name="Text Box 1097"/>
          <p:cNvSpPr txBox="1">
            <a:spLocks noChangeArrowheads="1"/>
          </p:cNvSpPr>
          <p:nvPr/>
        </p:nvSpPr>
        <p:spPr bwMode="auto">
          <a:xfrm>
            <a:off x="1143001" y="5103019"/>
            <a:ext cx="1117997"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Consider all possible merges…</a:t>
            </a:r>
          </a:p>
        </p:txBody>
      </p:sp>
      <p:sp>
        <p:nvSpPr>
          <p:cNvPr id="26644" name="Text Box 1098"/>
          <p:cNvSpPr txBox="1">
            <a:spLocks noChangeArrowheads="1"/>
          </p:cNvSpPr>
          <p:nvPr/>
        </p:nvSpPr>
        <p:spPr bwMode="auto">
          <a:xfrm>
            <a:off x="5407820" y="5131594"/>
            <a:ext cx="83224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Choose the best</a:t>
            </a:r>
          </a:p>
        </p:txBody>
      </p:sp>
      <p:sp>
        <p:nvSpPr>
          <p:cNvPr id="26645" name="Rectangle 1099"/>
          <p:cNvSpPr>
            <a:spLocks noChangeArrowheads="1"/>
          </p:cNvSpPr>
          <p:nvPr/>
        </p:nvSpPr>
        <p:spPr bwMode="auto">
          <a:xfrm>
            <a:off x="1143000" y="4800601"/>
            <a:ext cx="6858000" cy="10715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6646" name="Rectangle 1100"/>
          <p:cNvSpPr>
            <a:spLocks noChangeArrowheads="1"/>
          </p:cNvSpPr>
          <p:nvPr/>
        </p:nvSpPr>
        <p:spPr bwMode="auto">
          <a:xfrm>
            <a:off x="1143000" y="3700464"/>
            <a:ext cx="6858000" cy="10715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6647" name="Rectangle 1101"/>
          <p:cNvSpPr>
            <a:spLocks noChangeArrowheads="1"/>
          </p:cNvSpPr>
          <p:nvPr/>
        </p:nvSpPr>
        <p:spPr bwMode="auto">
          <a:xfrm>
            <a:off x="1143000" y="2357439"/>
            <a:ext cx="6858000" cy="10715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6648" name="Text Box 1102"/>
          <p:cNvSpPr txBox="1">
            <a:spLocks noChangeArrowheads="1"/>
          </p:cNvSpPr>
          <p:nvPr/>
        </p:nvSpPr>
        <p:spPr bwMode="auto">
          <a:xfrm>
            <a:off x="1143001" y="3924300"/>
            <a:ext cx="1117997"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Consider all possible merges…</a:t>
            </a:r>
          </a:p>
        </p:txBody>
      </p:sp>
      <p:grpSp>
        <p:nvGrpSpPr>
          <p:cNvPr id="26649" name="Group 1103"/>
          <p:cNvGrpSpPr>
            <a:grpSpLocks/>
          </p:cNvGrpSpPr>
          <p:nvPr/>
        </p:nvGrpSpPr>
        <p:grpSpPr bwMode="auto">
          <a:xfrm>
            <a:off x="2730104" y="3995737"/>
            <a:ext cx="770334" cy="729854"/>
            <a:chOff x="1267" y="3584"/>
            <a:chExt cx="647" cy="613"/>
          </a:xfrm>
        </p:grpSpPr>
        <p:grpSp>
          <p:nvGrpSpPr>
            <p:cNvPr id="26696" name="Group 1104"/>
            <p:cNvGrpSpPr>
              <a:grpSpLocks/>
            </p:cNvGrpSpPr>
            <p:nvPr/>
          </p:nvGrpSpPr>
          <p:grpSpPr bwMode="auto">
            <a:xfrm>
              <a:off x="1267" y="3735"/>
              <a:ext cx="647" cy="462"/>
              <a:chOff x="252" y="2364"/>
              <a:chExt cx="2258" cy="1608"/>
            </a:xfrm>
          </p:grpSpPr>
          <p:pic>
            <p:nvPicPr>
              <p:cNvPr id="26700" name="Picture 110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01" name="Picture 110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697" name="Line 1107"/>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698" name="Line 1108"/>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699" name="Line 1109"/>
            <p:cNvSpPr>
              <a:spLocks noChangeShapeType="1"/>
            </p:cNvSpPr>
            <p:nvPr/>
          </p:nvSpPr>
          <p:spPr bwMode="auto">
            <a:xfrm flipH="1">
              <a:off x="1426" y="3584"/>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pic>
        <p:nvPicPr>
          <p:cNvPr id="26650" name="Picture 11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38551" y="4312444"/>
            <a:ext cx="164306" cy="372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51" name="Picture 1111"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68342" y="4021931"/>
            <a:ext cx="226219"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652" name="Group 1112"/>
          <p:cNvGrpSpPr>
            <a:grpSpLocks/>
          </p:cNvGrpSpPr>
          <p:nvPr/>
        </p:nvGrpSpPr>
        <p:grpSpPr bwMode="auto">
          <a:xfrm>
            <a:off x="3686176" y="3856436"/>
            <a:ext cx="375047" cy="201215"/>
            <a:chOff x="2112" y="2976"/>
            <a:chExt cx="703" cy="377"/>
          </a:xfrm>
        </p:grpSpPr>
        <p:sp>
          <p:nvSpPr>
            <p:cNvPr id="26693" name="Line 1113"/>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694" name="Line 1114"/>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695" name="Line 1115"/>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6653" name="Group 1116"/>
          <p:cNvGrpSpPr>
            <a:grpSpLocks/>
          </p:cNvGrpSpPr>
          <p:nvPr/>
        </p:nvGrpSpPr>
        <p:grpSpPr bwMode="auto">
          <a:xfrm>
            <a:off x="4599385" y="3852864"/>
            <a:ext cx="570309" cy="912019"/>
            <a:chOff x="2072" y="3380"/>
            <a:chExt cx="479" cy="802"/>
          </a:xfrm>
        </p:grpSpPr>
        <p:pic>
          <p:nvPicPr>
            <p:cNvPr id="26687" name="Picture 1117" descr="Edna Krabappel"/>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88" name="Picture 1118"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689" name="Group 1119"/>
            <p:cNvGrpSpPr>
              <a:grpSpLocks/>
            </p:cNvGrpSpPr>
            <p:nvPr/>
          </p:nvGrpSpPr>
          <p:grpSpPr bwMode="auto">
            <a:xfrm>
              <a:off x="2170" y="3380"/>
              <a:ext cx="314" cy="185"/>
              <a:chOff x="2170" y="3380"/>
              <a:chExt cx="314" cy="185"/>
            </a:xfrm>
          </p:grpSpPr>
          <p:sp>
            <p:nvSpPr>
              <p:cNvPr id="26690" name="Line 1120"/>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691" name="Line 1121"/>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692" name="Line 1122"/>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sp>
        <p:nvSpPr>
          <p:cNvPr id="26654" name="Text Box 1123"/>
          <p:cNvSpPr txBox="1">
            <a:spLocks noChangeArrowheads="1"/>
          </p:cNvSpPr>
          <p:nvPr/>
        </p:nvSpPr>
        <p:spPr bwMode="auto">
          <a:xfrm>
            <a:off x="4181475" y="4245769"/>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b="1"/>
              <a:t>…</a:t>
            </a:r>
          </a:p>
        </p:txBody>
      </p:sp>
      <p:sp>
        <p:nvSpPr>
          <p:cNvPr id="26655" name="Text Box 1124"/>
          <p:cNvSpPr txBox="1">
            <a:spLocks noChangeArrowheads="1"/>
          </p:cNvSpPr>
          <p:nvPr/>
        </p:nvSpPr>
        <p:spPr bwMode="auto">
          <a:xfrm>
            <a:off x="5407820" y="4017169"/>
            <a:ext cx="83224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Choose the best</a:t>
            </a:r>
          </a:p>
        </p:txBody>
      </p:sp>
      <p:sp>
        <p:nvSpPr>
          <p:cNvPr id="26656" name="Text Box 1125"/>
          <p:cNvSpPr txBox="1">
            <a:spLocks noChangeArrowheads="1"/>
          </p:cNvSpPr>
          <p:nvPr/>
        </p:nvSpPr>
        <p:spPr bwMode="auto">
          <a:xfrm>
            <a:off x="1143001" y="2767013"/>
            <a:ext cx="1117997"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Consider all possible merges…</a:t>
            </a:r>
          </a:p>
        </p:txBody>
      </p:sp>
      <p:grpSp>
        <p:nvGrpSpPr>
          <p:cNvPr id="26657" name="Group 1126"/>
          <p:cNvGrpSpPr>
            <a:grpSpLocks/>
          </p:cNvGrpSpPr>
          <p:nvPr/>
        </p:nvGrpSpPr>
        <p:grpSpPr bwMode="auto">
          <a:xfrm>
            <a:off x="2466976" y="2657476"/>
            <a:ext cx="1354931" cy="998935"/>
            <a:chOff x="746" y="1753"/>
            <a:chExt cx="1138" cy="839"/>
          </a:xfrm>
        </p:grpSpPr>
        <p:pic>
          <p:nvPicPr>
            <p:cNvPr id="26672" name="Picture 112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6" y="2252"/>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73" name="Picture 1128"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9" y="200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674" name="Group 1129"/>
            <p:cNvGrpSpPr>
              <a:grpSpLocks/>
            </p:cNvGrpSpPr>
            <p:nvPr/>
          </p:nvGrpSpPr>
          <p:grpSpPr bwMode="auto">
            <a:xfrm>
              <a:off x="1237" y="2109"/>
              <a:ext cx="647" cy="462"/>
              <a:chOff x="252" y="2364"/>
              <a:chExt cx="2258" cy="1608"/>
            </a:xfrm>
          </p:grpSpPr>
          <p:pic>
            <p:nvPicPr>
              <p:cNvPr id="26685" name="Picture 113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86" name="Picture 113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675" name="Line 1132"/>
            <p:cNvSpPr>
              <a:spLocks noChangeShapeType="1"/>
            </p:cNvSpPr>
            <p:nvPr/>
          </p:nvSpPr>
          <p:spPr bwMode="auto">
            <a:xfrm flipH="1" flipV="1">
              <a:off x="1708" y="1958"/>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676" name="Line 1133"/>
            <p:cNvSpPr>
              <a:spLocks noChangeShapeType="1"/>
            </p:cNvSpPr>
            <p:nvPr/>
          </p:nvSpPr>
          <p:spPr bwMode="auto">
            <a:xfrm flipH="1" flipV="1">
              <a:off x="1399" y="1958"/>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677" name="Line 1134"/>
            <p:cNvSpPr>
              <a:spLocks noChangeShapeType="1"/>
            </p:cNvSpPr>
            <p:nvPr/>
          </p:nvSpPr>
          <p:spPr bwMode="auto">
            <a:xfrm flipH="1">
              <a:off x="1396" y="1958"/>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6678" name="Line 1135"/>
            <p:cNvSpPr>
              <a:spLocks noChangeShapeType="1"/>
            </p:cNvSpPr>
            <p:nvPr/>
          </p:nvSpPr>
          <p:spPr bwMode="auto">
            <a:xfrm flipH="1">
              <a:off x="936" y="1753"/>
              <a:ext cx="61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6679" name="Line 1136"/>
            <p:cNvSpPr>
              <a:spLocks noChangeShapeType="1"/>
            </p:cNvSpPr>
            <p:nvPr/>
          </p:nvSpPr>
          <p:spPr bwMode="auto">
            <a:xfrm rot="5400000" flipH="1">
              <a:off x="1450" y="1858"/>
              <a:ext cx="20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nvGrpSpPr>
            <p:cNvPr id="26680" name="Group 1137"/>
            <p:cNvGrpSpPr>
              <a:grpSpLocks/>
            </p:cNvGrpSpPr>
            <p:nvPr/>
          </p:nvGrpSpPr>
          <p:grpSpPr bwMode="auto">
            <a:xfrm>
              <a:off x="786" y="1869"/>
              <a:ext cx="315" cy="169"/>
              <a:chOff x="2112" y="2976"/>
              <a:chExt cx="703" cy="377"/>
            </a:xfrm>
          </p:grpSpPr>
          <p:sp>
            <p:nvSpPr>
              <p:cNvPr id="26682" name="Line 1138"/>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683" name="Line 1139"/>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684" name="Line 1140"/>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6681" name="Line 1141"/>
            <p:cNvSpPr>
              <a:spLocks noChangeShapeType="1"/>
            </p:cNvSpPr>
            <p:nvPr/>
          </p:nvSpPr>
          <p:spPr bwMode="auto">
            <a:xfrm rot="5400000" flipH="1">
              <a:off x="878" y="1814"/>
              <a:ext cx="11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6658" name="Group 1142"/>
          <p:cNvGrpSpPr>
            <a:grpSpLocks/>
          </p:cNvGrpSpPr>
          <p:nvPr/>
        </p:nvGrpSpPr>
        <p:grpSpPr bwMode="auto">
          <a:xfrm>
            <a:off x="4281487" y="2740820"/>
            <a:ext cx="1062038" cy="845344"/>
            <a:chOff x="2342" y="1528"/>
            <a:chExt cx="892" cy="710"/>
          </a:xfrm>
        </p:grpSpPr>
        <p:sp>
          <p:nvSpPr>
            <p:cNvPr id="26661" name="Line 1143"/>
            <p:cNvSpPr>
              <a:spLocks noChangeShapeType="1"/>
            </p:cNvSpPr>
            <p:nvPr/>
          </p:nvSpPr>
          <p:spPr bwMode="auto">
            <a:xfrm flipH="1" flipV="1">
              <a:off x="2418" y="1544"/>
              <a:ext cx="0" cy="176"/>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662" name="Line 1144"/>
            <p:cNvSpPr>
              <a:spLocks noChangeShapeType="1"/>
            </p:cNvSpPr>
            <p:nvPr/>
          </p:nvSpPr>
          <p:spPr bwMode="auto">
            <a:xfrm flipH="1">
              <a:off x="2411" y="1539"/>
              <a:ext cx="47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6663" name="Line 1145"/>
            <p:cNvSpPr>
              <a:spLocks noChangeShapeType="1"/>
            </p:cNvSpPr>
            <p:nvPr/>
          </p:nvSpPr>
          <p:spPr bwMode="auto">
            <a:xfrm rot="5400000" flipH="1">
              <a:off x="2855" y="1559"/>
              <a:ext cx="6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nvGrpSpPr>
            <p:cNvPr id="26664" name="Group 1146"/>
            <p:cNvGrpSpPr>
              <a:grpSpLocks/>
            </p:cNvGrpSpPr>
            <p:nvPr/>
          </p:nvGrpSpPr>
          <p:grpSpPr bwMode="auto">
            <a:xfrm>
              <a:off x="2587" y="1592"/>
              <a:ext cx="647" cy="613"/>
              <a:chOff x="1267" y="3584"/>
              <a:chExt cx="647" cy="613"/>
            </a:xfrm>
          </p:grpSpPr>
          <p:grpSp>
            <p:nvGrpSpPr>
              <p:cNvPr id="26666" name="Group 1147"/>
              <p:cNvGrpSpPr>
                <a:grpSpLocks/>
              </p:cNvGrpSpPr>
              <p:nvPr/>
            </p:nvGrpSpPr>
            <p:grpSpPr bwMode="auto">
              <a:xfrm>
                <a:off x="1267" y="3735"/>
                <a:ext cx="647" cy="462"/>
                <a:chOff x="252" y="2364"/>
                <a:chExt cx="2258" cy="1608"/>
              </a:xfrm>
            </p:grpSpPr>
            <p:pic>
              <p:nvPicPr>
                <p:cNvPr id="26670" name="Picture 114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71" name="Picture 114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667" name="Line 1150"/>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668" name="Line 1151"/>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6669" name="Line 1152"/>
              <p:cNvSpPr>
                <a:spLocks noChangeShapeType="1"/>
              </p:cNvSpPr>
              <p:nvPr/>
            </p:nvSpPr>
            <p:spPr bwMode="auto">
              <a:xfrm flipH="1">
                <a:off x="1426" y="3584"/>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pic>
          <p:nvPicPr>
            <p:cNvPr id="26665" name="Picture 1153" descr="Edna Krabappel"/>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342" y="175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659" name="Text Box 1154"/>
          <p:cNvSpPr txBox="1">
            <a:spLocks noChangeArrowheads="1"/>
          </p:cNvSpPr>
          <p:nvPr/>
        </p:nvSpPr>
        <p:spPr bwMode="auto">
          <a:xfrm>
            <a:off x="5407820" y="2874169"/>
            <a:ext cx="83224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Choose the best</a:t>
            </a:r>
          </a:p>
        </p:txBody>
      </p:sp>
      <p:sp>
        <p:nvSpPr>
          <p:cNvPr id="26660" name="Text Box 1155"/>
          <p:cNvSpPr txBox="1">
            <a:spLocks noChangeArrowheads="1"/>
          </p:cNvSpPr>
          <p:nvPr/>
        </p:nvSpPr>
        <p:spPr bwMode="auto">
          <a:xfrm>
            <a:off x="3867150" y="3074194"/>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b="1"/>
              <a:t>…</a:t>
            </a:r>
          </a:p>
        </p:txBody>
      </p:sp>
    </p:spTree>
    <p:extLst>
      <p:ext uri="{BB962C8B-B14F-4D97-AF65-F5344CB8AC3E}">
        <p14:creationId xmlns:p14="http://schemas.microsoft.com/office/powerpoint/2010/main" val="2690314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0" name="Group 2"/>
          <p:cNvGrpSpPr>
            <a:grpSpLocks/>
          </p:cNvGrpSpPr>
          <p:nvPr/>
        </p:nvGrpSpPr>
        <p:grpSpPr bwMode="auto">
          <a:xfrm>
            <a:off x="6146007" y="1019176"/>
            <a:ext cx="1712119" cy="1216819"/>
            <a:chOff x="98" y="300"/>
            <a:chExt cx="3214" cy="2284"/>
          </a:xfrm>
        </p:grpSpPr>
        <p:pic>
          <p:nvPicPr>
            <p:cNvPr id="27781" name="Picture 3" descr="Edna Krabappe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 y="1440"/>
              <a:ext cx="504" cy="1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82"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8" y="1824"/>
              <a:ext cx="308" cy="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83" name="Picture 5" descr="C:\Documents and Settings\eamonn\Desktop\bios_family_marge.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00" y="1278"/>
              <a:ext cx="424" cy="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784" name="Group 6"/>
            <p:cNvGrpSpPr>
              <a:grpSpLocks/>
            </p:cNvGrpSpPr>
            <p:nvPr/>
          </p:nvGrpSpPr>
          <p:grpSpPr bwMode="auto">
            <a:xfrm>
              <a:off x="1865" y="1505"/>
              <a:ext cx="1447" cy="1031"/>
              <a:chOff x="252" y="2364"/>
              <a:chExt cx="2258" cy="1608"/>
            </a:xfrm>
          </p:grpSpPr>
          <p:pic>
            <p:nvPicPr>
              <p:cNvPr id="27799"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00"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785" name="Line 9"/>
            <p:cNvSpPr>
              <a:spLocks noChangeShapeType="1"/>
            </p:cNvSpPr>
            <p:nvPr/>
          </p:nvSpPr>
          <p:spPr bwMode="auto">
            <a:xfrm flipH="1" flipV="1">
              <a:off x="255" y="444"/>
              <a:ext cx="0" cy="90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86" name="Line 10"/>
            <p:cNvSpPr>
              <a:spLocks noChangeShapeType="1"/>
            </p:cNvSpPr>
            <p:nvPr/>
          </p:nvSpPr>
          <p:spPr bwMode="auto">
            <a:xfrm flipH="1" flipV="1">
              <a:off x="2919" y="1167"/>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87" name="Line 11"/>
            <p:cNvSpPr>
              <a:spLocks noChangeShapeType="1"/>
            </p:cNvSpPr>
            <p:nvPr/>
          </p:nvSpPr>
          <p:spPr bwMode="auto">
            <a:xfrm flipH="1" flipV="1">
              <a:off x="2227" y="1167"/>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88" name="Line 12"/>
            <p:cNvSpPr>
              <a:spLocks noChangeShapeType="1"/>
            </p:cNvSpPr>
            <p:nvPr/>
          </p:nvSpPr>
          <p:spPr bwMode="auto">
            <a:xfrm flipH="1">
              <a:off x="2221" y="1167"/>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7789" name="Line 13"/>
            <p:cNvSpPr>
              <a:spLocks noChangeShapeType="1"/>
            </p:cNvSpPr>
            <p:nvPr/>
          </p:nvSpPr>
          <p:spPr bwMode="auto">
            <a:xfrm flipH="1">
              <a:off x="1193" y="710"/>
              <a:ext cx="138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7790" name="Line 14"/>
            <p:cNvSpPr>
              <a:spLocks noChangeShapeType="1"/>
            </p:cNvSpPr>
            <p:nvPr/>
          </p:nvSpPr>
          <p:spPr bwMode="auto">
            <a:xfrm rot="5400000" flipH="1">
              <a:off x="2343" y="943"/>
              <a:ext cx="457"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7791" name="Line 15"/>
            <p:cNvSpPr>
              <a:spLocks noChangeShapeType="1"/>
            </p:cNvSpPr>
            <p:nvPr/>
          </p:nvSpPr>
          <p:spPr bwMode="auto">
            <a:xfrm rot="5400000" flipH="1">
              <a:off x="1712" y="574"/>
              <a:ext cx="26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nvGrpSpPr>
            <p:cNvPr id="27792" name="Group 16"/>
            <p:cNvGrpSpPr>
              <a:grpSpLocks/>
            </p:cNvGrpSpPr>
            <p:nvPr/>
          </p:nvGrpSpPr>
          <p:grpSpPr bwMode="auto">
            <a:xfrm>
              <a:off x="859" y="969"/>
              <a:ext cx="703" cy="377"/>
              <a:chOff x="2112" y="2976"/>
              <a:chExt cx="703" cy="377"/>
            </a:xfrm>
          </p:grpSpPr>
          <p:sp>
            <p:nvSpPr>
              <p:cNvPr id="27796" name="Line 17"/>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97" name="Line 18"/>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98" name="Line 19"/>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7793" name="Line 20"/>
            <p:cNvSpPr>
              <a:spLocks noChangeShapeType="1"/>
            </p:cNvSpPr>
            <p:nvPr/>
          </p:nvSpPr>
          <p:spPr bwMode="auto">
            <a:xfrm rot="5400000" flipH="1">
              <a:off x="1065" y="844"/>
              <a:ext cx="25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7794" name="Line 21"/>
            <p:cNvSpPr>
              <a:spLocks noChangeShapeType="1"/>
            </p:cNvSpPr>
            <p:nvPr/>
          </p:nvSpPr>
          <p:spPr bwMode="auto">
            <a:xfrm flipH="1">
              <a:off x="253" y="446"/>
              <a:ext cx="158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7795" name="Line 22"/>
            <p:cNvSpPr>
              <a:spLocks noChangeShapeType="1"/>
            </p:cNvSpPr>
            <p:nvPr/>
          </p:nvSpPr>
          <p:spPr bwMode="auto">
            <a:xfrm rot="5400000" flipH="1">
              <a:off x="989" y="370"/>
              <a:ext cx="13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18135" name="Text Box 23"/>
          <p:cNvSpPr txBox="1">
            <a:spLocks noChangeArrowheads="1"/>
          </p:cNvSpPr>
          <p:nvPr/>
        </p:nvSpPr>
        <p:spPr bwMode="auto">
          <a:xfrm>
            <a:off x="1243013" y="957263"/>
            <a:ext cx="3181350" cy="1246495"/>
          </a:xfrm>
          <a:prstGeom prst="rect">
            <a:avLst/>
          </a:prstGeom>
          <a:noFill/>
          <a:ln w="9525">
            <a:noFill/>
            <a:miter lim="800000"/>
            <a:headEnd/>
            <a:tailEnd/>
          </a:ln>
          <a:effectLst/>
        </p:spPr>
        <p:txBody>
          <a:bodyPr>
            <a:spAutoFit/>
          </a:bodyPr>
          <a:lstStyle/>
          <a:p>
            <a:pPr>
              <a:defRPr/>
            </a:pPr>
            <a:r>
              <a:rPr kumimoji="1" lang="en-US" sz="1350" b="1">
                <a:solidFill>
                  <a:schemeClr val="tx2"/>
                </a:solidFill>
                <a:effectLst>
                  <a:outerShdw blurRad="38100" dist="38100" dir="2700000" algn="tl">
                    <a:srgbClr val="DDDDDD"/>
                  </a:outerShdw>
                </a:effectLst>
                <a:latin typeface="Helvetica" pitchFamily="-111" charset="0"/>
                <a:ea typeface="ＭＳ Ｐゴシック" pitchFamily="-111" charset="-128"/>
                <a:cs typeface="ＭＳ Ｐゴシック" pitchFamily="-111" charset="-128"/>
              </a:rPr>
              <a:t>Bottom-Up (</a:t>
            </a:r>
            <a:r>
              <a:rPr kumimoji="1" lang="en-US" altLang="zh-CN" sz="1350" b="1">
                <a:solidFill>
                  <a:schemeClr val="tx2"/>
                </a:solidFill>
                <a:effectLst>
                  <a:outerShdw blurRad="38100" dist="38100" dir="2700000" algn="tl">
                    <a:srgbClr val="DDDDDD"/>
                  </a:outerShdw>
                </a:effectLst>
                <a:latin typeface="Helvetica" pitchFamily="-111" charset="0"/>
                <a:ea typeface="SimSun" pitchFamily="2" charset="-122"/>
                <a:cs typeface="SimSun" pitchFamily="2" charset="-122"/>
              </a:rPr>
              <a:t>agglomerative</a:t>
            </a:r>
            <a:r>
              <a:rPr kumimoji="1" lang="en-US" sz="1350" b="1">
                <a:solidFill>
                  <a:schemeClr val="tx2"/>
                </a:solidFill>
                <a:effectLst>
                  <a:outerShdw blurRad="38100" dist="38100" dir="2700000" algn="tl">
                    <a:srgbClr val="DDDDDD"/>
                  </a:outerShdw>
                </a:effectLst>
                <a:latin typeface="Helvetica" pitchFamily="-111" charset="0"/>
                <a:ea typeface="ＭＳ Ｐゴシック" pitchFamily="-111" charset="-128"/>
                <a:cs typeface="ＭＳ Ｐゴシック" pitchFamily="-111" charset="-128"/>
              </a:rPr>
              <a:t>):</a:t>
            </a:r>
            <a:r>
              <a:rPr lang="en-US" sz="1500">
                <a:latin typeface="Arial" pitchFamily="-111" charset="0"/>
                <a:ea typeface="ＭＳ Ｐゴシック" pitchFamily="-111" charset="-128"/>
                <a:cs typeface="ＭＳ Ｐゴシック" pitchFamily="-111" charset="-128"/>
              </a:rPr>
              <a:t> Starting with each item in its own cluster, find the best pair to merge into a new cluster. Repeat until all clusters are fused together. </a:t>
            </a:r>
          </a:p>
        </p:txBody>
      </p:sp>
      <p:grpSp>
        <p:nvGrpSpPr>
          <p:cNvPr id="27652" name="Group 24"/>
          <p:cNvGrpSpPr>
            <a:grpSpLocks/>
          </p:cNvGrpSpPr>
          <p:nvPr/>
        </p:nvGrpSpPr>
        <p:grpSpPr bwMode="auto">
          <a:xfrm>
            <a:off x="7230666" y="5124450"/>
            <a:ext cx="770334" cy="729854"/>
            <a:chOff x="1267" y="3584"/>
            <a:chExt cx="647" cy="613"/>
          </a:xfrm>
        </p:grpSpPr>
        <p:grpSp>
          <p:nvGrpSpPr>
            <p:cNvPr id="27775" name="Group 25"/>
            <p:cNvGrpSpPr>
              <a:grpSpLocks/>
            </p:cNvGrpSpPr>
            <p:nvPr/>
          </p:nvGrpSpPr>
          <p:grpSpPr bwMode="auto">
            <a:xfrm>
              <a:off x="1267" y="3735"/>
              <a:ext cx="647" cy="462"/>
              <a:chOff x="252" y="2364"/>
              <a:chExt cx="2258" cy="1608"/>
            </a:xfrm>
          </p:grpSpPr>
          <p:pic>
            <p:nvPicPr>
              <p:cNvPr id="27779" name="Picture 2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80" name="Picture 2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776" name="Line 28"/>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77" name="Line 29"/>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78" name="Line 30"/>
            <p:cNvSpPr>
              <a:spLocks noChangeShapeType="1"/>
            </p:cNvSpPr>
            <p:nvPr/>
          </p:nvSpPr>
          <p:spPr bwMode="auto">
            <a:xfrm flipH="1">
              <a:off x="1426" y="3584"/>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7653" name="Group 31"/>
          <p:cNvGrpSpPr>
            <a:grpSpLocks/>
          </p:cNvGrpSpPr>
          <p:nvPr/>
        </p:nvGrpSpPr>
        <p:grpSpPr bwMode="auto">
          <a:xfrm>
            <a:off x="7202091" y="4206480"/>
            <a:ext cx="770334" cy="550069"/>
            <a:chOff x="252" y="2364"/>
            <a:chExt cx="2258" cy="1608"/>
          </a:xfrm>
        </p:grpSpPr>
        <p:pic>
          <p:nvPicPr>
            <p:cNvPr id="27773" name="Picture 3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74" name="Picture 3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654" name="Line 34"/>
          <p:cNvSpPr>
            <a:spLocks noChangeShapeType="1"/>
          </p:cNvSpPr>
          <p:nvPr/>
        </p:nvSpPr>
        <p:spPr bwMode="auto">
          <a:xfrm flipH="1" flipV="1">
            <a:off x="7762875" y="4026695"/>
            <a:ext cx="0" cy="98822"/>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655" name="Line 35"/>
          <p:cNvSpPr>
            <a:spLocks noChangeShapeType="1"/>
          </p:cNvSpPr>
          <p:nvPr/>
        </p:nvSpPr>
        <p:spPr bwMode="auto">
          <a:xfrm flipH="1" flipV="1">
            <a:off x="7394972" y="4026695"/>
            <a:ext cx="0" cy="98822"/>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656" name="Line 36"/>
          <p:cNvSpPr>
            <a:spLocks noChangeShapeType="1"/>
          </p:cNvSpPr>
          <p:nvPr/>
        </p:nvSpPr>
        <p:spPr bwMode="auto">
          <a:xfrm flipH="1">
            <a:off x="7391401" y="4026694"/>
            <a:ext cx="373856"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nvGrpSpPr>
          <p:cNvPr id="27657" name="Group 37"/>
          <p:cNvGrpSpPr>
            <a:grpSpLocks/>
          </p:cNvGrpSpPr>
          <p:nvPr/>
        </p:nvGrpSpPr>
        <p:grpSpPr bwMode="auto">
          <a:xfrm>
            <a:off x="6617495" y="3920728"/>
            <a:ext cx="456010" cy="860822"/>
            <a:chOff x="4598" y="2573"/>
            <a:chExt cx="383" cy="723"/>
          </a:xfrm>
        </p:grpSpPr>
        <p:pic>
          <p:nvPicPr>
            <p:cNvPr id="27767" name="Picture 3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98" y="2956"/>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68" name="Picture 39" descr="C:\Documents and Settings\eamonn\Desktop\bios_family_marge.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91" y="2712"/>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769" name="Group 40"/>
            <p:cNvGrpSpPr>
              <a:grpSpLocks/>
            </p:cNvGrpSpPr>
            <p:nvPr/>
          </p:nvGrpSpPr>
          <p:grpSpPr bwMode="auto">
            <a:xfrm>
              <a:off x="4638" y="2573"/>
              <a:ext cx="315" cy="169"/>
              <a:chOff x="2112" y="2976"/>
              <a:chExt cx="703" cy="377"/>
            </a:xfrm>
          </p:grpSpPr>
          <p:sp>
            <p:nvSpPr>
              <p:cNvPr id="27770" name="Line 41"/>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71" name="Line 42"/>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72" name="Line 43"/>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grpSp>
        <p:nvGrpSpPr>
          <p:cNvPr id="27658" name="Group 44"/>
          <p:cNvGrpSpPr>
            <a:grpSpLocks/>
          </p:cNvGrpSpPr>
          <p:nvPr/>
        </p:nvGrpSpPr>
        <p:grpSpPr bwMode="auto">
          <a:xfrm>
            <a:off x="6610351" y="2578895"/>
            <a:ext cx="1354931" cy="998935"/>
            <a:chOff x="746" y="1753"/>
            <a:chExt cx="1138" cy="839"/>
          </a:xfrm>
        </p:grpSpPr>
        <p:pic>
          <p:nvPicPr>
            <p:cNvPr id="27752" name="Picture 4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6" y="2252"/>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3" name="Picture 46" descr="C:\Documents and Settings\eamonn\Desktop\bios_family_marge.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9" y="200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754" name="Group 47"/>
            <p:cNvGrpSpPr>
              <a:grpSpLocks/>
            </p:cNvGrpSpPr>
            <p:nvPr/>
          </p:nvGrpSpPr>
          <p:grpSpPr bwMode="auto">
            <a:xfrm>
              <a:off x="1237" y="2109"/>
              <a:ext cx="647" cy="462"/>
              <a:chOff x="252" y="2364"/>
              <a:chExt cx="2258" cy="1608"/>
            </a:xfrm>
          </p:grpSpPr>
          <p:pic>
            <p:nvPicPr>
              <p:cNvPr id="27765" name="Picture 4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66" name="Picture 4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755" name="Line 50"/>
            <p:cNvSpPr>
              <a:spLocks noChangeShapeType="1"/>
            </p:cNvSpPr>
            <p:nvPr/>
          </p:nvSpPr>
          <p:spPr bwMode="auto">
            <a:xfrm flipH="1" flipV="1">
              <a:off x="1708" y="1958"/>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56" name="Line 51"/>
            <p:cNvSpPr>
              <a:spLocks noChangeShapeType="1"/>
            </p:cNvSpPr>
            <p:nvPr/>
          </p:nvSpPr>
          <p:spPr bwMode="auto">
            <a:xfrm flipH="1" flipV="1">
              <a:off x="1399" y="1958"/>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57" name="Line 52"/>
            <p:cNvSpPr>
              <a:spLocks noChangeShapeType="1"/>
            </p:cNvSpPr>
            <p:nvPr/>
          </p:nvSpPr>
          <p:spPr bwMode="auto">
            <a:xfrm flipH="1">
              <a:off x="1396" y="1958"/>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7758" name="Line 53"/>
            <p:cNvSpPr>
              <a:spLocks noChangeShapeType="1"/>
            </p:cNvSpPr>
            <p:nvPr/>
          </p:nvSpPr>
          <p:spPr bwMode="auto">
            <a:xfrm flipH="1">
              <a:off x="936" y="1753"/>
              <a:ext cx="61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7759" name="Line 54"/>
            <p:cNvSpPr>
              <a:spLocks noChangeShapeType="1"/>
            </p:cNvSpPr>
            <p:nvPr/>
          </p:nvSpPr>
          <p:spPr bwMode="auto">
            <a:xfrm rot="5400000" flipH="1">
              <a:off x="1450" y="1858"/>
              <a:ext cx="20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nvGrpSpPr>
            <p:cNvPr id="27760" name="Group 55"/>
            <p:cNvGrpSpPr>
              <a:grpSpLocks/>
            </p:cNvGrpSpPr>
            <p:nvPr/>
          </p:nvGrpSpPr>
          <p:grpSpPr bwMode="auto">
            <a:xfrm>
              <a:off x="786" y="1869"/>
              <a:ext cx="315" cy="169"/>
              <a:chOff x="2112" y="2976"/>
              <a:chExt cx="703" cy="377"/>
            </a:xfrm>
          </p:grpSpPr>
          <p:sp>
            <p:nvSpPr>
              <p:cNvPr id="27762" name="Line 56"/>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63" name="Line 57"/>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64" name="Line 58"/>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7761" name="Line 59"/>
            <p:cNvSpPr>
              <a:spLocks noChangeShapeType="1"/>
            </p:cNvSpPr>
            <p:nvPr/>
          </p:nvSpPr>
          <p:spPr bwMode="auto">
            <a:xfrm rot="5400000" flipH="1">
              <a:off x="878" y="1814"/>
              <a:ext cx="11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7659" name="Group 60"/>
          <p:cNvGrpSpPr>
            <a:grpSpLocks/>
          </p:cNvGrpSpPr>
          <p:nvPr/>
        </p:nvGrpSpPr>
        <p:grpSpPr bwMode="auto">
          <a:xfrm>
            <a:off x="2780110" y="5185173"/>
            <a:ext cx="770334" cy="729853"/>
            <a:chOff x="1165" y="3566"/>
            <a:chExt cx="647" cy="613"/>
          </a:xfrm>
        </p:grpSpPr>
        <p:grpSp>
          <p:nvGrpSpPr>
            <p:cNvPr id="27745" name="Group 61"/>
            <p:cNvGrpSpPr>
              <a:grpSpLocks/>
            </p:cNvGrpSpPr>
            <p:nvPr/>
          </p:nvGrpSpPr>
          <p:grpSpPr bwMode="auto">
            <a:xfrm>
              <a:off x="1165" y="3717"/>
              <a:ext cx="647" cy="462"/>
              <a:chOff x="252" y="2364"/>
              <a:chExt cx="2258" cy="1608"/>
            </a:xfrm>
          </p:grpSpPr>
          <p:pic>
            <p:nvPicPr>
              <p:cNvPr id="27750" name="Picture 6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1" name="Picture 6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746" name="Group 64"/>
            <p:cNvGrpSpPr>
              <a:grpSpLocks/>
            </p:cNvGrpSpPr>
            <p:nvPr/>
          </p:nvGrpSpPr>
          <p:grpSpPr bwMode="auto">
            <a:xfrm>
              <a:off x="1324" y="3566"/>
              <a:ext cx="314" cy="83"/>
              <a:chOff x="1324" y="3566"/>
              <a:chExt cx="314" cy="83"/>
            </a:xfrm>
          </p:grpSpPr>
          <p:sp>
            <p:nvSpPr>
              <p:cNvPr id="27747" name="Line 65"/>
              <p:cNvSpPr>
                <a:spLocks noChangeShapeType="1"/>
              </p:cNvSpPr>
              <p:nvPr/>
            </p:nvSpPr>
            <p:spPr bwMode="auto">
              <a:xfrm flipH="1" flipV="1">
                <a:off x="1636" y="3566"/>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48" name="Line 66"/>
              <p:cNvSpPr>
                <a:spLocks noChangeShapeType="1"/>
              </p:cNvSpPr>
              <p:nvPr/>
            </p:nvSpPr>
            <p:spPr bwMode="auto">
              <a:xfrm flipH="1" flipV="1">
                <a:off x="1327" y="3566"/>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49" name="Line 67"/>
              <p:cNvSpPr>
                <a:spLocks noChangeShapeType="1"/>
              </p:cNvSpPr>
              <p:nvPr/>
            </p:nvSpPr>
            <p:spPr bwMode="auto">
              <a:xfrm flipH="1">
                <a:off x="1324" y="3566"/>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pic>
        <p:nvPicPr>
          <p:cNvPr id="27660" name="Picture 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45545" y="4310063"/>
            <a:ext cx="164306" cy="372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1" name="Line 69"/>
          <p:cNvSpPr>
            <a:spLocks noChangeShapeType="1"/>
          </p:cNvSpPr>
          <p:nvPr/>
        </p:nvSpPr>
        <p:spPr bwMode="auto">
          <a:xfrm flipH="1" flipV="1">
            <a:off x="2528888" y="3938588"/>
            <a:ext cx="0" cy="209550"/>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662" name="Line 70"/>
          <p:cNvSpPr>
            <a:spLocks noChangeShapeType="1"/>
          </p:cNvSpPr>
          <p:nvPr/>
        </p:nvSpPr>
        <p:spPr bwMode="auto">
          <a:xfrm flipH="1">
            <a:off x="2520555" y="3932635"/>
            <a:ext cx="564356"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7663" name="Line 71"/>
          <p:cNvSpPr>
            <a:spLocks noChangeShapeType="1"/>
          </p:cNvSpPr>
          <p:nvPr/>
        </p:nvSpPr>
        <p:spPr bwMode="auto">
          <a:xfrm rot="5400000" flipH="1">
            <a:off x="3049191" y="3956447"/>
            <a:ext cx="7381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nvGrpSpPr>
          <p:cNvPr id="27664" name="Group 72"/>
          <p:cNvGrpSpPr>
            <a:grpSpLocks/>
          </p:cNvGrpSpPr>
          <p:nvPr/>
        </p:nvGrpSpPr>
        <p:grpSpPr bwMode="auto">
          <a:xfrm>
            <a:off x="3613547" y="5003007"/>
            <a:ext cx="570309" cy="912019"/>
            <a:chOff x="2072" y="3380"/>
            <a:chExt cx="479" cy="802"/>
          </a:xfrm>
        </p:grpSpPr>
        <p:pic>
          <p:nvPicPr>
            <p:cNvPr id="27739" name="Picture 73" descr="Edna Krabappe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40" name="Picture 74" descr="C:\Documents and Settings\eamonn\Desktop\bios_family_marge.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741" name="Group 75"/>
            <p:cNvGrpSpPr>
              <a:grpSpLocks/>
            </p:cNvGrpSpPr>
            <p:nvPr/>
          </p:nvGrpSpPr>
          <p:grpSpPr bwMode="auto">
            <a:xfrm>
              <a:off x="2170" y="3380"/>
              <a:ext cx="314" cy="185"/>
              <a:chOff x="2170" y="3380"/>
              <a:chExt cx="314" cy="185"/>
            </a:xfrm>
          </p:grpSpPr>
          <p:sp>
            <p:nvSpPr>
              <p:cNvPr id="27742" name="Line 76"/>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43" name="Line 77"/>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44" name="Line 78"/>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grpSp>
        <p:nvGrpSpPr>
          <p:cNvPr id="27665" name="Group 79"/>
          <p:cNvGrpSpPr>
            <a:grpSpLocks/>
          </p:cNvGrpSpPr>
          <p:nvPr/>
        </p:nvGrpSpPr>
        <p:grpSpPr bwMode="auto">
          <a:xfrm>
            <a:off x="2113361" y="4975623"/>
            <a:ext cx="582215" cy="939403"/>
            <a:chOff x="2663" y="3356"/>
            <a:chExt cx="489" cy="789"/>
          </a:xfrm>
        </p:grpSpPr>
        <p:pic>
          <p:nvPicPr>
            <p:cNvPr id="27733" name="Picture 8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14" y="3800"/>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34" name="Picture 8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663" y="3707"/>
              <a:ext cx="331"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735" name="Group 82"/>
            <p:cNvGrpSpPr>
              <a:grpSpLocks/>
            </p:cNvGrpSpPr>
            <p:nvPr/>
          </p:nvGrpSpPr>
          <p:grpSpPr bwMode="auto">
            <a:xfrm>
              <a:off x="2758" y="3356"/>
              <a:ext cx="314" cy="209"/>
              <a:chOff x="2170" y="3380"/>
              <a:chExt cx="314" cy="185"/>
            </a:xfrm>
          </p:grpSpPr>
          <p:sp>
            <p:nvSpPr>
              <p:cNvPr id="27736" name="Line 83"/>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37" name="Line 84"/>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38" name="Line 85"/>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grpSp>
        <p:nvGrpSpPr>
          <p:cNvPr id="27666" name="Group 86"/>
          <p:cNvGrpSpPr>
            <a:grpSpLocks/>
          </p:cNvGrpSpPr>
          <p:nvPr/>
        </p:nvGrpSpPr>
        <p:grpSpPr bwMode="auto">
          <a:xfrm>
            <a:off x="4582717" y="4995863"/>
            <a:ext cx="611981" cy="904875"/>
            <a:chOff x="2889" y="3476"/>
            <a:chExt cx="514" cy="760"/>
          </a:xfrm>
        </p:grpSpPr>
        <p:pic>
          <p:nvPicPr>
            <p:cNvPr id="27727" name="Picture 87" descr="C:\Documents and Settings\eamonn\Desktop\bios_family_marge.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89" y="3691"/>
              <a:ext cx="19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28" name="Picture 8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45" y="3751"/>
              <a:ext cx="25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729" name="Group 89"/>
            <p:cNvGrpSpPr>
              <a:grpSpLocks/>
            </p:cNvGrpSpPr>
            <p:nvPr/>
          </p:nvGrpSpPr>
          <p:grpSpPr bwMode="auto">
            <a:xfrm>
              <a:off x="3010" y="3476"/>
              <a:ext cx="314" cy="195"/>
              <a:chOff x="2170" y="3380"/>
              <a:chExt cx="314" cy="185"/>
            </a:xfrm>
          </p:grpSpPr>
          <p:sp>
            <p:nvSpPr>
              <p:cNvPr id="27730" name="Line 90"/>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31" name="Line 91"/>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32" name="Line 92"/>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sp>
        <p:nvSpPr>
          <p:cNvPr id="27667" name="Text Box 93"/>
          <p:cNvSpPr txBox="1">
            <a:spLocks noChangeArrowheads="1"/>
          </p:cNvSpPr>
          <p:nvPr/>
        </p:nvSpPr>
        <p:spPr bwMode="auto">
          <a:xfrm>
            <a:off x="4231481" y="5317331"/>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b="1"/>
              <a:t>…</a:t>
            </a:r>
          </a:p>
        </p:txBody>
      </p:sp>
      <p:sp>
        <p:nvSpPr>
          <p:cNvPr id="27668" name="Text Box 94"/>
          <p:cNvSpPr txBox="1">
            <a:spLocks noChangeArrowheads="1"/>
          </p:cNvSpPr>
          <p:nvPr/>
        </p:nvSpPr>
        <p:spPr bwMode="auto">
          <a:xfrm>
            <a:off x="1143001" y="5103019"/>
            <a:ext cx="1117997"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Consider all possible merges…</a:t>
            </a:r>
          </a:p>
        </p:txBody>
      </p:sp>
      <p:sp>
        <p:nvSpPr>
          <p:cNvPr id="27669" name="Text Box 95"/>
          <p:cNvSpPr txBox="1">
            <a:spLocks noChangeArrowheads="1"/>
          </p:cNvSpPr>
          <p:nvPr/>
        </p:nvSpPr>
        <p:spPr bwMode="auto">
          <a:xfrm>
            <a:off x="5407820" y="5131594"/>
            <a:ext cx="83224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Choose the best</a:t>
            </a:r>
          </a:p>
        </p:txBody>
      </p:sp>
      <p:sp>
        <p:nvSpPr>
          <p:cNvPr id="27670" name="Rectangle 96"/>
          <p:cNvSpPr>
            <a:spLocks noChangeArrowheads="1"/>
          </p:cNvSpPr>
          <p:nvPr/>
        </p:nvSpPr>
        <p:spPr bwMode="auto">
          <a:xfrm>
            <a:off x="1143000" y="4800601"/>
            <a:ext cx="6858000" cy="10715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7671" name="Rectangle 97"/>
          <p:cNvSpPr>
            <a:spLocks noChangeArrowheads="1"/>
          </p:cNvSpPr>
          <p:nvPr/>
        </p:nvSpPr>
        <p:spPr bwMode="auto">
          <a:xfrm>
            <a:off x="1143000" y="3700464"/>
            <a:ext cx="6858000" cy="10715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7672" name="Rectangle 98"/>
          <p:cNvSpPr>
            <a:spLocks noChangeArrowheads="1"/>
          </p:cNvSpPr>
          <p:nvPr/>
        </p:nvSpPr>
        <p:spPr bwMode="auto">
          <a:xfrm>
            <a:off x="1143000" y="2357439"/>
            <a:ext cx="6858000" cy="10715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7673" name="Text Box 99"/>
          <p:cNvSpPr txBox="1">
            <a:spLocks noChangeArrowheads="1"/>
          </p:cNvSpPr>
          <p:nvPr/>
        </p:nvSpPr>
        <p:spPr bwMode="auto">
          <a:xfrm>
            <a:off x="1143001" y="3924300"/>
            <a:ext cx="1117997"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Consider all possible merges…</a:t>
            </a:r>
          </a:p>
        </p:txBody>
      </p:sp>
      <p:grpSp>
        <p:nvGrpSpPr>
          <p:cNvPr id="27674" name="Group 100"/>
          <p:cNvGrpSpPr>
            <a:grpSpLocks/>
          </p:cNvGrpSpPr>
          <p:nvPr/>
        </p:nvGrpSpPr>
        <p:grpSpPr bwMode="auto">
          <a:xfrm>
            <a:off x="2730104" y="3995737"/>
            <a:ext cx="770334" cy="729854"/>
            <a:chOff x="1267" y="3584"/>
            <a:chExt cx="647" cy="613"/>
          </a:xfrm>
        </p:grpSpPr>
        <p:grpSp>
          <p:nvGrpSpPr>
            <p:cNvPr id="27721" name="Group 101"/>
            <p:cNvGrpSpPr>
              <a:grpSpLocks/>
            </p:cNvGrpSpPr>
            <p:nvPr/>
          </p:nvGrpSpPr>
          <p:grpSpPr bwMode="auto">
            <a:xfrm>
              <a:off x="1267" y="3735"/>
              <a:ext cx="647" cy="462"/>
              <a:chOff x="252" y="2364"/>
              <a:chExt cx="2258" cy="1608"/>
            </a:xfrm>
          </p:grpSpPr>
          <p:pic>
            <p:nvPicPr>
              <p:cNvPr id="27725" name="Picture 10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26" name="Picture 10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722" name="Line 104"/>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23" name="Line 105"/>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24" name="Line 106"/>
            <p:cNvSpPr>
              <a:spLocks noChangeShapeType="1"/>
            </p:cNvSpPr>
            <p:nvPr/>
          </p:nvSpPr>
          <p:spPr bwMode="auto">
            <a:xfrm flipH="1">
              <a:off x="1426" y="3584"/>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pic>
        <p:nvPicPr>
          <p:cNvPr id="27675" name="Picture 1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8551" y="4312444"/>
            <a:ext cx="164306" cy="372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76" name="Picture 108" descr="C:\Documents and Settings\eamonn\Desktop\bios_family_marge.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68342" y="4021931"/>
            <a:ext cx="226219"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677" name="Group 109"/>
          <p:cNvGrpSpPr>
            <a:grpSpLocks/>
          </p:cNvGrpSpPr>
          <p:nvPr/>
        </p:nvGrpSpPr>
        <p:grpSpPr bwMode="auto">
          <a:xfrm>
            <a:off x="3686176" y="3856436"/>
            <a:ext cx="375047" cy="201215"/>
            <a:chOff x="2112" y="2976"/>
            <a:chExt cx="703" cy="377"/>
          </a:xfrm>
        </p:grpSpPr>
        <p:sp>
          <p:nvSpPr>
            <p:cNvPr id="27718" name="Line 110"/>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19" name="Line 111"/>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20" name="Line 112"/>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7678" name="Group 113"/>
          <p:cNvGrpSpPr>
            <a:grpSpLocks/>
          </p:cNvGrpSpPr>
          <p:nvPr/>
        </p:nvGrpSpPr>
        <p:grpSpPr bwMode="auto">
          <a:xfrm>
            <a:off x="4599385" y="3852864"/>
            <a:ext cx="570309" cy="912019"/>
            <a:chOff x="2072" y="3380"/>
            <a:chExt cx="479" cy="802"/>
          </a:xfrm>
        </p:grpSpPr>
        <p:pic>
          <p:nvPicPr>
            <p:cNvPr id="27712" name="Picture 114" descr="Edna Krabappe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3" name="Picture 115" descr="C:\Documents and Settings\eamonn\Desktop\bios_family_marge.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714" name="Group 116"/>
            <p:cNvGrpSpPr>
              <a:grpSpLocks/>
            </p:cNvGrpSpPr>
            <p:nvPr/>
          </p:nvGrpSpPr>
          <p:grpSpPr bwMode="auto">
            <a:xfrm>
              <a:off x="2170" y="3380"/>
              <a:ext cx="314" cy="185"/>
              <a:chOff x="2170" y="3380"/>
              <a:chExt cx="314" cy="185"/>
            </a:xfrm>
          </p:grpSpPr>
          <p:sp>
            <p:nvSpPr>
              <p:cNvPr id="27715" name="Line 117"/>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16" name="Line 118"/>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17" name="Line 119"/>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sp>
        <p:nvSpPr>
          <p:cNvPr id="27679" name="Text Box 120"/>
          <p:cNvSpPr txBox="1">
            <a:spLocks noChangeArrowheads="1"/>
          </p:cNvSpPr>
          <p:nvPr/>
        </p:nvSpPr>
        <p:spPr bwMode="auto">
          <a:xfrm>
            <a:off x="4181475" y="4245769"/>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b="1"/>
              <a:t>…</a:t>
            </a:r>
          </a:p>
        </p:txBody>
      </p:sp>
      <p:sp>
        <p:nvSpPr>
          <p:cNvPr id="27680" name="Text Box 121"/>
          <p:cNvSpPr txBox="1">
            <a:spLocks noChangeArrowheads="1"/>
          </p:cNvSpPr>
          <p:nvPr/>
        </p:nvSpPr>
        <p:spPr bwMode="auto">
          <a:xfrm>
            <a:off x="5407820" y="4017169"/>
            <a:ext cx="83224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Choose the best</a:t>
            </a:r>
          </a:p>
        </p:txBody>
      </p:sp>
      <p:sp>
        <p:nvSpPr>
          <p:cNvPr id="27681" name="Text Box 122"/>
          <p:cNvSpPr txBox="1">
            <a:spLocks noChangeArrowheads="1"/>
          </p:cNvSpPr>
          <p:nvPr/>
        </p:nvSpPr>
        <p:spPr bwMode="auto">
          <a:xfrm>
            <a:off x="1143001" y="2767013"/>
            <a:ext cx="1117997"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Consider all possible merges…</a:t>
            </a:r>
          </a:p>
        </p:txBody>
      </p:sp>
      <p:grpSp>
        <p:nvGrpSpPr>
          <p:cNvPr id="27682" name="Group 123"/>
          <p:cNvGrpSpPr>
            <a:grpSpLocks/>
          </p:cNvGrpSpPr>
          <p:nvPr/>
        </p:nvGrpSpPr>
        <p:grpSpPr bwMode="auto">
          <a:xfrm>
            <a:off x="2466976" y="2657476"/>
            <a:ext cx="1354931" cy="998935"/>
            <a:chOff x="746" y="1753"/>
            <a:chExt cx="1138" cy="839"/>
          </a:xfrm>
        </p:grpSpPr>
        <p:pic>
          <p:nvPicPr>
            <p:cNvPr id="27697" name="Picture 12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6" y="2252"/>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98" name="Picture 125" descr="C:\Documents and Settings\eamonn\Desktop\bios_family_marge.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9" y="200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699" name="Group 126"/>
            <p:cNvGrpSpPr>
              <a:grpSpLocks/>
            </p:cNvGrpSpPr>
            <p:nvPr/>
          </p:nvGrpSpPr>
          <p:grpSpPr bwMode="auto">
            <a:xfrm>
              <a:off x="1237" y="2109"/>
              <a:ext cx="647" cy="462"/>
              <a:chOff x="252" y="2364"/>
              <a:chExt cx="2258" cy="1608"/>
            </a:xfrm>
          </p:grpSpPr>
          <p:pic>
            <p:nvPicPr>
              <p:cNvPr id="27710" name="Picture 12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1" name="Picture 12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700" name="Line 129"/>
            <p:cNvSpPr>
              <a:spLocks noChangeShapeType="1"/>
            </p:cNvSpPr>
            <p:nvPr/>
          </p:nvSpPr>
          <p:spPr bwMode="auto">
            <a:xfrm flipH="1" flipV="1">
              <a:off x="1708" y="1958"/>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01" name="Line 130"/>
            <p:cNvSpPr>
              <a:spLocks noChangeShapeType="1"/>
            </p:cNvSpPr>
            <p:nvPr/>
          </p:nvSpPr>
          <p:spPr bwMode="auto">
            <a:xfrm flipH="1" flipV="1">
              <a:off x="1399" y="1958"/>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02" name="Line 131"/>
            <p:cNvSpPr>
              <a:spLocks noChangeShapeType="1"/>
            </p:cNvSpPr>
            <p:nvPr/>
          </p:nvSpPr>
          <p:spPr bwMode="auto">
            <a:xfrm flipH="1">
              <a:off x="1396" y="1958"/>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7703" name="Line 132"/>
            <p:cNvSpPr>
              <a:spLocks noChangeShapeType="1"/>
            </p:cNvSpPr>
            <p:nvPr/>
          </p:nvSpPr>
          <p:spPr bwMode="auto">
            <a:xfrm flipH="1">
              <a:off x="936" y="1753"/>
              <a:ext cx="61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7704" name="Line 133"/>
            <p:cNvSpPr>
              <a:spLocks noChangeShapeType="1"/>
            </p:cNvSpPr>
            <p:nvPr/>
          </p:nvSpPr>
          <p:spPr bwMode="auto">
            <a:xfrm rot="5400000" flipH="1">
              <a:off x="1450" y="1858"/>
              <a:ext cx="20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nvGrpSpPr>
            <p:cNvPr id="27705" name="Group 134"/>
            <p:cNvGrpSpPr>
              <a:grpSpLocks/>
            </p:cNvGrpSpPr>
            <p:nvPr/>
          </p:nvGrpSpPr>
          <p:grpSpPr bwMode="auto">
            <a:xfrm>
              <a:off x="786" y="1869"/>
              <a:ext cx="315" cy="169"/>
              <a:chOff x="2112" y="2976"/>
              <a:chExt cx="703" cy="377"/>
            </a:xfrm>
          </p:grpSpPr>
          <p:sp>
            <p:nvSpPr>
              <p:cNvPr id="27707" name="Line 135"/>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08" name="Line 136"/>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709" name="Line 137"/>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7706" name="Line 138"/>
            <p:cNvSpPr>
              <a:spLocks noChangeShapeType="1"/>
            </p:cNvSpPr>
            <p:nvPr/>
          </p:nvSpPr>
          <p:spPr bwMode="auto">
            <a:xfrm rot="5400000" flipH="1">
              <a:off x="878" y="1814"/>
              <a:ext cx="11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7683" name="Group 139"/>
          <p:cNvGrpSpPr>
            <a:grpSpLocks/>
          </p:cNvGrpSpPr>
          <p:nvPr/>
        </p:nvGrpSpPr>
        <p:grpSpPr bwMode="auto">
          <a:xfrm>
            <a:off x="4281487" y="2740820"/>
            <a:ext cx="1062038" cy="845344"/>
            <a:chOff x="2342" y="1528"/>
            <a:chExt cx="892" cy="710"/>
          </a:xfrm>
        </p:grpSpPr>
        <p:sp>
          <p:nvSpPr>
            <p:cNvPr id="27686" name="Line 140"/>
            <p:cNvSpPr>
              <a:spLocks noChangeShapeType="1"/>
            </p:cNvSpPr>
            <p:nvPr/>
          </p:nvSpPr>
          <p:spPr bwMode="auto">
            <a:xfrm flipH="1" flipV="1">
              <a:off x="2418" y="1544"/>
              <a:ext cx="0" cy="176"/>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687" name="Line 141"/>
            <p:cNvSpPr>
              <a:spLocks noChangeShapeType="1"/>
            </p:cNvSpPr>
            <p:nvPr/>
          </p:nvSpPr>
          <p:spPr bwMode="auto">
            <a:xfrm flipH="1">
              <a:off x="2411" y="1539"/>
              <a:ext cx="47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7688" name="Line 142"/>
            <p:cNvSpPr>
              <a:spLocks noChangeShapeType="1"/>
            </p:cNvSpPr>
            <p:nvPr/>
          </p:nvSpPr>
          <p:spPr bwMode="auto">
            <a:xfrm rot="5400000" flipH="1">
              <a:off x="2855" y="1559"/>
              <a:ext cx="6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nvGrpSpPr>
            <p:cNvPr id="27689" name="Group 143"/>
            <p:cNvGrpSpPr>
              <a:grpSpLocks/>
            </p:cNvGrpSpPr>
            <p:nvPr/>
          </p:nvGrpSpPr>
          <p:grpSpPr bwMode="auto">
            <a:xfrm>
              <a:off x="2587" y="1592"/>
              <a:ext cx="647" cy="613"/>
              <a:chOff x="1267" y="3584"/>
              <a:chExt cx="647" cy="613"/>
            </a:xfrm>
          </p:grpSpPr>
          <p:grpSp>
            <p:nvGrpSpPr>
              <p:cNvPr id="27691" name="Group 144"/>
              <p:cNvGrpSpPr>
                <a:grpSpLocks/>
              </p:cNvGrpSpPr>
              <p:nvPr/>
            </p:nvGrpSpPr>
            <p:grpSpPr bwMode="auto">
              <a:xfrm>
                <a:off x="1267" y="3735"/>
                <a:ext cx="647" cy="462"/>
                <a:chOff x="252" y="2364"/>
                <a:chExt cx="2258" cy="1608"/>
              </a:xfrm>
            </p:grpSpPr>
            <p:pic>
              <p:nvPicPr>
                <p:cNvPr id="27695" name="Picture 14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96" name="Picture 14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692" name="Line 147"/>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693" name="Line 148"/>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sz="1350"/>
              </a:p>
            </p:txBody>
          </p:sp>
          <p:sp>
            <p:nvSpPr>
              <p:cNvPr id="27694" name="Line 149"/>
              <p:cNvSpPr>
                <a:spLocks noChangeShapeType="1"/>
              </p:cNvSpPr>
              <p:nvPr/>
            </p:nvSpPr>
            <p:spPr bwMode="auto">
              <a:xfrm flipH="1">
                <a:off x="1426" y="3584"/>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grpSp>
        <p:pic>
          <p:nvPicPr>
            <p:cNvPr id="27690" name="Picture 150" descr="Edna Krabappe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2" y="175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684" name="Text Box 151"/>
          <p:cNvSpPr txBox="1">
            <a:spLocks noChangeArrowheads="1"/>
          </p:cNvSpPr>
          <p:nvPr/>
        </p:nvSpPr>
        <p:spPr bwMode="auto">
          <a:xfrm>
            <a:off x="5407820" y="2874169"/>
            <a:ext cx="83224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Choose the best</a:t>
            </a:r>
          </a:p>
        </p:txBody>
      </p:sp>
      <p:sp>
        <p:nvSpPr>
          <p:cNvPr id="27685" name="Text Box 152"/>
          <p:cNvSpPr txBox="1">
            <a:spLocks noChangeArrowheads="1"/>
          </p:cNvSpPr>
          <p:nvPr/>
        </p:nvSpPr>
        <p:spPr bwMode="auto">
          <a:xfrm>
            <a:off x="3867150" y="3074194"/>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b="1"/>
              <a:t>…</a:t>
            </a:r>
          </a:p>
        </p:txBody>
      </p:sp>
    </p:spTree>
    <p:extLst>
      <p:ext uri="{BB962C8B-B14F-4D97-AF65-F5344CB8AC3E}">
        <p14:creationId xmlns:p14="http://schemas.microsoft.com/office/powerpoint/2010/main" val="1992585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81F31A5F-1073-B13F-550A-22C66C33E808}"/>
              </a:ext>
            </a:extLst>
          </p:cNvPr>
          <p:cNvSpPr txBox="1"/>
          <p:nvPr/>
        </p:nvSpPr>
        <p:spPr>
          <a:xfrm>
            <a:off x="38866" y="0"/>
            <a:ext cx="8724133" cy="3724096"/>
          </a:xfrm>
          <a:prstGeom prst="rect">
            <a:avLst/>
          </a:prstGeom>
          <a:noFill/>
        </p:spPr>
        <p:txBody>
          <a:bodyPr wrap="square">
            <a:spAutoFit/>
          </a:bodyPr>
          <a:lstStyle/>
          <a:p>
            <a:pPr algn="just"/>
            <a:r>
              <a:rPr lang="en-IN" sz="2600" dirty="0"/>
              <a:t>AGNES (</a:t>
            </a:r>
            <a:r>
              <a:rPr lang="en-IN" sz="2600" dirty="0" err="1"/>
              <a:t>AGglomerative</a:t>
            </a:r>
            <a:r>
              <a:rPr lang="en-IN" sz="2600" dirty="0"/>
              <a:t> </a:t>
            </a:r>
            <a:r>
              <a:rPr lang="en-IN" sz="2600" dirty="0" err="1"/>
              <a:t>NESting</a:t>
            </a:r>
            <a:r>
              <a:rPr lang="en-IN" sz="2600" dirty="0"/>
              <a:t>), an agglomerative hierarchical clustering method, and DIANA (</a:t>
            </a:r>
            <a:r>
              <a:rPr lang="en-IN" sz="2600" dirty="0" err="1"/>
              <a:t>DIvisive</a:t>
            </a:r>
            <a:r>
              <a:rPr lang="en-IN" sz="2600" dirty="0"/>
              <a:t> </a:t>
            </a:r>
            <a:r>
              <a:rPr lang="en-IN" sz="2600" dirty="0" err="1"/>
              <a:t>ANAlysis</a:t>
            </a:r>
            <a:r>
              <a:rPr lang="en-IN" sz="2600" dirty="0"/>
              <a:t>), a divisive hierarchical clustering method, on a data set of five objects, {</a:t>
            </a:r>
            <a:r>
              <a:rPr lang="en-IN" sz="2600" dirty="0" err="1"/>
              <a:t>a,b,c,d</a:t>
            </a:r>
            <a:r>
              <a:rPr lang="en-IN" sz="2600" dirty="0"/>
              <a:t>, e}. Initially, AGNES, the agglomerative method, places each object into a cluster of its own. The clusters are then merged step-by-step according to some criterion. For example, clusters C1 and C2 may be merged if an object in C1 and an object in C2 form the minimum Euclidean distance between any two objects from </a:t>
            </a:r>
            <a:r>
              <a:rPr lang="en-IN" sz="2800" dirty="0"/>
              <a:t>different clusters</a:t>
            </a:r>
            <a:endParaRPr lang="en-US" sz="2600" dirty="0"/>
          </a:p>
        </p:txBody>
      </p:sp>
      <p:pic>
        <p:nvPicPr>
          <p:cNvPr id="6" name="Picture 5">
            <a:extLst>
              <a:ext uri="{FF2B5EF4-FFF2-40B4-BE49-F238E27FC236}">
                <a16:creationId xmlns:a16="http://schemas.microsoft.com/office/drawing/2014/main" xmlns="" id="{A095B85D-23C4-D47C-E85D-CFF1BB8E8D74}"/>
              </a:ext>
            </a:extLst>
          </p:cNvPr>
          <p:cNvPicPr>
            <a:picLocks noChangeAspect="1"/>
          </p:cNvPicPr>
          <p:nvPr/>
        </p:nvPicPr>
        <p:blipFill rotWithShape="1">
          <a:blip r:embed="rId2"/>
          <a:srcRect l="45740" t="29608" r="18628" b="40439"/>
          <a:stretch/>
        </p:blipFill>
        <p:spPr>
          <a:xfrm>
            <a:off x="1828800" y="3625241"/>
            <a:ext cx="5826855" cy="3200400"/>
          </a:xfrm>
          <a:prstGeom prst="rect">
            <a:avLst/>
          </a:prstGeom>
        </p:spPr>
      </p:pic>
    </p:spTree>
    <p:extLst>
      <p:ext uri="{BB962C8B-B14F-4D97-AF65-F5344CB8AC3E}">
        <p14:creationId xmlns:p14="http://schemas.microsoft.com/office/powerpoint/2010/main" val="35927074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466AC411-5950-8875-BAA9-B6213AAE71AB}"/>
              </a:ext>
            </a:extLst>
          </p:cNvPr>
          <p:cNvSpPr txBox="1"/>
          <p:nvPr/>
        </p:nvSpPr>
        <p:spPr>
          <a:xfrm>
            <a:off x="408263" y="304800"/>
            <a:ext cx="8281547" cy="2893100"/>
          </a:xfrm>
          <a:prstGeom prst="rect">
            <a:avLst/>
          </a:prstGeom>
          <a:noFill/>
        </p:spPr>
        <p:txBody>
          <a:bodyPr wrap="square">
            <a:spAutoFit/>
          </a:bodyPr>
          <a:lstStyle/>
          <a:p>
            <a:pPr algn="just"/>
            <a:r>
              <a:rPr lang="en-IN" sz="2600" dirty="0"/>
              <a:t>DIANA, the divisive method, proceeds in the contrasting way. All the objects are used to form one initial cluster. The cluster is split according to some principle such as the maximum Euclidean distance between the closest </a:t>
            </a:r>
            <a:r>
              <a:rPr lang="en-IN" sz="2600" dirty="0" err="1"/>
              <a:t>neighboring</a:t>
            </a:r>
            <a:r>
              <a:rPr lang="en-IN" sz="2600" dirty="0"/>
              <a:t> objects in the cluster. The cluster-splitting process repeats until, eventually, each new cluster contains only a single object.</a:t>
            </a:r>
            <a:endParaRPr lang="en-US" sz="2600" dirty="0"/>
          </a:p>
        </p:txBody>
      </p:sp>
      <p:pic>
        <p:nvPicPr>
          <p:cNvPr id="5" name="Picture 4">
            <a:extLst>
              <a:ext uri="{FF2B5EF4-FFF2-40B4-BE49-F238E27FC236}">
                <a16:creationId xmlns:a16="http://schemas.microsoft.com/office/drawing/2014/main" xmlns="" id="{69A911F2-E09C-3FE9-87D0-15355CE78EC9}"/>
              </a:ext>
            </a:extLst>
          </p:cNvPr>
          <p:cNvPicPr>
            <a:picLocks noChangeAspect="1"/>
          </p:cNvPicPr>
          <p:nvPr/>
        </p:nvPicPr>
        <p:blipFill rotWithShape="1">
          <a:blip r:embed="rId2"/>
          <a:srcRect l="45740" t="29608" r="18628" b="40439"/>
          <a:stretch/>
        </p:blipFill>
        <p:spPr>
          <a:xfrm>
            <a:off x="1828800" y="3124200"/>
            <a:ext cx="5826855" cy="3200400"/>
          </a:xfrm>
          <a:prstGeom prst="rect">
            <a:avLst/>
          </a:prstGeom>
        </p:spPr>
      </p:pic>
    </p:spTree>
    <p:extLst>
      <p:ext uri="{BB962C8B-B14F-4D97-AF65-F5344CB8AC3E}">
        <p14:creationId xmlns:p14="http://schemas.microsoft.com/office/powerpoint/2010/main" val="26932307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510152-802C-4E7C-02C4-A4EF04891A33}"/>
              </a:ext>
            </a:extLst>
          </p:cNvPr>
          <p:cNvSpPr>
            <a:spLocks noGrp="1"/>
          </p:cNvSpPr>
          <p:nvPr>
            <p:ph type="title"/>
          </p:nvPr>
        </p:nvSpPr>
        <p:spPr/>
        <p:txBody>
          <a:bodyPr/>
          <a:lstStyle/>
          <a:p>
            <a:r>
              <a:rPr lang="en-US" dirty="0" err="1"/>
              <a:t>Dendogram</a:t>
            </a:r>
            <a:r>
              <a:rPr lang="en-US" dirty="0"/>
              <a:t> Representation</a:t>
            </a:r>
          </a:p>
        </p:txBody>
      </p:sp>
      <p:pic>
        <p:nvPicPr>
          <p:cNvPr id="3" name="Picture 2">
            <a:extLst>
              <a:ext uri="{FF2B5EF4-FFF2-40B4-BE49-F238E27FC236}">
                <a16:creationId xmlns:a16="http://schemas.microsoft.com/office/drawing/2014/main" xmlns="" id="{64F45BB4-CE1B-1BD5-E041-0EC98D360180}"/>
              </a:ext>
            </a:extLst>
          </p:cNvPr>
          <p:cNvPicPr>
            <a:picLocks noChangeAspect="1"/>
          </p:cNvPicPr>
          <p:nvPr/>
        </p:nvPicPr>
        <p:blipFill rotWithShape="1">
          <a:blip r:embed="rId2"/>
          <a:srcRect l="46015" t="59186" r="21816" b="17059"/>
          <a:stretch/>
        </p:blipFill>
        <p:spPr>
          <a:xfrm>
            <a:off x="1371600" y="1828800"/>
            <a:ext cx="6934200" cy="3200400"/>
          </a:xfrm>
          <a:prstGeom prst="rect">
            <a:avLst/>
          </a:prstGeom>
        </p:spPr>
      </p:pic>
    </p:spTree>
    <p:extLst>
      <p:ext uri="{BB962C8B-B14F-4D97-AF65-F5344CB8AC3E}">
        <p14:creationId xmlns:p14="http://schemas.microsoft.com/office/powerpoint/2010/main" val="32852620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Text Box 2"/>
          <p:cNvSpPr txBox="1">
            <a:spLocks noChangeArrowheads="1"/>
          </p:cNvSpPr>
          <p:nvPr/>
        </p:nvSpPr>
        <p:spPr bwMode="auto">
          <a:xfrm>
            <a:off x="1485901" y="1428751"/>
            <a:ext cx="5955506" cy="1384995"/>
          </a:xfrm>
          <a:prstGeom prst="rect">
            <a:avLst/>
          </a:prstGeom>
          <a:noFill/>
          <a:ln w="9525">
            <a:noFill/>
            <a:miter lim="800000"/>
            <a:headEnd/>
            <a:tailEnd/>
          </a:ln>
          <a:effectLst/>
        </p:spPr>
        <p:txBody>
          <a:bodyPr>
            <a:spAutoFit/>
          </a:bodyPr>
          <a:lstStyle/>
          <a:p>
            <a:pPr>
              <a:defRPr/>
            </a:pPr>
            <a:r>
              <a:rPr lang="en-US" sz="2100" dirty="0">
                <a:effectLst>
                  <a:outerShdw blurRad="38100" dist="38100" dir="2700000" algn="tl">
                    <a:srgbClr val="DDDDDD"/>
                  </a:outerShdw>
                </a:effectLst>
                <a:latin typeface="Arial" pitchFamily="-111" charset="0"/>
                <a:ea typeface="ＭＳ Ｐゴシック" pitchFamily="-111" charset="-128"/>
                <a:cs typeface="ＭＳ Ｐゴシック" pitchFamily="-111" charset="-128"/>
              </a:rPr>
              <a:t>We know how to measure the distance between two objects, but defining the distance between an object and a cluster, or defining the distance between two clusters is non obvious.  </a:t>
            </a:r>
          </a:p>
        </p:txBody>
      </p:sp>
      <p:sp>
        <p:nvSpPr>
          <p:cNvPr id="219139" name="Text Box 3"/>
          <p:cNvSpPr txBox="1">
            <a:spLocks noChangeArrowheads="1"/>
          </p:cNvSpPr>
          <p:nvPr/>
        </p:nvSpPr>
        <p:spPr bwMode="auto">
          <a:xfrm>
            <a:off x="1314451" y="2914650"/>
            <a:ext cx="6241256" cy="2862322"/>
          </a:xfrm>
          <a:prstGeom prst="rect">
            <a:avLst/>
          </a:prstGeom>
          <a:noFill/>
          <a:ln w="9525">
            <a:noFill/>
            <a:miter lim="800000"/>
            <a:headEnd/>
            <a:tailEnd/>
          </a:ln>
          <a:effectLst/>
        </p:spPr>
        <p:txBody>
          <a:bodyPr>
            <a:spAutoFit/>
          </a:bodyPr>
          <a:lstStyle>
            <a:lvl1pPr>
              <a:defRPr sz="2400">
                <a:solidFill>
                  <a:schemeClr val="tx1"/>
                </a:solidFill>
                <a:latin typeface="Arial" charset="0"/>
                <a:ea typeface="ＭＳ Ｐゴシック" pitchFamily="-111" charset="-128"/>
              </a:defRPr>
            </a:lvl1pPr>
            <a:lvl2pPr marL="37931725" indent="-37474525">
              <a:defRPr sz="2400">
                <a:solidFill>
                  <a:schemeClr val="tx1"/>
                </a:solidFill>
                <a:latin typeface="Arial" charset="0"/>
                <a:ea typeface="ＭＳ Ｐゴシック" pitchFamily="-111" charset="-128"/>
              </a:defRPr>
            </a:lvl2pPr>
            <a:lvl3pPr>
              <a:defRPr sz="2400">
                <a:solidFill>
                  <a:schemeClr val="tx1"/>
                </a:solidFill>
                <a:latin typeface="Arial" charset="0"/>
                <a:ea typeface="ＭＳ Ｐゴシック" pitchFamily="-111" charset="-128"/>
              </a:defRPr>
            </a:lvl3pPr>
            <a:lvl4pPr>
              <a:defRPr sz="2400">
                <a:solidFill>
                  <a:schemeClr val="tx1"/>
                </a:solidFill>
                <a:latin typeface="Arial" charset="0"/>
                <a:ea typeface="ＭＳ Ｐゴシック" pitchFamily="-111" charset="-128"/>
              </a:defRPr>
            </a:lvl4pPr>
            <a:lvl5pPr>
              <a:defRPr sz="2400">
                <a:solidFill>
                  <a:schemeClr val="tx1"/>
                </a:solidFill>
                <a:latin typeface="Arial" charset="0"/>
                <a:ea typeface="ＭＳ Ｐゴシック" pitchFamily="-111" charset="-128"/>
              </a:defRPr>
            </a:lvl5pPr>
            <a:lvl6pPr marL="457200" eaLnBrk="0" fontAlgn="base" hangingPunct="0">
              <a:spcBef>
                <a:spcPct val="0"/>
              </a:spcBef>
              <a:spcAft>
                <a:spcPct val="0"/>
              </a:spcAft>
              <a:defRPr sz="2400">
                <a:solidFill>
                  <a:schemeClr val="tx1"/>
                </a:solidFill>
                <a:latin typeface="Arial" charset="0"/>
                <a:ea typeface="ＭＳ Ｐゴシック" pitchFamily="-111" charset="-128"/>
              </a:defRPr>
            </a:lvl6pPr>
            <a:lvl7pPr marL="914400" eaLnBrk="0" fontAlgn="base" hangingPunct="0">
              <a:spcBef>
                <a:spcPct val="0"/>
              </a:spcBef>
              <a:spcAft>
                <a:spcPct val="0"/>
              </a:spcAft>
              <a:defRPr sz="2400">
                <a:solidFill>
                  <a:schemeClr val="tx1"/>
                </a:solidFill>
                <a:latin typeface="Arial" charset="0"/>
                <a:ea typeface="ＭＳ Ｐゴシック" pitchFamily="-111" charset="-128"/>
              </a:defRPr>
            </a:lvl7pPr>
            <a:lvl8pPr marL="1371600" eaLnBrk="0" fontAlgn="base" hangingPunct="0">
              <a:spcBef>
                <a:spcPct val="0"/>
              </a:spcBef>
              <a:spcAft>
                <a:spcPct val="0"/>
              </a:spcAft>
              <a:defRPr sz="2400">
                <a:solidFill>
                  <a:schemeClr val="tx1"/>
                </a:solidFill>
                <a:latin typeface="Arial" charset="0"/>
                <a:ea typeface="ＭＳ Ｐゴシック" pitchFamily="-111" charset="-128"/>
              </a:defRPr>
            </a:lvl8pPr>
            <a:lvl9pPr marL="1828800" eaLnBrk="0" fontAlgn="base" hangingPunct="0">
              <a:spcBef>
                <a:spcPct val="0"/>
              </a:spcBef>
              <a:spcAft>
                <a:spcPct val="0"/>
              </a:spcAft>
              <a:defRPr sz="2400">
                <a:solidFill>
                  <a:schemeClr val="tx1"/>
                </a:solidFill>
                <a:latin typeface="Arial" charset="0"/>
                <a:ea typeface="ＭＳ Ｐゴシック" pitchFamily="-111" charset="-128"/>
              </a:defRPr>
            </a:lvl9pPr>
          </a:lstStyle>
          <a:p>
            <a:pPr>
              <a:buFontTx/>
              <a:buChar char="•"/>
              <a:defRPr/>
            </a:pPr>
            <a:r>
              <a:rPr lang="en-US" altLang="en-US" sz="1800" b="1"/>
              <a:t> </a:t>
            </a:r>
            <a:r>
              <a:rPr kumimoji="1" lang="en-US" altLang="en-US" sz="1800" b="1">
                <a:solidFill>
                  <a:schemeClr val="tx2"/>
                </a:solidFill>
                <a:effectLst>
                  <a:outerShdw blurRad="38100" dist="38100" dir="2700000" algn="tl">
                    <a:srgbClr val="C0C0C0"/>
                  </a:outerShdw>
                </a:effectLst>
                <a:latin typeface="Helvetica" pitchFamily="-111" charset="0"/>
              </a:rPr>
              <a:t>Single linkage (nearest neighbor):</a:t>
            </a:r>
            <a:r>
              <a:rPr lang="en-US" altLang="en-US" sz="1800"/>
              <a:t> </a:t>
            </a:r>
            <a:r>
              <a:rPr lang="en-US" altLang="en-US" sz="1500"/>
              <a:t>In this method the distance between two clusters is determined by the distance of the two closest objects (nearest neighbors) in the different clusters.</a:t>
            </a:r>
          </a:p>
          <a:p>
            <a:pPr>
              <a:buFontTx/>
              <a:buChar char="•"/>
              <a:defRPr/>
            </a:pPr>
            <a:r>
              <a:rPr lang="en-US" altLang="en-US" sz="1800"/>
              <a:t> </a:t>
            </a:r>
            <a:r>
              <a:rPr kumimoji="1" lang="en-US" altLang="en-US" sz="1800" b="1">
                <a:solidFill>
                  <a:schemeClr val="tx2"/>
                </a:solidFill>
                <a:effectLst>
                  <a:outerShdw blurRad="38100" dist="38100" dir="2700000" algn="tl">
                    <a:srgbClr val="C0C0C0"/>
                  </a:outerShdw>
                </a:effectLst>
                <a:latin typeface="Helvetica" pitchFamily="-111" charset="0"/>
              </a:rPr>
              <a:t>Complete linkage (furthest neighbor):</a:t>
            </a:r>
            <a:r>
              <a:rPr lang="en-US" altLang="en-US" sz="1800" b="1"/>
              <a:t> </a:t>
            </a:r>
            <a:r>
              <a:rPr lang="en-US" altLang="en-US" sz="1500"/>
              <a:t>In this method, the distances between clusters are determined by the greatest distance between any two objects in the different clusters (i.e., by the "furthest neighbors").</a:t>
            </a:r>
            <a:r>
              <a:rPr lang="en-US" altLang="en-US" sz="1800"/>
              <a:t> </a:t>
            </a:r>
          </a:p>
          <a:p>
            <a:pPr>
              <a:buFontTx/>
              <a:buChar char="•"/>
              <a:defRPr/>
            </a:pPr>
            <a:r>
              <a:rPr lang="en-US" altLang="en-US" sz="1800" b="1"/>
              <a:t> </a:t>
            </a:r>
            <a:r>
              <a:rPr kumimoji="1" lang="en-US" altLang="en-US" sz="1800" b="1">
                <a:solidFill>
                  <a:schemeClr val="tx2"/>
                </a:solidFill>
                <a:effectLst>
                  <a:outerShdw blurRad="38100" dist="38100" dir="2700000" algn="tl">
                    <a:srgbClr val="C0C0C0"/>
                  </a:outerShdw>
                </a:effectLst>
                <a:latin typeface="Helvetica" pitchFamily="-111" charset="0"/>
              </a:rPr>
              <a:t>Group average linkage</a:t>
            </a:r>
            <a:r>
              <a:rPr lang="en-US" altLang="en-US" sz="1800" b="1"/>
              <a:t>:</a:t>
            </a:r>
            <a:r>
              <a:rPr lang="en-US" altLang="en-US" sz="1800"/>
              <a:t> </a:t>
            </a:r>
            <a:r>
              <a:rPr lang="en-US" altLang="en-US" sz="1500"/>
              <a:t>In this method, the distance between two clusters is calculated as the average distance between all pairs of objects in the two different clusters</a:t>
            </a:r>
            <a:r>
              <a:rPr lang="en-US" altLang="en-US" sz="1800"/>
              <a:t>.</a:t>
            </a:r>
          </a:p>
          <a:p>
            <a:pPr>
              <a:buFontTx/>
              <a:buChar char="•"/>
              <a:defRPr/>
            </a:pPr>
            <a:endParaRPr lang="en-US" altLang="en-US" sz="1500"/>
          </a:p>
        </p:txBody>
      </p:sp>
      <p:sp>
        <p:nvSpPr>
          <p:cNvPr id="28676" name="TextBox 3"/>
          <p:cNvSpPr txBox="1">
            <a:spLocks noChangeArrowheads="1"/>
          </p:cNvSpPr>
          <p:nvPr/>
        </p:nvSpPr>
        <p:spPr bwMode="auto">
          <a:xfrm>
            <a:off x="4725591" y="1151335"/>
            <a:ext cx="313739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Slide based on one by Eamonn Keogh</a:t>
            </a:r>
          </a:p>
        </p:txBody>
      </p:sp>
    </p:spTree>
    <p:extLst>
      <p:ext uri="{BB962C8B-B14F-4D97-AF65-F5344CB8AC3E}">
        <p14:creationId xmlns:p14="http://schemas.microsoft.com/office/powerpoint/2010/main" val="20581287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2"/>
          <p:cNvGrpSpPr>
            <a:grpSpLocks/>
          </p:cNvGrpSpPr>
          <p:nvPr/>
        </p:nvGrpSpPr>
        <p:grpSpPr bwMode="auto">
          <a:xfrm>
            <a:off x="1190626" y="3531394"/>
            <a:ext cx="3117056" cy="1924050"/>
            <a:chOff x="674" y="1081"/>
            <a:chExt cx="4632" cy="2859"/>
          </a:xfrm>
        </p:grpSpPr>
        <p:sp>
          <p:nvSpPr>
            <p:cNvPr id="29704" name="Rectangle 3"/>
            <p:cNvSpPr>
              <a:spLocks noChangeArrowheads="1"/>
            </p:cNvSpPr>
            <p:nvPr/>
          </p:nvSpPr>
          <p:spPr bwMode="auto">
            <a:xfrm>
              <a:off x="674" y="1081"/>
              <a:ext cx="4632" cy="2852"/>
            </a:xfrm>
            <a:prstGeom prst="rect">
              <a:avLst/>
            </a:prstGeom>
            <a:solidFill>
              <a:srgbClr val="FFFFFF"/>
            </a:soli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9705" name="Rectangle 4"/>
            <p:cNvSpPr>
              <a:spLocks noChangeArrowheads="1"/>
            </p:cNvSpPr>
            <p:nvPr/>
          </p:nvSpPr>
          <p:spPr bwMode="auto">
            <a:xfrm>
              <a:off x="823" y="3800"/>
              <a:ext cx="149" cy="140"/>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9706" name="Freeform 5"/>
            <p:cNvSpPr>
              <a:spLocks/>
            </p:cNvSpPr>
            <p:nvPr/>
          </p:nvSpPr>
          <p:spPr bwMode="auto">
            <a:xfrm>
              <a:off x="898" y="3800"/>
              <a:ext cx="224" cy="140"/>
            </a:xfrm>
            <a:custGeom>
              <a:avLst/>
              <a:gdLst>
                <a:gd name="T0" fmla="*/ 0 w 170"/>
                <a:gd name="T1" fmla="*/ 0 h 106"/>
                <a:gd name="T2" fmla="*/ 224 w 170"/>
                <a:gd name="T3" fmla="*/ 0 h 106"/>
                <a:gd name="T4" fmla="*/ 224 w 170"/>
                <a:gd name="T5" fmla="*/ 140 h 106"/>
                <a:gd name="T6" fmla="*/ 0 60000 65536"/>
                <a:gd name="T7" fmla="*/ 0 60000 65536"/>
                <a:gd name="T8" fmla="*/ 0 60000 65536"/>
                <a:gd name="T9" fmla="*/ 0 w 170"/>
                <a:gd name="T10" fmla="*/ 0 h 106"/>
                <a:gd name="T11" fmla="*/ 170 w 170"/>
                <a:gd name="T12" fmla="*/ 106 h 106"/>
              </a:gdLst>
              <a:ahLst/>
              <a:cxnLst>
                <a:cxn ang="T6">
                  <a:pos x="T0" y="T1"/>
                </a:cxn>
                <a:cxn ang="T7">
                  <a:pos x="T2" y="T3"/>
                </a:cxn>
                <a:cxn ang="T8">
                  <a:pos x="T4" y="T5"/>
                </a:cxn>
              </a:cxnLst>
              <a:rect l="T9" t="T10" r="T11" b="T12"/>
              <a:pathLst>
                <a:path w="170" h="106">
                  <a:moveTo>
                    <a:pt x="0" y="0"/>
                  </a:moveTo>
                  <a:lnTo>
                    <a:pt x="170" y="0"/>
                  </a:lnTo>
                  <a:lnTo>
                    <a:pt x="170" y="106"/>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07" name="Rectangle 6"/>
            <p:cNvSpPr>
              <a:spLocks noChangeArrowheads="1"/>
            </p:cNvSpPr>
            <p:nvPr/>
          </p:nvSpPr>
          <p:spPr bwMode="auto">
            <a:xfrm>
              <a:off x="3214" y="3792"/>
              <a:ext cx="149" cy="148"/>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9708" name="Rectangle 7"/>
            <p:cNvSpPr>
              <a:spLocks noChangeArrowheads="1"/>
            </p:cNvSpPr>
            <p:nvPr/>
          </p:nvSpPr>
          <p:spPr bwMode="auto">
            <a:xfrm>
              <a:off x="1719" y="3779"/>
              <a:ext cx="151" cy="161"/>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9709" name="Freeform 8"/>
            <p:cNvSpPr>
              <a:spLocks/>
            </p:cNvSpPr>
            <p:nvPr/>
          </p:nvSpPr>
          <p:spPr bwMode="auto">
            <a:xfrm>
              <a:off x="1010" y="3779"/>
              <a:ext cx="261" cy="161"/>
            </a:xfrm>
            <a:custGeom>
              <a:avLst/>
              <a:gdLst>
                <a:gd name="T0" fmla="*/ 0 w 198"/>
                <a:gd name="T1" fmla="*/ 21 h 122"/>
                <a:gd name="T2" fmla="*/ 0 w 198"/>
                <a:gd name="T3" fmla="*/ 0 h 122"/>
                <a:gd name="T4" fmla="*/ 261 w 198"/>
                <a:gd name="T5" fmla="*/ 0 h 122"/>
                <a:gd name="T6" fmla="*/ 261 w 198"/>
                <a:gd name="T7" fmla="*/ 161 h 122"/>
                <a:gd name="T8" fmla="*/ 0 60000 65536"/>
                <a:gd name="T9" fmla="*/ 0 60000 65536"/>
                <a:gd name="T10" fmla="*/ 0 60000 65536"/>
                <a:gd name="T11" fmla="*/ 0 60000 65536"/>
                <a:gd name="T12" fmla="*/ 0 w 198"/>
                <a:gd name="T13" fmla="*/ 0 h 122"/>
                <a:gd name="T14" fmla="*/ 198 w 198"/>
                <a:gd name="T15" fmla="*/ 122 h 122"/>
              </a:gdLst>
              <a:ahLst/>
              <a:cxnLst>
                <a:cxn ang="T8">
                  <a:pos x="T0" y="T1"/>
                </a:cxn>
                <a:cxn ang="T9">
                  <a:pos x="T2" y="T3"/>
                </a:cxn>
                <a:cxn ang="T10">
                  <a:pos x="T4" y="T5"/>
                </a:cxn>
                <a:cxn ang="T11">
                  <a:pos x="T6" y="T7"/>
                </a:cxn>
              </a:cxnLst>
              <a:rect l="T12" t="T13" r="T14" b="T15"/>
              <a:pathLst>
                <a:path w="198" h="122">
                  <a:moveTo>
                    <a:pt x="0" y="16"/>
                  </a:moveTo>
                  <a:lnTo>
                    <a:pt x="0" y="0"/>
                  </a:lnTo>
                  <a:lnTo>
                    <a:pt x="198" y="0"/>
                  </a:lnTo>
                  <a:lnTo>
                    <a:pt x="198" y="122"/>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10" name="Freeform 9"/>
            <p:cNvSpPr>
              <a:spLocks/>
            </p:cNvSpPr>
            <p:nvPr/>
          </p:nvSpPr>
          <p:spPr bwMode="auto">
            <a:xfrm>
              <a:off x="1794" y="3779"/>
              <a:ext cx="225" cy="161"/>
            </a:xfrm>
            <a:custGeom>
              <a:avLst/>
              <a:gdLst>
                <a:gd name="T0" fmla="*/ 0 w 170"/>
                <a:gd name="T1" fmla="*/ 0 h 122"/>
                <a:gd name="T2" fmla="*/ 225 w 170"/>
                <a:gd name="T3" fmla="*/ 0 h 122"/>
                <a:gd name="T4" fmla="*/ 225 w 170"/>
                <a:gd name="T5" fmla="*/ 161 h 122"/>
                <a:gd name="T6" fmla="*/ 0 60000 65536"/>
                <a:gd name="T7" fmla="*/ 0 60000 65536"/>
                <a:gd name="T8" fmla="*/ 0 60000 65536"/>
                <a:gd name="T9" fmla="*/ 0 w 170"/>
                <a:gd name="T10" fmla="*/ 0 h 122"/>
                <a:gd name="T11" fmla="*/ 170 w 170"/>
                <a:gd name="T12" fmla="*/ 122 h 122"/>
              </a:gdLst>
              <a:ahLst/>
              <a:cxnLst>
                <a:cxn ang="T6">
                  <a:pos x="T0" y="T1"/>
                </a:cxn>
                <a:cxn ang="T7">
                  <a:pos x="T2" y="T3"/>
                </a:cxn>
                <a:cxn ang="T8">
                  <a:pos x="T4" y="T5"/>
                </a:cxn>
              </a:cxnLst>
              <a:rect l="T9" t="T10" r="T11" b="T12"/>
              <a:pathLst>
                <a:path w="170" h="122">
                  <a:moveTo>
                    <a:pt x="0" y="0"/>
                  </a:moveTo>
                  <a:lnTo>
                    <a:pt x="170" y="0"/>
                  </a:lnTo>
                  <a:lnTo>
                    <a:pt x="170" y="122"/>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11" name="Freeform 10"/>
            <p:cNvSpPr>
              <a:spLocks/>
            </p:cNvSpPr>
            <p:nvPr/>
          </p:nvSpPr>
          <p:spPr bwMode="auto">
            <a:xfrm>
              <a:off x="1137" y="3771"/>
              <a:ext cx="283" cy="169"/>
            </a:xfrm>
            <a:custGeom>
              <a:avLst/>
              <a:gdLst>
                <a:gd name="T0" fmla="*/ 0 w 215"/>
                <a:gd name="T1" fmla="*/ 8 h 128"/>
                <a:gd name="T2" fmla="*/ 0 w 215"/>
                <a:gd name="T3" fmla="*/ 0 h 128"/>
                <a:gd name="T4" fmla="*/ 283 w 215"/>
                <a:gd name="T5" fmla="*/ 0 h 128"/>
                <a:gd name="T6" fmla="*/ 283 w 215"/>
                <a:gd name="T7" fmla="*/ 169 h 128"/>
                <a:gd name="T8" fmla="*/ 0 60000 65536"/>
                <a:gd name="T9" fmla="*/ 0 60000 65536"/>
                <a:gd name="T10" fmla="*/ 0 60000 65536"/>
                <a:gd name="T11" fmla="*/ 0 60000 65536"/>
                <a:gd name="T12" fmla="*/ 0 w 215"/>
                <a:gd name="T13" fmla="*/ 0 h 128"/>
                <a:gd name="T14" fmla="*/ 215 w 215"/>
                <a:gd name="T15" fmla="*/ 128 h 128"/>
              </a:gdLst>
              <a:ahLst/>
              <a:cxnLst>
                <a:cxn ang="T8">
                  <a:pos x="T0" y="T1"/>
                </a:cxn>
                <a:cxn ang="T9">
                  <a:pos x="T2" y="T3"/>
                </a:cxn>
                <a:cxn ang="T10">
                  <a:pos x="T4" y="T5"/>
                </a:cxn>
                <a:cxn ang="T11">
                  <a:pos x="T6" y="T7"/>
                </a:cxn>
              </a:cxnLst>
              <a:rect l="T12" t="T13" r="T14" b="T15"/>
              <a:pathLst>
                <a:path w="215" h="128">
                  <a:moveTo>
                    <a:pt x="0" y="6"/>
                  </a:moveTo>
                  <a:lnTo>
                    <a:pt x="0" y="0"/>
                  </a:lnTo>
                  <a:lnTo>
                    <a:pt x="215" y="0"/>
                  </a:lnTo>
                  <a:lnTo>
                    <a:pt x="215" y="128"/>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12" name="Rectangle 11"/>
            <p:cNvSpPr>
              <a:spLocks noChangeArrowheads="1"/>
            </p:cNvSpPr>
            <p:nvPr/>
          </p:nvSpPr>
          <p:spPr bwMode="auto">
            <a:xfrm>
              <a:off x="3662" y="3771"/>
              <a:ext cx="149" cy="169"/>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9713" name="Rectangle 12"/>
            <p:cNvSpPr>
              <a:spLocks noChangeArrowheads="1"/>
            </p:cNvSpPr>
            <p:nvPr/>
          </p:nvSpPr>
          <p:spPr bwMode="auto">
            <a:xfrm>
              <a:off x="2467" y="3758"/>
              <a:ext cx="149" cy="182"/>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9714" name="Rectangle 13"/>
            <p:cNvSpPr>
              <a:spLocks noChangeArrowheads="1"/>
            </p:cNvSpPr>
            <p:nvPr/>
          </p:nvSpPr>
          <p:spPr bwMode="auto">
            <a:xfrm>
              <a:off x="4110" y="3750"/>
              <a:ext cx="151" cy="190"/>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9715" name="Freeform 14"/>
            <p:cNvSpPr>
              <a:spLocks/>
            </p:cNvSpPr>
            <p:nvPr/>
          </p:nvSpPr>
          <p:spPr bwMode="auto">
            <a:xfrm>
              <a:off x="4186" y="3750"/>
              <a:ext cx="224" cy="190"/>
            </a:xfrm>
            <a:custGeom>
              <a:avLst/>
              <a:gdLst>
                <a:gd name="T0" fmla="*/ 0 w 170"/>
                <a:gd name="T1" fmla="*/ 0 h 144"/>
                <a:gd name="T2" fmla="*/ 224 w 170"/>
                <a:gd name="T3" fmla="*/ 0 h 144"/>
                <a:gd name="T4" fmla="*/ 224 w 170"/>
                <a:gd name="T5" fmla="*/ 190 h 144"/>
                <a:gd name="T6" fmla="*/ 0 60000 65536"/>
                <a:gd name="T7" fmla="*/ 0 60000 65536"/>
                <a:gd name="T8" fmla="*/ 0 60000 65536"/>
                <a:gd name="T9" fmla="*/ 0 w 170"/>
                <a:gd name="T10" fmla="*/ 0 h 144"/>
                <a:gd name="T11" fmla="*/ 170 w 170"/>
                <a:gd name="T12" fmla="*/ 144 h 144"/>
              </a:gdLst>
              <a:ahLst/>
              <a:cxnLst>
                <a:cxn ang="T6">
                  <a:pos x="T0" y="T1"/>
                </a:cxn>
                <a:cxn ang="T7">
                  <a:pos x="T2" y="T3"/>
                </a:cxn>
                <a:cxn ang="T8">
                  <a:pos x="T4" y="T5"/>
                </a:cxn>
              </a:cxnLst>
              <a:rect l="T9" t="T10" r="T11" b="T12"/>
              <a:pathLst>
                <a:path w="170" h="144">
                  <a:moveTo>
                    <a:pt x="0" y="0"/>
                  </a:moveTo>
                  <a:lnTo>
                    <a:pt x="170" y="0"/>
                  </a:lnTo>
                  <a:lnTo>
                    <a:pt x="170"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16" name="Freeform 15"/>
            <p:cNvSpPr>
              <a:spLocks/>
            </p:cNvSpPr>
            <p:nvPr/>
          </p:nvSpPr>
          <p:spPr bwMode="auto">
            <a:xfrm>
              <a:off x="3513" y="3744"/>
              <a:ext cx="224" cy="196"/>
            </a:xfrm>
            <a:custGeom>
              <a:avLst/>
              <a:gdLst>
                <a:gd name="T0" fmla="*/ 0 w 170"/>
                <a:gd name="T1" fmla="*/ 196 h 149"/>
                <a:gd name="T2" fmla="*/ 0 w 170"/>
                <a:gd name="T3" fmla="*/ 0 h 149"/>
                <a:gd name="T4" fmla="*/ 224 w 170"/>
                <a:gd name="T5" fmla="*/ 0 h 149"/>
                <a:gd name="T6" fmla="*/ 224 w 170"/>
                <a:gd name="T7" fmla="*/ 28 h 149"/>
                <a:gd name="T8" fmla="*/ 0 60000 65536"/>
                <a:gd name="T9" fmla="*/ 0 60000 65536"/>
                <a:gd name="T10" fmla="*/ 0 60000 65536"/>
                <a:gd name="T11" fmla="*/ 0 60000 65536"/>
                <a:gd name="T12" fmla="*/ 0 w 170"/>
                <a:gd name="T13" fmla="*/ 0 h 149"/>
                <a:gd name="T14" fmla="*/ 170 w 170"/>
                <a:gd name="T15" fmla="*/ 149 h 149"/>
              </a:gdLst>
              <a:ahLst/>
              <a:cxnLst>
                <a:cxn ang="T8">
                  <a:pos x="T0" y="T1"/>
                </a:cxn>
                <a:cxn ang="T9">
                  <a:pos x="T2" y="T3"/>
                </a:cxn>
                <a:cxn ang="T10">
                  <a:pos x="T4" y="T5"/>
                </a:cxn>
                <a:cxn ang="T11">
                  <a:pos x="T6" y="T7"/>
                </a:cxn>
              </a:cxnLst>
              <a:rect l="T12" t="T13" r="T14" b="T15"/>
              <a:pathLst>
                <a:path w="170" h="149">
                  <a:moveTo>
                    <a:pt x="0" y="149"/>
                  </a:moveTo>
                  <a:lnTo>
                    <a:pt x="0" y="0"/>
                  </a:lnTo>
                  <a:lnTo>
                    <a:pt x="170" y="0"/>
                  </a:lnTo>
                  <a:lnTo>
                    <a:pt x="170" y="21"/>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17" name="Freeform 16"/>
            <p:cNvSpPr>
              <a:spLocks/>
            </p:cNvSpPr>
            <p:nvPr/>
          </p:nvSpPr>
          <p:spPr bwMode="auto">
            <a:xfrm>
              <a:off x="1279" y="3744"/>
              <a:ext cx="291" cy="196"/>
            </a:xfrm>
            <a:custGeom>
              <a:avLst/>
              <a:gdLst>
                <a:gd name="T0" fmla="*/ 0 w 221"/>
                <a:gd name="T1" fmla="*/ 28 h 149"/>
                <a:gd name="T2" fmla="*/ 0 w 221"/>
                <a:gd name="T3" fmla="*/ 0 h 149"/>
                <a:gd name="T4" fmla="*/ 291 w 221"/>
                <a:gd name="T5" fmla="*/ 0 h 149"/>
                <a:gd name="T6" fmla="*/ 291 w 221"/>
                <a:gd name="T7" fmla="*/ 196 h 149"/>
                <a:gd name="T8" fmla="*/ 0 60000 65536"/>
                <a:gd name="T9" fmla="*/ 0 60000 65536"/>
                <a:gd name="T10" fmla="*/ 0 60000 65536"/>
                <a:gd name="T11" fmla="*/ 0 60000 65536"/>
                <a:gd name="T12" fmla="*/ 0 w 221"/>
                <a:gd name="T13" fmla="*/ 0 h 149"/>
                <a:gd name="T14" fmla="*/ 221 w 221"/>
                <a:gd name="T15" fmla="*/ 149 h 149"/>
              </a:gdLst>
              <a:ahLst/>
              <a:cxnLst>
                <a:cxn ang="T8">
                  <a:pos x="T0" y="T1"/>
                </a:cxn>
                <a:cxn ang="T9">
                  <a:pos x="T2" y="T3"/>
                </a:cxn>
                <a:cxn ang="T10">
                  <a:pos x="T4" y="T5"/>
                </a:cxn>
                <a:cxn ang="T11">
                  <a:pos x="T6" y="T7"/>
                </a:cxn>
              </a:cxnLst>
              <a:rect l="T12" t="T13" r="T14" b="T15"/>
              <a:pathLst>
                <a:path w="221" h="149">
                  <a:moveTo>
                    <a:pt x="0" y="21"/>
                  </a:moveTo>
                  <a:lnTo>
                    <a:pt x="0" y="0"/>
                  </a:lnTo>
                  <a:lnTo>
                    <a:pt x="221" y="0"/>
                  </a:lnTo>
                  <a:lnTo>
                    <a:pt x="221" y="149"/>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18" name="Freeform 17"/>
            <p:cNvSpPr>
              <a:spLocks/>
            </p:cNvSpPr>
            <p:nvPr/>
          </p:nvSpPr>
          <p:spPr bwMode="auto">
            <a:xfrm>
              <a:off x="3289" y="3723"/>
              <a:ext cx="336" cy="69"/>
            </a:xfrm>
            <a:custGeom>
              <a:avLst/>
              <a:gdLst>
                <a:gd name="T0" fmla="*/ 0 w 255"/>
                <a:gd name="T1" fmla="*/ 69 h 53"/>
                <a:gd name="T2" fmla="*/ 0 w 255"/>
                <a:gd name="T3" fmla="*/ 0 h 53"/>
                <a:gd name="T4" fmla="*/ 336 w 255"/>
                <a:gd name="T5" fmla="*/ 0 h 53"/>
                <a:gd name="T6" fmla="*/ 336 w 255"/>
                <a:gd name="T7" fmla="*/ 21 h 53"/>
                <a:gd name="T8" fmla="*/ 0 60000 65536"/>
                <a:gd name="T9" fmla="*/ 0 60000 65536"/>
                <a:gd name="T10" fmla="*/ 0 60000 65536"/>
                <a:gd name="T11" fmla="*/ 0 60000 65536"/>
                <a:gd name="T12" fmla="*/ 0 w 255"/>
                <a:gd name="T13" fmla="*/ 0 h 53"/>
                <a:gd name="T14" fmla="*/ 255 w 255"/>
                <a:gd name="T15" fmla="*/ 53 h 53"/>
              </a:gdLst>
              <a:ahLst/>
              <a:cxnLst>
                <a:cxn ang="T8">
                  <a:pos x="T0" y="T1"/>
                </a:cxn>
                <a:cxn ang="T9">
                  <a:pos x="T2" y="T3"/>
                </a:cxn>
                <a:cxn ang="T10">
                  <a:pos x="T4" y="T5"/>
                </a:cxn>
                <a:cxn ang="T11">
                  <a:pos x="T6" y="T7"/>
                </a:cxn>
              </a:cxnLst>
              <a:rect l="T12" t="T13" r="T14" b="T15"/>
              <a:pathLst>
                <a:path w="255" h="53">
                  <a:moveTo>
                    <a:pt x="0" y="53"/>
                  </a:moveTo>
                  <a:lnTo>
                    <a:pt x="0" y="0"/>
                  </a:lnTo>
                  <a:lnTo>
                    <a:pt x="255" y="0"/>
                  </a:lnTo>
                  <a:lnTo>
                    <a:pt x="255" y="16"/>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19" name="Freeform 18"/>
            <p:cNvSpPr>
              <a:spLocks/>
            </p:cNvSpPr>
            <p:nvPr/>
          </p:nvSpPr>
          <p:spPr bwMode="auto">
            <a:xfrm>
              <a:off x="1906" y="3716"/>
              <a:ext cx="261" cy="224"/>
            </a:xfrm>
            <a:custGeom>
              <a:avLst/>
              <a:gdLst>
                <a:gd name="T0" fmla="*/ 0 w 198"/>
                <a:gd name="T1" fmla="*/ 63 h 170"/>
                <a:gd name="T2" fmla="*/ 0 w 198"/>
                <a:gd name="T3" fmla="*/ 0 h 170"/>
                <a:gd name="T4" fmla="*/ 261 w 198"/>
                <a:gd name="T5" fmla="*/ 0 h 170"/>
                <a:gd name="T6" fmla="*/ 261 w 198"/>
                <a:gd name="T7" fmla="*/ 224 h 170"/>
                <a:gd name="T8" fmla="*/ 0 60000 65536"/>
                <a:gd name="T9" fmla="*/ 0 60000 65536"/>
                <a:gd name="T10" fmla="*/ 0 60000 65536"/>
                <a:gd name="T11" fmla="*/ 0 60000 65536"/>
                <a:gd name="T12" fmla="*/ 0 w 198"/>
                <a:gd name="T13" fmla="*/ 0 h 170"/>
                <a:gd name="T14" fmla="*/ 198 w 198"/>
                <a:gd name="T15" fmla="*/ 170 h 170"/>
              </a:gdLst>
              <a:ahLst/>
              <a:cxnLst>
                <a:cxn ang="T8">
                  <a:pos x="T0" y="T1"/>
                </a:cxn>
                <a:cxn ang="T9">
                  <a:pos x="T2" y="T3"/>
                </a:cxn>
                <a:cxn ang="T10">
                  <a:pos x="T4" y="T5"/>
                </a:cxn>
                <a:cxn ang="T11">
                  <a:pos x="T6" y="T7"/>
                </a:cxn>
              </a:cxnLst>
              <a:rect l="T12" t="T13" r="T14" b="T15"/>
              <a:pathLst>
                <a:path w="198" h="170">
                  <a:moveTo>
                    <a:pt x="0" y="48"/>
                  </a:moveTo>
                  <a:lnTo>
                    <a:pt x="0" y="0"/>
                  </a:lnTo>
                  <a:lnTo>
                    <a:pt x="198" y="0"/>
                  </a:lnTo>
                  <a:lnTo>
                    <a:pt x="198" y="170"/>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20" name="Freeform 19"/>
            <p:cNvSpPr>
              <a:spLocks/>
            </p:cNvSpPr>
            <p:nvPr/>
          </p:nvSpPr>
          <p:spPr bwMode="auto">
            <a:xfrm>
              <a:off x="4298" y="3709"/>
              <a:ext cx="261" cy="231"/>
            </a:xfrm>
            <a:custGeom>
              <a:avLst/>
              <a:gdLst>
                <a:gd name="T0" fmla="*/ 0 w 198"/>
                <a:gd name="T1" fmla="*/ 41 h 175"/>
                <a:gd name="T2" fmla="*/ 0 w 198"/>
                <a:gd name="T3" fmla="*/ 0 h 175"/>
                <a:gd name="T4" fmla="*/ 261 w 198"/>
                <a:gd name="T5" fmla="*/ 0 h 175"/>
                <a:gd name="T6" fmla="*/ 261 w 198"/>
                <a:gd name="T7" fmla="*/ 231 h 175"/>
                <a:gd name="T8" fmla="*/ 0 60000 65536"/>
                <a:gd name="T9" fmla="*/ 0 60000 65536"/>
                <a:gd name="T10" fmla="*/ 0 60000 65536"/>
                <a:gd name="T11" fmla="*/ 0 60000 65536"/>
                <a:gd name="T12" fmla="*/ 0 w 198"/>
                <a:gd name="T13" fmla="*/ 0 h 175"/>
                <a:gd name="T14" fmla="*/ 198 w 198"/>
                <a:gd name="T15" fmla="*/ 175 h 175"/>
              </a:gdLst>
              <a:ahLst/>
              <a:cxnLst>
                <a:cxn ang="T8">
                  <a:pos x="T0" y="T1"/>
                </a:cxn>
                <a:cxn ang="T9">
                  <a:pos x="T2" y="T3"/>
                </a:cxn>
                <a:cxn ang="T10">
                  <a:pos x="T4" y="T5"/>
                </a:cxn>
                <a:cxn ang="T11">
                  <a:pos x="T6" y="T7"/>
                </a:cxn>
              </a:cxnLst>
              <a:rect l="T12" t="T13" r="T14" b="T15"/>
              <a:pathLst>
                <a:path w="198" h="175">
                  <a:moveTo>
                    <a:pt x="0" y="31"/>
                  </a:moveTo>
                  <a:lnTo>
                    <a:pt x="0" y="0"/>
                  </a:lnTo>
                  <a:lnTo>
                    <a:pt x="198" y="0"/>
                  </a:lnTo>
                  <a:lnTo>
                    <a:pt x="198" y="175"/>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21" name="Freeform 20"/>
            <p:cNvSpPr>
              <a:spLocks/>
            </p:cNvSpPr>
            <p:nvPr/>
          </p:nvSpPr>
          <p:spPr bwMode="auto">
            <a:xfrm>
              <a:off x="3453" y="3701"/>
              <a:ext cx="508" cy="239"/>
            </a:xfrm>
            <a:custGeom>
              <a:avLst/>
              <a:gdLst>
                <a:gd name="T0" fmla="*/ 0 w 386"/>
                <a:gd name="T1" fmla="*/ 21 h 181"/>
                <a:gd name="T2" fmla="*/ 0 w 386"/>
                <a:gd name="T3" fmla="*/ 0 h 181"/>
                <a:gd name="T4" fmla="*/ 508 w 386"/>
                <a:gd name="T5" fmla="*/ 0 h 181"/>
                <a:gd name="T6" fmla="*/ 508 w 386"/>
                <a:gd name="T7" fmla="*/ 239 h 181"/>
                <a:gd name="T8" fmla="*/ 0 60000 65536"/>
                <a:gd name="T9" fmla="*/ 0 60000 65536"/>
                <a:gd name="T10" fmla="*/ 0 60000 65536"/>
                <a:gd name="T11" fmla="*/ 0 60000 65536"/>
                <a:gd name="T12" fmla="*/ 0 w 386"/>
                <a:gd name="T13" fmla="*/ 0 h 181"/>
                <a:gd name="T14" fmla="*/ 386 w 386"/>
                <a:gd name="T15" fmla="*/ 181 h 181"/>
              </a:gdLst>
              <a:ahLst/>
              <a:cxnLst>
                <a:cxn ang="T8">
                  <a:pos x="T0" y="T1"/>
                </a:cxn>
                <a:cxn ang="T9">
                  <a:pos x="T2" y="T3"/>
                </a:cxn>
                <a:cxn ang="T10">
                  <a:pos x="T4" y="T5"/>
                </a:cxn>
                <a:cxn ang="T11">
                  <a:pos x="T6" y="T7"/>
                </a:cxn>
              </a:cxnLst>
              <a:rect l="T12" t="T13" r="T14" b="T15"/>
              <a:pathLst>
                <a:path w="386" h="181">
                  <a:moveTo>
                    <a:pt x="0" y="16"/>
                  </a:moveTo>
                  <a:lnTo>
                    <a:pt x="0" y="0"/>
                  </a:lnTo>
                  <a:lnTo>
                    <a:pt x="386" y="0"/>
                  </a:lnTo>
                  <a:lnTo>
                    <a:pt x="386" y="181"/>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22" name="Freeform 21"/>
            <p:cNvSpPr>
              <a:spLocks/>
            </p:cNvSpPr>
            <p:nvPr/>
          </p:nvSpPr>
          <p:spPr bwMode="auto">
            <a:xfrm>
              <a:off x="3707" y="3688"/>
              <a:ext cx="717" cy="21"/>
            </a:xfrm>
            <a:custGeom>
              <a:avLst/>
              <a:gdLst>
                <a:gd name="T0" fmla="*/ 0 w 544"/>
                <a:gd name="T1" fmla="*/ 13 h 16"/>
                <a:gd name="T2" fmla="*/ 0 w 544"/>
                <a:gd name="T3" fmla="*/ 0 h 16"/>
                <a:gd name="T4" fmla="*/ 717 w 544"/>
                <a:gd name="T5" fmla="*/ 0 h 16"/>
                <a:gd name="T6" fmla="*/ 717 w 544"/>
                <a:gd name="T7" fmla="*/ 21 h 16"/>
                <a:gd name="T8" fmla="*/ 0 60000 65536"/>
                <a:gd name="T9" fmla="*/ 0 60000 65536"/>
                <a:gd name="T10" fmla="*/ 0 60000 65536"/>
                <a:gd name="T11" fmla="*/ 0 60000 65536"/>
                <a:gd name="T12" fmla="*/ 0 w 544"/>
                <a:gd name="T13" fmla="*/ 0 h 16"/>
                <a:gd name="T14" fmla="*/ 544 w 544"/>
                <a:gd name="T15" fmla="*/ 16 h 16"/>
              </a:gdLst>
              <a:ahLst/>
              <a:cxnLst>
                <a:cxn ang="T8">
                  <a:pos x="T0" y="T1"/>
                </a:cxn>
                <a:cxn ang="T9">
                  <a:pos x="T2" y="T3"/>
                </a:cxn>
                <a:cxn ang="T10">
                  <a:pos x="T4" y="T5"/>
                </a:cxn>
                <a:cxn ang="T11">
                  <a:pos x="T6" y="T7"/>
                </a:cxn>
              </a:cxnLst>
              <a:rect l="T12" t="T13" r="T14" b="T15"/>
              <a:pathLst>
                <a:path w="544" h="16">
                  <a:moveTo>
                    <a:pt x="0" y="10"/>
                  </a:moveTo>
                  <a:lnTo>
                    <a:pt x="0" y="0"/>
                  </a:lnTo>
                  <a:lnTo>
                    <a:pt x="544" y="0"/>
                  </a:lnTo>
                  <a:lnTo>
                    <a:pt x="544" y="16"/>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23" name="Rectangle 22"/>
            <p:cNvSpPr>
              <a:spLocks noChangeArrowheads="1"/>
            </p:cNvSpPr>
            <p:nvPr/>
          </p:nvSpPr>
          <p:spPr bwMode="auto">
            <a:xfrm>
              <a:off x="4709" y="3688"/>
              <a:ext cx="149" cy="252"/>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9724" name="Freeform 23"/>
            <p:cNvSpPr>
              <a:spLocks/>
            </p:cNvSpPr>
            <p:nvPr/>
          </p:nvSpPr>
          <p:spPr bwMode="auto">
            <a:xfrm>
              <a:off x="1420" y="3680"/>
              <a:ext cx="613" cy="64"/>
            </a:xfrm>
            <a:custGeom>
              <a:avLst/>
              <a:gdLst>
                <a:gd name="T0" fmla="*/ 0 w 465"/>
                <a:gd name="T1" fmla="*/ 64 h 48"/>
                <a:gd name="T2" fmla="*/ 0 w 465"/>
                <a:gd name="T3" fmla="*/ 0 h 48"/>
                <a:gd name="T4" fmla="*/ 613 w 465"/>
                <a:gd name="T5" fmla="*/ 0 h 48"/>
                <a:gd name="T6" fmla="*/ 613 w 465"/>
                <a:gd name="T7" fmla="*/ 36 h 48"/>
                <a:gd name="T8" fmla="*/ 0 60000 65536"/>
                <a:gd name="T9" fmla="*/ 0 60000 65536"/>
                <a:gd name="T10" fmla="*/ 0 60000 65536"/>
                <a:gd name="T11" fmla="*/ 0 60000 65536"/>
                <a:gd name="T12" fmla="*/ 0 w 465"/>
                <a:gd name="T13" fmla="*/ 0 h 48"/>
                <a:gd name="T14" fmla="*/ 465 w 465"/>
                <a:gd name="T15" fmla="*/ 48 h 48"/>
              </a:gdLst>
              <a:ahLst/>
              <a:cxnLst>
                <a:cxn ang="T8">
                  <a:pos x="T0" y="T1"/>
                </a:cxn>
                <a:cxn ang="T9">
                  <a:pos x="T2" y="T3"/>
                </a:cxn>
                <a:cxn ang="T10">
                  <a:pos x="T4" y="T5"/>
                </a:cxn>
                <a:cxn ang="T11">
                  <a:pos x="T6" y="T7"/>
                </a:cxn>
              </a:cxnLst>
              <a:rect l="T12" t="T13" r="T14" b="T15"/>
              <a:pathLst>
                <a:path w="465" h="48">
                  <a:moveTo>
                    <a:pt x="0" y="48"/>
                  </a:moveTo>
                  <a:lnTo>
                    <a:pt x="0" y="0"/>
                  </a:lnTo>
                  <a:lnTo>
                    <a:pt x="465" y="0"/>
                  </a:lnTo>
                  <a:lnTo>
                    <a:pt x="465" y="27"/>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25" name="Rectangle 24"/>
            <p:cNvSpPr>
              <a:spLocks noChangeArrowheads="1"/>
            </p:cNvSpPr>
            <p:nvPr/>
          </p:nvSpPr>
          <p:spPr bwMode="auto">
            <a:xfrm>
              <a:off x="4066" y="3659"/>
              <a:ext cx="717" cy="29"/>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sz="1800"/>
            </a:p>
          </p:txBody>
        </p:sp>
        <p:sp>
          <p:nvSpPr>
            <p:cNvPr id="29726" name="Freeform 25"/>
            <p:cNvSpPr>
              <a:spLocks/>
            </p:cNvSpPr>
            <p:nvPr/>
          </p:nvSpPr>
          <p:spPr bwMode="auto">
            <a:xfrm>
              <a:off x="2318" y="3604"/>
              <a:ext cx="224" cy="336"/>
            </a:xfrm>
            <a:custGeom>
              <a:avLst/>
              <a:gdLst>
                <a:gd name="T0" fmla="*/ 0 w 170"/>
                <a:gd name="T1" fmla="*/ 336 h 255"/>
                <a:gd name="T2" fmla="*/ 0 w 170"/>
                <a:gd name="T3" fmla="*/ 0 h 255"/>
                <a:gd name="T4" fmla="*/ 224 w 170"/>
                <a:gd name="T5" fmla="*/ 0 h 255"/>
                <a:gd name="T6" fmla="*/ 224 w 170"/>
                <a:gd name="T7" fmla="*/ 154 h 255"/>
                <a:gd name="T8" fmla="*/ 0 60000 65536"/>
                <a:gd name="T9" fmla="*/ 0 60000 65536"/>
                <a:gd name="T10" fmla="*/ 0 60000 65536"/>
                <a:gd name="T11" fmla="*/ 0 60000 65536"/>
                <a:gd name="T12" fmla="*/ 0 w 170"/>
                <a:gd name="T13" fmla="*/ 0 h 255"/>
                <a:gd name="T14" fmla="*/ 170 w 170"/>
                <a:gd name="T15" fmla="*/ 255 h 255"/>
              </a:gdLst>
              <a:ahLst/>
              <a:cxnLst>
                <a:cxn ang="T8">
                  <a:pos x="T0" y="T1"/>
                </a:cxn>
                <a:cxn ang="T9">
                  <a:pos x="T2" y="T3"/>
                </a:cxn>
                <a:cxn ang="T10">
                  <a:pos x="T4" y="T5"/>
                </a:cxn>
                <a:cxn ang="T11">
                  <a:pos x="T6" y="T7"/>
                </a:cxn>
              </a:cxnLst>
              <a:rect l="T12" t="T13" r="T14" b="T15"/>
              <a:pathLst>
                <a:path w="170" h="255">
                  <a:moveTo>
                    <a:pt x="0" y="255"/>
                  </a:moveTo>
                  <a:lnTo>
                    <a:pt x="0" y="0"/>
                  </a:lnTo>
                  <a:lnTo>
                    <a:pt x="170" y="0"/>
                  </a:lnTo>
                  <a:lnTo>
                    <a:pt x="170" y="117"/>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27" name="Freeform 26"/>
            <p:cNvSpPr>
              <a:spLocks/>
            </p:cNvSpPr>
            <p:nvPr/>
          </p:nvSpPr>
          <p:spPr bwMode="auto">
            <a:xfrm>
              <a:off x="1727" y="3604"/>
              <a:ext cx="703" cy="76"/>
            </a:xfrm>
            <a:custGeom>
              <a:avLst/>
              <a:gdLst>
                <a:gd name="T0" fmla="*/ 0 w 533"/>
                <a:gd name="T1" fmla="*/ 76 h 58"/>
                <a:gd name="T2" fmla="*/ 0 w 533"/>
                <a:gd name="T3" fmla="*/ 0 h 58"/>
                <a:gd name="T4" fmla="*/ 703 w 533"/>
                <a:gd name="T5" fmla="*/ 0 h 58"/>
                <a:gd name="T6" fmla="*/ 0 60000 65536"/>
                <a:gd name="T7" fmla="*/ 0 60000 65536"/>
                <a:gd name="T8" fmla="*/ 0 60000 65536"/>
                <a:gd name="T9" fmla="*/ 0 w 533"/>
                <a:gd name="T10" fmla="*/ 0 h 58"/>
                <a:gd name="T11" fmla="*/ 533 w 533"/>
                <a:gd name="T12" fmla="*/ 58 h 58"/>
              </a:gdLst>
              <a:ahLst/>
              <a:cxnLst>
                <a:cxn ang="T6">
                  <a:pos x="T0" y="T1"/>
                </a:cxn>
                <a:cxn ang="T7">
                  <a:pos x="T2" y="T3"/>
                </a:cxn>
                <a:cxn ang="T8">
                  <a:pos x="T4" y="T5"/>
                </a:cxn>
              </a:cxnLst>
              <a:rect l="T9" t="T10" r="T11" b="T12"/>
              <a:pathLst>
                <a:path w="533" h="58">
                  <a:moveTo>
                    <a:pt x="0" y="58"/>
                  </a:moveTo>
                  <a:lnTo>
                    <a:pt x="0" y="0"/>
                  </a:lnTo>
                  <a:lnTo>
                    <a:pt x="533" y="0"/>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28" name="Freeform 27"/>
            <p:cNvSpPr>
              <a:spLocks/>
            </p:cNvSpPr>
            <p:nvPr/>
          </p:nvSpPr>
          <p:spPr bwMode="auto">
            <a:xfrm>
              <a:off x="2078" y="3547"/>
              <a:ext cx="688" cy="393"/>
            </a:xfrm>
            <a:custGeom>
              <a:avLst/>
              <a:gdLst>
                <a:gd name="T0" fmla="*/ 0 w 522"/>
                <a:gd name="T1" fmla="*/ 57 h 298"/>
                <a:gd name="T2" fmla="*/ 0 w 522"/>
                <a:gd name="T3" fmla="*/ 0 h 298"/>
                <a:gd name="T4" fmla="*/ 688 w 522"/>
                <a:gd name="T5" fmla="*/ 0 h 298"/>
                <a:gd name="T6" fmla="*/ 688 w 522"/>
                <a:gd name="T7" fmla="*/ 393 h 298"/>
                <a:gd name="T8" fmla="*/ 0 60000 65536"/>
                <a:gd name="T9" fmla="*/ 0 60000 65536"/>
                <a:gd name="T10" fmla="*/ 0 60000 65536"/>
                <a:gd name="T11" fmla="*/ 0 60000 65536"/>
                <a:gd name="T12" fmla="*/ 0 w 522"/>
                <a:gd name="T13" fmla="*/ 0 h 298"/>
                <a:gd name="T14" fmla="*/ 522 w 522"/>
                <a:gd name="T15" fmla="*/ 298 h 298"/>
              </a:gdLst>
              <a:ahLst/>
              <a:cxnLst>
                <a:cxn ang="T8">
                  <a:pos x="T0" y="T1"/>
                </a:cxn>
                <a:cxn ang="T9">
                  <a:pos x="T2" y="T3"/>
                </a:cxn>
                <a:cxn ang="T10">
                  <a:pos x="T4" y="T5"/>
                </a:cxn>
                <a:cxn ang="T11">
                  <a:pos x="T6" y="T7"/>
                </a:cxn>
              </a:cxnLst>
              <a:rect l="T12" t="T13" r="T14" b="T15"/>
              <a:pathLst>
                <a:path w="522" h="298">
                  <a:moveTo>
                    <a:pt x="0" y="43"/>
                  </a:moveTo>
                  <a:lnTo>
                    <a:pt x="0" y="0"/>
                  </a:lnTo>
                  <a:lnTo>
                    <a:pt x="522" y="0"/>
                  </a:lnTo>
                  <a:lnTo>
                    <a:pt x="522" y="298"/>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29" name="Freeform 28"/>
            <p:cNvSpPr>
              <a:spLocks/>
            </p:cNvSpPr>
            <p:nvPr/>
          </p:nvSpPr>
          <p:spPr bwMode="auto">
            <a:xfrm>
              <a:off x="4424" y="3450"/>
              <a:ext cx="583" cy="490"/>
            </a:xfrm>
            <a:custGeom>
              <a:avLst/>
              <a:gdLst>
                <a:gd name="T0" fmla="*/ 0 w 442"/>
                <a:gd name="T1" fmla="*/ 209 h 372"/>
                <a:gd name="T2" fmla="*/ 0 w 442"/>
                <a:gd name="T3" fmla="*/ 0 h 372"/>
                <a:gd name="T4" fmla="*/ 583 w 442"/>
                <a:gd name="T5" fmla="*/ 0 h 372"/>
                <a:gd name="T6" fmla="*/ 583 w 442"/>
                <a:gd name="T7" fmla="*/ 490 h 372"/>
                <a:gd name="T8" fmla="*/ 0 60000 65536"/>
                <a:gd name="T9" fmla="*/ 0 60000 65536"/>
                <a:gd name="T10" fmla="*/ 0 60000 65536"/>
                <a:gd name="T11" fmla="*/ 0 60000 65536"/>
                <a:gd name="T12" fmla="*/ 0 w 442"/>
                <a:gd name="T13" fmla="*/ 0 h 372"/>
                <a:gd name="T14" fmla="*/ 442 w 442"/>
                <a:gd name="T15" fmla="*/ 372 h 372"/>
              </a:gdLst>
              <a:ahLst/>
              <a:cxnLst>
                <a:cxn ang="T8">
                  <a:pos x="T0" y="T1"/>
                </a:cxn>
                <a:cxn ang="T9">
                  <a:pos x="T2" y="T3"/>
                </a:cxn>
                <a:cxn ang="T10">
                  <a:pos x="T4" y="T5"/>
                </a:cxn>
                <a:cxn ang="T11">
                  <a:pos x="T6" y="T7"/>
                </a:cxn>
              </a:cxnLst>
              <a:rect l="T12" t="T13" r="T14" b="T15"/>
              <a:pathLst>
                <a:path w="442" h="372">
                  <a:moveTo>
                    <a:pt x="0" y="159"/>
                  </a:moveTo>
                  <a:lnTo>
                    <a:pt x="0" y="0"/>
                  </a:lnTo>
                  <a:lnTo>
                    <a:pt x="442" y="0"/>
                  </a:lnTo>
                  <a:lnTo>
                    <a:pt x="442" y="372"/>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30" name="Freeform 29"/>
            <p:cNvSpPr>
              <a:spLocks/>
            </p:cNvSpPr>
            <p:nvPr/>
          </p:nvSpPr>
          <p:spPr bwMode="auto">
            <a:xfrm>
              <a:off x="2422" y="3351"/>
              <a:ext cx="493" cy="589"/>
            </a:xfrm>
            <a:custGeom>
              <a:avLst/>
              <a:gdLst>
                <a:gd name="T0" fmla="*/ 0 w 374"/>
                <a:gd name="T1" fmla="*/ 196 h 447"/>
                <a:gd name="T2" fmla="*/ 0 w 374"/>
                <a:gd name="T3" fmla="*/ 0 h 447"/>
                <a:gd name="T4" fmla="*/ 493 w 374"/>
                <a:gd name="T5" fmla="*/ 0 h 447"/>
                <a:gd name="T6" fmla="*/ 493 w 374"/>
                <a:gd name="T7" fmla="*/ 589 h 447"/>
                <a:gd name="T8" fmla="*/ 0 60000 65536"/>
                <a:gd name="T9" fmla="*/ 0 60000 65536"/>
                <a:gd name="T10" fmla="*/ 0 60000 65536"/>
                <a:gd name="T11" fmla="*/ 0 60000 65536"/>
                <a:gd name="T12" fmla="*/ 0 w 374"/>
                <a:gd name="T13" fmla="*/ 0 h 447"/>
                <a:gd name="T14" fmla="*/ 374 w 374"/>
                <a:gd name="T15" fmla="*/ 447 h 447"/>
              </a:gdLst>
              <a:ahLst/>
              <a:cxnLst>
                <a:cxn ang="T8">
                  <a:pos x="T0" y="T1"/>
                </a:cxn>
                <a:cxn ang="T9">
                  <a:pos x="T2" y="T3"/>
                </a:cxn>
                <a:cxn ang="T10">
                  <a:pos x="T4" y="T5"/>
                </a:cxn>
                <a:cxn ang="T11">
                  <a:pos x="T6" y="T7"/>
                </a:cxn>
              </a:cxnLst>
              <a:rect l="T12" t="T13" r="T14" b="T15"/>
              <a:pathLst>
                <a:path w="374" h="447">
                  <a:moveTo>
                    <a:pt x="0" y="149"/>
                  </a:moveTo>
                  <a:lnTo>
                    <a:pt x="0" y="0"/>
                  </a:lnTo>
                  <a:lnTo>
                    <a:pt x="374" y="0"/>
                  </a:lnTo>
                  <a:lnTo>
                    <a:pt x="374" y="447"/>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31" name="Freeform 30"/>
            <p:cNvSpPr>
              <a:spLocks/>
            </p:cNvSpPr>
            <p:nvPr/>
          </p:nvSpPr>
          <p:spPr bwMode="auto">
            <a:xfrm>
              <a:off x="2668" y="3190"/>
              <a:ext cx="397" cy="750"/>
            </a:xfrm>
            <a:custGeom>
              <a:avLst/>
              <a:gdLst>
                <a:gd name="T0" fmla="*/ 0 w 301"/>
                <a:gd name="T1" fmla="*/ 161 h 569"/>
                <a:gd name="T2" fmla="*/ 0 w 301"/>
                <a:gd name="T3" fmla="*/ 0 h 569"/>
                <a:gd name="T4" fmla="*/ 397 w 301"/>
                <a:gd name="T5" fmla="*/ 0 h 569"/>
                <a:gd name="T6" fmla="*/ 397 w 301"/>
                <a:gd name="T7" fmla="*/ 750 h 569"/>
                <a:gd name="T8" fmla="*/ 0 60000 65536"/>
                <a:gd name="T9" fmla="*/ 0 60000 65536"/>
                <a:gd name="T10" fmla="*/ 0 60000 65536"/>
                <a:gd name="T11" fmla="*/ 0 60000 65536"/>
                <a:gd name="T12" fmla="*/ 0 w 301"/>
                <a:gd name="T13" fmla="*/ 0 h 569"/>
                <a:gd name="T14" fmla="*/ 301 w 301"/>
                <a:gd name="T15" fmla="*/ 569 h 569"/>
              </a:gdLst>
              <a:ahLst/>
              <a:cxnLst>
                <a:cxn ang="T8">
                  <a:pos x="T0" y="T1"/>
                </a:cxn>
                <a:cxn ang="T9">
                  <a:pos x="T2" y="T3"/>
                </a:cxn>
                <a:cxn ang="T10">
                  <a:pos x="T4" y="T5"/>
                </a:cxn>
                <a:cxn ang="T11">
                  <a:pos x="T6" y="T7"/>
                </a:cxn>
              </a:cxnLst>
              <a:rect l="T12" t="T13" r="T14" b="T15"/>
              <a:pathLst>
                <a:path w="301" h="569">
                  <a:moveTo>
                    <a:pt x="0" y="122"/>
                  </a:moveTo>
                  <a:lnTo>
                    <a:pt x="0" y="0"/>
                  </a:lnTo>
                  <a:lnTo>
                    <a:pt x="301" y="0"/>
                  </a:lnTo>
                  <a:lnTo>
                    <a:pt x="301" y="569"/>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32" name="Freeform 31"/>
            <p:cNvSpPr>
              <a:spLocks/>
            </p:cNvSpPr>
            <p:nvPr/>
          </p:nvSpPr>
          <p:spPr bwMode="auto">
            <a:xfrm>
              <a:off x="4715" y="3106"/>
              <a:ext cx="442" cy="834"/>
            </a:xfrm>
            <a:custGeom>
              <a:avLst/>
              <a:gdLst>
                <a:gd name="T0" fmla="*/ 0 w 335"/>
                <a:gd name="T1" fmla="*/ 344 h 633"/>
                <a:gd name="T2" fmla="*/ 0 w 335"/>
                <a:gd name="T3" fmla="*/ 0 h 633"/>
                <a:gd name="T4" fmla="*/ 442 w 335"/>
                <a:gd name="T5" fmla="*/ 0 h 633"/>
                <a:gd name="T6" fmla="*/ 442 w 335"/>
                <a:gd name="T7" fmla="*/ 834 h 633"/>
                <a:gd name="T8" fmla="*/ 0 60000 65536"/>
                <a:gd name="T9" fmla="*/ 0 60000 65536"/>
                <a:gd name="T10" fmla="*/ 0 60000 65536"/>
                <a:gd name="T11" fmla="*/ 0 60000 65536"/>
                <a:gd name="T12" fmla="*/ 0 w 335"/>
                <a:gd name="T13" fmla="*/ 0 h 633"/>
                <a:gd name="T14" fmla="*/ 335 w 335"/>
                <a:gd name="T15" fmla="*/ 633 h 633"/>
              </a:gdLst>
              <a:ahLst/>
              <a:cxnLst>
                <a:cxn ang="T8">
                  <a:pos x="T0" y="T1"/>
                </a:cxn>
                <a:cxn ang="T9">
                  <a:pos x="T2" y="T3"/>
                </a:cxn>
                <a:cxn ang="T10">
                  <a:pos x="T4" y="T5"/>
                </a:cxn>
                <a:cxn ang="T11">
                  <a:pos x="T6" y="T7"/>
                </a:cxn>
              </a:cxnLst>
              <a:rect l="T12" t="T13" r="T14" b="T15"/>
              <a:pathLst>
                <a:path w="335" h="633">
                  <a:moveTo>
                    <a:pt x="0" y="261"/>
                  </a:moveTo>
                  <a:lnTo>
                    <a:pt x="0" y="0"/>
                  </a:lnTo>
                  <a:lnTo>
                    <a:pt x="335" y="0"/>
                  </a:lnTo>
                  <a:lnTo>
                    <a:pt x="335" y="633"/>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33" name="Freeform 32"/>
            <p:cNvSpPr>
              <a:spLocks/>
            </p:cNvSpPr>
            <p:nvPr/>
          </p:nvSpPr>
          <p:spPr bwMode="auto">
            <a:xfrm>
              <a:off x="2862" y="1208"/>
              <a:ext cx="2071" cy="1982"/>
            </a:xfrm>
            <a:custGeom>
              <a:avLst/>
              <a:gdLst>
                <a:gd name="T0" fmla="*/ 2071 w 1571"/>
                <a:gd name="T1" fmla="*/ 1898 h 1504"/>
                <a:gd name="T2" fmla="*/ 2071 w 1571"/>
                <a:gd name="T3" fmla="*/ 0 h 1504"/>
                <a:gd name="T4" fmla="*/ 0 w 1571"/>
                <a:gd name="T5" fmla="*/ 0 h 1504"/>
                <a:gd name="T6" fmla="*/ 0 w 1571"/>
                <a:gd name="T7" fmla="*/ 1982 h 1504"/>
                <a:gd name="T8" fmla="*/ 0 60000 65536"/>
                <a:gd name="T9" fmla="*/ 0 60000 65536"/>
                <a:gd name="T10" fmla="*/ 0 60000 65536"/>
                <a:gd name="T11" fmla="*/ 0 60000 65536"/>
                <a:gd name="T12" fmla="*/ 0 w 1571"/>
                <a:gd name="T13" fmla="*/ 0 h 1504"/>
                <a:gd name="T14" fmla="*/ 1571 w 1571"/>
                <a:gd name="T15" fmla="*/ 1504 h 1504"/>
              </a:gdLst>
              <a:ahLst/>
              <a:cxnLst>
                <a:cxn ang="T8">
                  <a:pos x="T0" y="T1"/>
                </a:cxn>
                <a:cxn ang="T9">
                  <a:pos x="T2" y="T3"/>
                </a:cxn>
                <a:cxn ang="T10">
                  <a:pos x="T4" y="T5"/>
                </a:cxn>
                <a:cxn ang="T11">
                  <a:pos x="T6" y="T7"/>
                </a:cxn>
              </a:cxnLst>
              <a:rect l="T12" t="T13" r="T14" b="T15"/>
              <a:pathLst>
                <a:path w="1571" h="1504">
                  <a:moveTo>
                    <a:pt x="1571" y="1440"/>
                  </a:moveTo>
                  <a:lnTo>
                    <a:pt x="1571" y="0"/>
                  </a:lnTo>
                  <a:lnTo>
                    <a:pt x="0" y="0"/>
                  </a:lnTo>
                  <a:lnTo>
                    <a:pt x="0" y="150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29734" name="Line 33"/>
            <p:cNvSpPr>
              <a:spLocks noChangeShapeType="1"/>
            </p:cNvSpPr>
            <p:nvPr/>
          </p:nvSpPr>
          <p:spPr bwMode="auto">
            <a:xfrm>
              <a:off x="674" y="3933"/>
              <a:ext cx="4632" cy="2"/>
            </a:xfrm>
            <a:prstGeom prst="line">
              <a:avLst/>
            </a:prstGeom>
            <a:noFill/>
            <a:ln w="5080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pic>
        <p:nvPicPr>
          <p:cNvPr id="29699"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1" y="914400"/>
            <a:ext cx="2588419" cy="256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pic>
        <p:nvPicPr>
          <p:cNvPr id="29700" name="Picture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7683" y="3732610"/>
            <a:ext cx="3556397" cy="2084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sp>
        <p:nvSpPr>
          <p:cNvPr id="29701" name="Text Box 36"/>
          <p:cNvSpPr txBox="1">
            <a:spLocks noChangeArrowheads="1"/>
          </p:cNvSpPr>
          <p:nvPr/>
        </p:nvSpPr>
        <p:spPr bwMode="auto">
          <a:xfrm>
            <a:off x="5164932" y="5657851"/>
            <a:ext cx="18347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Average linkage</a:t>
            </a:r>
          </a:p>
        </p:txBody>
      </p:sp>
      <p:sp>
        <p:nvSpPr>
          <p:cNvPr id="29702" name="Text Box 39"/>
          <p:cNvSpPr txBox="1">
            <a:spLocks noChangeArrowheads="1"/>
          </p:cNvSpPr>
          <p:nvPr/>
        </p:nvSpPr>
        <p:spPr bwMode="auto">
          <a:xfrm>
            <a:off x="1990726" y="5474495"/>
            <a:ext cx="162095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Single linkage</a:t>
            </a:r>
          </a:p>
        </p:txBody>
      </p:sp>
      <p:sp>
        <p:nvSpPr>
          <p:cNvPr id="29703" name="TextBox 39"/>
          <p:cNvSpPr txBox="1">
            <a:spLocks noChangeArrowheads="1"/>
          </p:cNvSpPr>
          <p:nvPr/>
        </p:nvSpPr>
        <p:spPr bwMode="auto">
          <a:xfrm>
            <a:off x="4725591" y="1094185"/>
            <a:ext cx="313739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Slide based on one by Eamonn Keogh</a:t>
            </a:r>
          </a:p>
        </p:txBody>
      </p:sp>
    </p:spTree>
    <p:extLst>
      <p:ext uri="{BB962C8B-B14F-4D97-AF65-F5344CB8AC3E}">
        <p14:creationId xmlns:p14="http://schemas.microsoft.com/office/powerpoint/2010/main" val="34415662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1026"/>
          <p:cNvSpPr txBox="1">
            <a:spLocks noChangeArrowheads="1"/>
          </p:cNvSpPr>
          <p:nvPr/>
        </p:nvSpPr>
        <p:spPr bwMode="auto">
          <a:xfrm>
            <a:off x="1257300" y="1828801"/>
            <a:ext cx="6629400" cy="4154984"/>
          </a:xfrm>
          <a:prstGeom prst="rect">
            <a:avLst/>
          </a:prstGeom>
          <a:noFill/>
          <a:ln w="9525">
            <a:noFill/>
            <a:miter lim="800000"/>
            <a:headEnd/>
            <a:tailEnd/>
          </a:ln>
          <a:effectLst/>
        </p:spPr>
        <p:txBody>
          <a:bodyPr>
            <a:spAutoFit/>
          </a:bodyPr>
          <a:lstStyle>
            <a:lvl1pPr marL="742950" indent="-742950">
              <a:defRPr sz="2400">
                <a:solidFill>
                  <a:schemeClr val="tx1"/>
                </a:solidFill>
                <a:latin typeface="Arial" charset="0"/>
                <a:ea typeface="ＭＳ Ｐゴシック" pitchFamily="-111" charset="-128"/>
              </a:defRPr>
            </a:lvl1pPr>
            <a:lvl2pPr marL="37931725" indent="-37474525">
              <a:defRPr sz="2400">
                <a:solidFill>
                  <a:schemeClr val="tx1"/>
                </a:solidFill>
                <a:latin typeface="Arial" charset="0"/>
                <a:ea typeface="ＭＳ Ｐゴシック" pitchFamily="-111" charset="-128"/>
              </a:defRPr>
            </a:lvl2pPr>
            <a:lvl3pPr>
              <a:defRPr sz="2400">
                <a:solidFill>
                  <a:schemeClr val="tx1"/>
                </a:solidFill>
                <a:latin typeface="Arial" charset="0"/>
                <a:ea typeface="ＭＳ Ｐゴシック" pitchFamily="-111" charset="-128"/>
              </a:defRPr>
            </a:lvl3pPr>
            <a:lvl4pPr>
              <a:defRPr sz="2400">
                <a:solidFill>
                  <a:schemeClr val="tx1"/>
                </a:solidFill>
                <a:latin typeface="Arial" charset="0"/>
                <a:ea typeface="ＭＳ Ｐゴシック" pitchFamily="-111" charset="-128"/>
              </a:defRPr>
            </a:lvl4pPr>
            <a:lvl5pPr>
              <a:defRPr sz="2400">
                <a:solidFill>
                  <a:schemeClr val="tx1"/>
                </a:solidFill>
                <a:latin typeface="Arial" charset="0"/>
                <a:ea typeface="ＭＳ Ｐゴシック" pitchFamily="-111" charset="-128"/>
              </a:defRPr>
            </a:lvl5pPr>
            <a:lvl6pPr marL="457200" eaLnBrk="0" fontAlgn="base" hangingPunct="0">
              <a:spcBef>
                <a:spcPct val="0"/>
              </a:spcBef>
              <a:spcAft>
                <a:spcPct val="0"/>
              </a:spcAft>
              <a:defRPr sz="2400">
                <a:solidFill>
                  <a:schemeClr val="tx1"/>
                </a:solidFill>
                <a:latin typeface="Arial" charset="0"/>
                <a:ea typeface="ＭＳ Ｐゴシック" pitchFamily="-111" charset="-128"/>
              </a:defRPr>
            </a:lvl6pPr>
            <a:lvl7pPr marL="914400" eaLnBrk="0" fontAlgn="base" hangingPunct="0">
              <a:spcBef>
                <a:spcPct val="0"/>
              </a:spcBef>
              <a:spcAft>
                <a:spcPct val="0"/>
              </a:spcAft>
              <a:defRPr sz="2400">
                <a:solidFill>
                  <a:schemeClr val="tx1"/>
                </a:solidFill>
                <a:latin typeface="Arial" charset="0"/>
                <a:ea typeface="ＭＳ Ｐゴシック" pitchFamily="-111" charset="-128"/>
              </a:defRPr>
            </a:lvl7pPr>
            <a:lvl8pPr marL="1371600" eaLnBrk="0" fontAlgn="base" hangingPunct="0">
              <a:spcBef>
                <a:spcPct val="0"/>
              </a:spcBef>
              <a:spcAft>
                <a:spcPct val="0"/>
              </a:spcAft>
              <a:defRPr sz="2400">
                <a:solidFill>
                  <a:schemeClr val="tx1"/>
                </a:solidFill>
                <a:latin typeface="Arial" charset="0"/>
                <a:ea typeface="ＭＳ Ｐゴシック" pitchFamily="-111" charset="-128"/>
              </a:defRPr>
            </a:lvl8pPr>
            <a:lvl9pPr marL="1828800" eaLnBrk="0" fontAlgn="base" hangingPunct="0">
              <a:spcBef>
                <a:spcPct val="0"/>
              </a:spcBef>
              <a:spcAft>
                <a:spcPct val="0"/>
              </a:spcAft>
              <a:defRPr sz="2400">
                <a:solidFill>
                  <a:schemeClr val="tx1"/>
                </a:solidFill>
                <a:latin typeface="Arial" charset="0"/>
                <a:ea typeface="ＭＳ Ｐゴシック" pitchFamily="-111" charset="-128"/>
              </a:defRPr>
            </a:lvl9pPr>
          </a:lstStyle>
          <a:p>
            <a:pPr>
              <a:defRPr/>
            </a:pPr>
            <a:r>
              <a:rPr lang="en-US" altLang="en-US" b="1">
                <a:solidFill>
                  <a:schemeClr val="tx2"/>
                </a:solidFill>
                <a:effectLst>
                  <a:outerShdw blurRad="38100" dist="38100" dir="2700000" algn="tl">
                    <a:srgbClr val="C0C0C0"/>
                  </a:outerShdw>
                </a:effectLst>
              </a:rPr>
              <a:t>Hierarchal Clustering Methods Summary</a:t>
            </a:r>
          </a:p>
          <a:p>
            <a:pPr>
              <a:buFont typeface="Wingdings" pitchFamily="-111" charset="2"/>
              <a:buChar char="§"/>
              <a:defRPr/>
            </a:pPr>
            <a:endParaRPr lang="en-US" altLang="en-US" sz="3000">
              <a:solidFill>
                <a:schemeClr val="tx2"/>
              </a:solidFill>
              <a:effectLst>
                <a:outerShdw blurRad="38100" dist="38100" dir="2700000" algn="tl">
                  <a:srgbClr val="C0C0C0"/>
                </a:outerShdw>
              </a:effectLst>
            </a:endParaRPr>
          </a:p>
          <a:p>
            <a:pPr>
              <a:buFont typeface="Wingdings" pitchFamily="-111" charset="2"/>
              <a:buChar char="§"/>
              <a:defRPr/>
            </a:pPr>
            <a:r>
              <a:rPr lang="en-US" altLang="en-US" sz="2100"/>
              <a:t>No need to specify the number of clusters in advance</a:t>
            </a:r>
          </a:p>
          <a:p>
            <a:pPr>
              <a:buFont typeface="Wingdings" pitchFamily="-111" charset="2"/>
              <a:buChar char="§"/>
              <a:defRPr/>
            </a:pPr>
            <a:r>
              <a:rPr lang="en-US" altLang="en-US" sz="2100"/>
              <a:t>Hierarchal nature maps nicely onto human intuition for some domains</a:t>
            </a:r>
          </a:p>
          <a:p>
            <a:pPr>
              <a:buFont typeface="Wingdings" pitchFamily="-111" charset="2"/>
              <a:buChar char="§"/>
              <a:defRPr/>
            </a:pPr>
            <a:r>
              <a:rPr lang="en-US" altLang="en-US" sz="2100"/>
              <a:t>They do not scale well: time complexity of at least O(</a:t>
            </a:r>
            <a:r>
              <a:rPr lang="en-US" altLang="en-US" sz="2100" i="1"/>
              <a:t>n</a:t>
            </a:r>
            <a:r>
              <a:rPr lang="en-US" altLang="en-US" sz="2100" baseline="30000"/>
              <a:t>2</a:t>
            </a:r>
            <a:r>
              <a:rPr lang="en-US" altLang="en-US" sz="2100"/>
              <a:t>), where </a:t>
            </a:r>
            <a:r>
              <a:rPr lang="en-US" altLang="en-US" sz="2100" i="1"/>
              <a:t>n</a:t>
            </a:r>
            <a:r>
              <a:rPr lang="en-US" altLang="en-US" sz="2100"/>
              <a:t> is the number of total objects</a:t>
            </a:r>
          </a:p>
          <a:p>
            <a:pPr>
              <a:buFont typeface="Wingdings" pitchFamily="-111" charset="2"/>
              <a:buChar char="§"/>
              <a:defRPr/>
            </a:pPr>
            <a:r>
              <a:rPr lang="en-US" altLang="en-US" sz="2100"/>
              <a:t>Like any heuristic search algorithms, local optima are a problem</a:t>
            </a:r>
          </a:p>
          <a:p>
            <a:pPr>
              <a:buFont typeface="Wingdings" pitchFamily="-111" charset="2"/>
              <a:buChar char="§"/>
              <a:defRPr/>
            </a:pPr>
            <a:r>
              <a:rPr lang="en-US" altLang="en-US" sz="2100"/>
              <a:t>Interpretation of results is (very) subjective </a:t>
            </a:r>
          </a:p>
        </p:txBody>
      </p:sp>
      <p:sp>
        <p:nvSpPr>
          <p:cNvPr id="30723" name="TextBox 2"/>
          <p:cNvSpPr txBox="1">
            <a:spLocks noChangeArrowheads="1"/>
          </p:cNvSpPr>
          <p:nvPr/>
        </p:nvSpPr>
        <p:spPr bwMode="auto">
          <a:xfrm>
            <a:off x="4725591" y="1094185"/>
            <a:ext cx="313739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350"/>
              <a:t>Slide based on one by Eamonn Keogh</a:t>
            </a:r>
          </a:p>
        </p:txBody>
      </p:sp>
    </p:spTree>
    <p:extLst>
      <p:ext uri="{BB962C8B-B14F-4D97-AF65-F5344CB8AC3E}">
        <p14:creationId xmlns:p14="http://schemas.microsoft.com/office/powerpoint/2010/main" val="6221296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6BD5A224905B34196C5C872560CE977" ma:contentTypeVersion="5" ma:contentTypeDescription="Create a new document." ma:contentTypeScope="" ma:versionID="13de268a65433674b014f099dec85178">
  <xsd:schema xmlns:xsd="http://www.w3.org/2001/XMLSchema" xmlns:xs="http://www.w3.org/2001/XMLSchema" xmlns:p="http://schemas.microsoft.com/office/2006/metadata/properties" xmlns:ns2="4eef6f31-7617-4889-8d39-a9ac36c690dc" targetNamespace="http://schemas.microsoft.com/office/2006/metadata/properties" ma:root="true" ma:fieldsID="0b93d5231c568789c4a9c766c8fffe7c" ns2:_="">
    <xsd:import namespace="4eef6f31-7617-4889-8d39-a9ac36c690d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ef6f31-7617-4889-8d39-a9ac36c690d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CF48CC8-249B-49DC-B3E8-E98DF2E300D7}">
  <ds:schemaRefs>
    <ds:schemaRef ds:uri="http://schemas.microsoft.com/sharepoint/v3/contenttype/forms"/>
  </ds:schemaRefs>
</ds:datastoreItem>
</file>

<file path=customXml/itemProps2.xml><?xml version="1.0" encoding="utf-8"?>
<ds:datastoreItem xmlns:ds="http://schemas.openxmlformats.org/officeDocument/2006/customXml" ds:itemID="{6DA7AE4B-F50C-41C5-BF24-A4F061575F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eef6f31-7617-4889-8d39-a9ac36c690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4AFDA7F-5A23-4F5D-B898-50DED3DDE8EC}">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2069</TotalTime>
  <Words>2190</Words>
  <Application>Microsoft Office PowerPoint</Application>
  <PresentationFormat>On-screen Show (4:3)</PresentationFormat>
  <Paragraphs>285</Paragraphs>
  <Slides>51</Slides>
  <Notes>1</Notes>
  <HiddenSlides>1</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51</vt:i4>
      </vt:variant>
    </vt:vector>
  </HeadingPairs>
  <TitlesOfParts>
    <vt:vector size="64" baseType="lpstr">
      <vt:lpstr>ＭＳ Ｐゴシック</vt:lpstr>
      <vt:lpstr>SimSun</vt:lpstr>
      <vt:lpstr>Arial</vt:lpstr>
      <vt:lpstr>Calibri</vt:lpstr>
      <vt:lpstr>Helvetica</vt:lpstr>
      <vt:lpstr>Lato</vt:lpstr>
      <vt:lpstr>sohne</vt:lpstr>
      <vt:lpstr>Source Serif Pro</vt:lpstr>
      <vt:lpstr>source-serif-pro</vt:lpstr>
      <vt:lpstr>Times New Roman</vt:lpstr>
      <vt:lpstr>Wingdings</vt:lpstr>
      <vt:lpstr>Office Theme</vt:lpstr>
      <vt:lpstr>Chart</vt:lpstr>
      <vt:lpstr>Clustering</vt:lpstr>
      <vt:lpstr>Two Types of Clustering</vt:lpstr>
      <vt:lpstr>PowerPoint Presentation</vt:lpstr>
      <vt:lpstr>PowerPoint Presentation</vt:lpstr>
      <vt:lpstr>PowerPoint Presentation</vt:lpstr>
      <vt:lpstr>PowerPoint Presentation</vt:lpstr>
      <vt:lpstr>Demo </vt:lpstr>
      <vt:lpstr>PowerPoint Presentation</vt:lpstr>
      <vt:lpstr>K-means Clustering: Step 1</vt:lpstr>
      <vt:lpstr>K-means Clustering: Step 2</vt:lpstr>
      <vt:lpstr>K-means Clustering: Step 3</vt:lpstr>
      <vt:lpstr>K-means Clustering: Step 4</vt:lpstr>
      <vt:lpstr>K-means Clustering: Step 5</vt:lpstr>
      <vt:lpstr>Comments on k-Means</vt:lpstr>
      <vt:lpstr>Bottom Line</vt:lpstr>
      <vt:lpstr>PowerPoint Presentation</vt:lpstr>
      <vt:lpstr>PowerPoint Presentation</vt:lpstr>
      <vt:lpstr>K Means as Optimization Problem </vt:lpstr>
      <vt:lpstr>PowerPoint Presentation</vt:lpstr>
      <vt:lpstr>Choosing initial centroids </vt:lpstr>
      <vt:lpstr>The Elbow Method </vt:lpstr>
      <vt:lpstr>PowerPoint Presentation</vt:lpstr>
      <vt:lpstr>K-Metoids </vt:lpstr>
      <vt:lpstr>K-Metoids Process </vt:lpstr>
      <vt:lpstr>PowerPoint Presentation</vt:lpstr>
      <vt:lpstr>PAM: Partition Around Medoids</vt:lpstr>
      <vt:lpstr>PowerPoint Presentation</vt:lpstr>
      <vt:lpstr>PowerPoint Presentation</vt:lpstr>
      <vt:lpstr>PowerPoint Presentation</vt:lpstr>
      <vt:lpstr>Types of clustering algorithms </vt:lpstr>
      <vt:lpstr>Types of clustering algorithms </vt:lpstr>
      <vt:lpstr>Hierarchical Clustering </vt:lpstr>
      <vt:lpstr>PowerPoint Presentation</vt:lpstr>
      <vt:lpstr>PowerPoint Presentation</vt:lpstr>
      <vt:lpstr>PowerPoint Presentation</vt:lpstr>
      <vt:lpstr>PowerPoint Presentation</vt:lpstr>
      <vt:lpstr>PowerPoint Presentation</vt:lpstr>
      <vt:lpstr>PowerPoint Presentation</vt:lpstr>
      <vt:lpstr>Agglomerative</vt:lpstr>
      <vt:lpstr>Divisive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Dendogram Representation</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K-means Clustering</dc:title>
  <dc:creator>Rose, John R</dc:creator>
  <cp:lastModifiedBy>Microsoft account</cp:lastModifiedBy>
  <cp:revision>54</cp:revision>
  <dcterms:created xsi:type="dcterms:W3CDTF">2015-02-02T18:43:07Z</dcterms:created>
  <dcterms:modified xsi:type="dcterms:W3CDTF">2025-02-27T16:51:33Z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0x01010056BD5A224905B34196C5C872560CE977</vt:lpwstr>
  </property>
</Properties>
</file>