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75" r:id="rId6"/>
    <p:sldId id="289" r:id="rId7"/>
    <p:sldId id="276" r:id="rId8"/>
    <p:sldId id="278" r:id="rId9"/>
    <p:sldId id="280" r:id="rId10"/>
    <p:sldId id="274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67" r:id="rId19"/>
    <p:sldId id="291" r:id="rId20"/>
    <p:sldId id="26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1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40"/>
  </p:normalViewPr>
  <p:slideViewPr>
    <p:cSldViewPr>
      <p:cViewPr varScale="1">
        <p:scale>
          <a:sx n="83" d="100"/>
          <a:sy n="83" d="100"/>
        </p:scale>
        <p:origin x="142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C9C558-FAF8-4CA0-A309-1CF8F58B4995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6C19ED-1F4E-4AC5-84FE-DB46026FA1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55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/>
          <p:cNvSpPr txBox="1"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Times New Roman" pitchFamily="18" charset="0"/>
                <a:ea typeface="ＭＳ Ｐゴシック" pitchFamily="34" charset="-128"/>
              </a:rPr>
              <a:t>Have class break into groups and invent clustering algorithms.</a:t>
            </a:r>
          </a:p>
        </p:txBody>
      </p:sp>
    </p:spTree>
    <p:extLst>
      <p:ext uri="{BB962C8B-B14F-4D97-AF65-F5344CB8AC3E}">
        <p14:creationId xmlns:p14="http://schemas.microsoft.com/office/powerpoint/2010/main" val="148163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5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56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5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335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2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57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8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98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681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72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2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CCF35B-D249-42FB-9EDC-DC939374698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47F7FE-C4A6-4328-A3FB-5EE701EC29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9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4.png"/><Relationship Id="rId7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9.png"/><Relationship Id="rId5" Type="http://schemas.openxmlformats.org/officeDocument/2006/relationships/image" Target="../media/image15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I3Ei69I40s" TargetMode="External"/><Relationship Id="rId2" Type="http://schemas.openxmlformats.org/officeDocument/2006/relationships/hyperlink" Target="https://www.youtube.com/watch?v=nXY6PxAaOk0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4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76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15642" y="1085851"/>
            <a:ext cx="6112669" cy="775097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DDDDDD"/>
                  </a:outerShdw>
                </a:effectLst>
              </a:rPr>
              <a:t>Two Types of Clustering</a:t>
            </a:r>
          </a:p>
        </p:txBody>
      </p:sp>
      <p:sp>
        <p:nvSpPr>
          <p:cNvPr id="164867" name="Rectangle 3"/>
          <p:cNvSpPr>
            <a:spLocks noChangeArrowheads="1"/>
          </p:cNvSpPr>
          <p:nvPr/>
        </p:nvSpPr>
        <p:spPr bwMode="auto">
          <a:xfrm>
            <a:off x="1943100" y="3314701"/>
            <a:ext cx="192881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100" b="1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Hierarchical</a:t>
            </a:r>
          </a:p>
        </p:txBody>
      </p: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1315641" y="2057400"/>
            <a:ext cx="6332934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sz="1800" b="1"/>
              <a:t> Partitional algorithms:</a:t>
            </a:r>
            <a:r>
              <a:rPr lang="en-US" altLang="en-US" sz="1800"/>
              <a:t> Construct various partitions and then evaluate them by some criterion</a:t>
            </a:r>
            <a:endParaRPr lang="en-US" altLang="en-US" sz="1500"/>
          </a:p>
          <a:p>
            <a:pPr>
              <a:buFontTx/>
              <a:buChar char="•"/>
            </a:pPr>
            <a:r>
              <a:rPr lang="en-US" altLang="en-US" sz="1800" b="1"/>
              <a:t> Hierarchical algorithms:</a:t>
            </a:r>
            <a:r>
              <a:rPr lang="en-US" altLang="en-US" sz="1800"/>
              <a:t> Create a hierarchical decomposition of the set of objects using some criterion</a:t>
            </a:r>
          </a:p>
          <a:p>
            <a:endParaRPr lang="en-US" altLang="en-US" sz="1800"/>
          </a:p>
        </p:txBody>
      </p:sp>
      <p:sp>
        <p:nvSpPr>
          <p:cNvPr id="164869" name="Rectangle 5"/>
          <p:cNvSpPr>
            <a:spLocks noChangeArrowheads="1"/>
          </p:cNvSpPr>
          <p:nvPr/>
        </p:nvSpPr>
        <p:spPr bwMode="auto">
          <a:xfrm>
            <a:off x="5582842" y="3276601"/>
            <a:ext cx="15740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2100" b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Partitional</a:t>
            </a:r>
          </a:p>
        </p:txBody>
      </p:sp>
      <p:sp>
        <p:nvSpPr>
          <p:cNvPr id="15366" name="Rectangle 6"/>
          <p:cNvSpPr>
            <a:spLocks noChangeArrowheads="1"/>
          </p:cNvSpPr>
          <p:nvPr/>
        </p:nvSpPr>
        <p:spPr bwMode="auto">
          <a:xfrm>
            <a:off x="1257300" y="3611167"/>
            <a:ext cx="40576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grpSp>
        <p:nvGrpSpPr>
          <p:cNvPr id="15367" name="Group 7"/>
          <p:cNvGrpSpPr>
            <a:grpSpLocks/>
          </p:cNvGrpSpPr>
          <p:nvPr/>
        </p:nvGrpSpPr>
        <p:grpSpPr bwMode="auto">
          <a:xfrm>
            <a:off x="5086351" y="4171950"/>
            <a:ext cx="2721769" cy="1600200"/>
            <a:chOff x="120" y="2532"/>
            <a:chExt cx="2286" cy="1344"/>
          </a:xfrm>
        </p:grpSpPr>
        <p:grpSp>
          <p:nvGrpSpPr>
            <p:cNvPr id="15390" name="Group 8"/>
            <p:cNvGrpSpPr>
              <a:grpSpLocks/>
            </p:cNvGrpSpPr>
            <p:nvPr/>
          </p:nvGrpSpPr>
          <p:grpSpPr bwMode="auto">
            <a:xfrm>
              <a:off x="120" y="2532"/>
              <a:ext cx="2286" cy="1344"/>
              <a:chOff x="156" y="2634"/>
              <a:chExt cx="2286" cy="1344"/>
            </a:xfrm>
          </p:grpSpPr>
          <p:sp>
            <p:nvSpPr>
              <p:cNvPr id="15400" name="Rectangle 9"/>
              <p:cNvSpPr>
                <a:spLocks noChangeArrowheads="1"/>
              </p:cNvSpPr>
              <p:nvPr/>
            </p:nvSpPr>
            <p:spPr bwMode="auto">
              <a:xfrm>
                <a:off x="156" y="2634"/>
                <a:ext cx="1080" cy="1344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15401" name="Rectangle 10"/>
              <p:cNvSpPr>
                <a:spLocks noChangeArrowheads="1"/>
              </p:cNvSpPr>
              <p:nvPr/>
            </p:nvSpPr>
            <p:spPr bwMode="auto">
              <a:xfrm>
                <a:off x="1362" y="2634"/>
                <a:ext cx="1080" cy="1344"/>
              </a:xfrm>
              <a:prstGeom prst="rect">
                <a:avLst/>
              </a:prstGeom>
              <a:solidFill>
                <a:srgbClr val="FFFFFF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pic>
          <p:nvPicPr>
            <p:cNvPr id="15391" name="Picture 11" descr="Edna Krabappe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4" y="3190"/>
              <a:ext cx="303" cy="65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2" name="Picture 12" descr="Principal Seymour  Skinner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8" y="2571"/>
              <a:ext cx="304" cy="65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3" name="Picture 13" descr="Groundskeeper Willie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2" y="2589"/>
              <a:ext cx="336" cy="5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4" name="Picture 14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0" y="3253"/>
              <a:ext cx="375" cy="5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5" name="Picture 15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8" y="2551"/>
              <a:ext cx="343" cy="619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6" name="Picture 16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" y="2763"/>
              <a:ext cx="375" cy="64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7" name="Picture 17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" y="3338"/>
              <a:ext cx="269" cy="4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8" name="Picture 18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" y="3432"/>
              <a:ext cx="181" cy="4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99" name="Picture 19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5" y="2617"/>
              <a:ext cx="272" cy="8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5368" name="Group 20"/>
          <p:cNvGrpSpPr>
            <a:grpSpLocks/>
          </p:cNvGrpSpPr>
          <p:nvPr/>
        </p:nvGrpSpPr>
        <p:grpSpPr bwMode="auto">
          <a:xfrm>
            <a:off x="1509712" y="3850482"/>
            <a:ext cx="2690813" cy="1912144"/>
            <a:chOff x="98" y="300"/>
            <a:chExt cx="3214" cy="2284"/>
          </a:xfrm>
        </p:grpSpPr>
        <p:pic>
          <p:nvPicPr>
            <p:cNvPr id="15370" name="Picture 21" descr="Edna Krabappel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" y="1440"/>
              <a:ext cx="504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1" name="Picture 22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" y="1824"/>
              <a:ext cx="308" cy="6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372" name="Picture 23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78"/>
              <a:ext cx="424" cy="1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373" name="Group 24"/>
            <p:cNvGrpSpPr>
              <a:grpSpLocks/>
            </p:cNvGrpSpPr>
            <p:nvPr/>
          </p:nvGrpSpPr>
          <p:grpSpPr bwMode="auto">
            <a:xfrm>
              <a:off x="1865" y="1505"/>
              <a:ext cx="1447" cy="1031"/>
              <a:chOff x="252" y="2364"/>
              <a:chExt cx="2258" cy="1608"/>
            </a:xfrm>
          </p:grpSpPr>
          <p:pic>
            <p:nvPicPr>
              <p:cNvPr id="15388" name="Picture 25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2364"/>
                <a:ext cx="900" cy="160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5389" name="Picture 26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6" y="2412"/>
                <a:ext cx="1154" cy="15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5374" name="Line 27"/>
            <p:cNvSpPr>
              <a:spLocks noChangeShapeType="1"/>
            </p:cNvSpPr>
            <p:nvPr/>
          </p:nvSpPr>
          <p:spPr bwMode="auto">
            <a:xfrm flipH="1" flipV="1">
              <a:off x="255" y="444"/>
              <a:ext cx="0" cy="903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375" name="Line 28"/>
            <p:cNvSpPr>
              <a:spLocks noChangeShapeType="1"/>
            </p:cNvSpPr>
            <p:nvPr/>
          </p:nvSpPr>
          <p:spPr bwMode="auto">
            <a:xfrm flipH="1" flipV="1">
              <a:off x="2919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376" name="Line 29"/>
            <p:cNvSpPr>
              <a:spLocks noChangeShapeType="1"/>
            </p:cNvSpPr>
            <p:nvPr/>
          </p:nvSpPr>
          <p:spPr bwMode="auto">
            <a:xfrm flipH="1" flipV="1">
              <a:off x="2227" y="1167"/>
              <a:ext cx="0" cy="185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377" name="Line 30"/>
            <p:cNvSpPr>
              <a:spLocks noChangeShapeType="1"/>
            </p:cNvSpPr>
            <p:nvPr/>
          </p:nvSpPr>
          <p:spPr bwMode="auto">
            <a:xfrm flipH="1">
              <a:off x="2221" y="1167"/>
              <a:ext cx="703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378" name="Line 31"/>
            <p:cNvSpPr>
              <a:spLocks noChangeShapeType="1"/>
            </p:cNvSpPr>
            <p:nvPr/>
          </p:nvSpPr>
          <p:spPr bwMode="auto">
            <a:xfrm flipH="1">
              <a:off x="1193" y="710"/>
              <a:ext cx="138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379" name="Line 32"/>
            <p:cNvSpPr>
              <a:spLocks noChangeShapeType="1"/>
            </p:cNvSpPr>
            <p:nvPr/>
          </p:nvSpPr>
          <p:spPr bwMode="auto">
            <a:xfrm rot="5400000" flipH="1">
              <a:off x="2343" y="943"/>
              <a:ext cx="45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380" name="Line 33"/>
            <p:cNvSpPr>
              <a:spLocks noChangeShapeType="1"/>
            </p:cNvSpPr>
            <p:nvPr/>
          </p:nvSpPr>
          <p:spPr bwMode="auto">
            <a:xfrm rot="5400000" flipH="1">
              <a:off x="1712" y="574"/>
              <a:ext cx="265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grpSp>
          <p:nvGrpSpPr>
            <p:cNvPr id="15381" name="Group 34"/>
            <p:cNvGrpSpPr>
              <a:grpSpLocks/>
            </p:cNvGrpSpPr>
            <p:nvPr/>
          </p:nvGrpSpPr>
          <p:grpSpPr bwMode="auto">
            <a:xfrm>
              <a:off x="859" y="969"/>
              <a:ext cx="703" cy="377"/>
              <a:chOff x="2112" y="2976"/>
              <a:chExt cx="703" cy="377"/>
            </a:xfrm>
          </p:grpSpPr>
          <p:sp>
            <p:nvSpPr>
              <p:cNvPr id="15385" name="Line 35"/>
              <p:cNvSpPr>
                <a:spLocks noChangeShapeType="1"/>
              </p:cNvSpPr>
              <p:nvPr/>
            </p:nvSpPr>
            <p:spPr bwMode="auto">
              <a:xfrm flipH="1" flipV="1">
                <a:off x="2810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5386" name="Line 36"/>
              <p:cNvSpPr>
                <a:spLocks noChangeShapeType="1"/>
              </p:cNvSpPr>
              <p:nvPr/>
            </p:nvSpPr>
            <p:spPr bwMode="auto">
              <a:xfrm flipH="1" flipV="1">
                <a:off x="2118" y="2976"/>
                <a:ext cx="0" cy="377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5387" name="Line 37"/>
              <p:cNvSpPr>
                <a:spLocks noChangeShapeType="1"/>
              </p:cNvSpPr>
              <p:nvPr/>
            </p:nvSpPr>
            <p:spPr bwMode="auto">
              <a:xfrm flipH="1">
                <a:off x="2112" y="2976"/>
                <a:ext cx="703" cy="0"/>
              </a:xfrm>
              <a:prstGeom prst="line">
                <a:avLst/>
              </a:prstGeom>
              <a:noFill/>
              <a:ln w="317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15382" name="Line 38"/>
            <p:cNvSpPr>
              <a:spLocks noChangeShapeType="1"/>
            </p:cNvSpPr>
            <p:nvPr/>
          </p:nvSpPr>
          <p:spPr bwMode="auto">
            <a:xfrm rot="5400000" flipH="1">
              <a:off x="1065" y="844"/>
              <a:ext cx="258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383" name="Line 39"/>
            <p:cNvSpPr>
              <a:spLocks noChangeShapeType="1"/>
            </p:cNvSpPr>
            <p:nvPr/>
          </p:nvSpPr>
          <p:spPr bwMode="auto">
            <a:xfrm flipH="1">
              <a:off x="253" y="446"/>
              <a:ext cx="158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384" name="Line 40"/>
            <p:cNvSpPr>
              <a:spLocks noChangeShapeType="1"/>
            </p:cNvSpPr>
            <p:nvPr/>
          </p:nvSpPr>
          <p:spPr bwMode="auto">
            <a:xfrm rot="5400000" flipH="1">
              <a:off x="989" y="370"/>
              <a:ext cx="139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15369" name="TextBox 40"/>
          <p:cNvSpPr txBox="1">
            <a:spLocks noChangeArrowheads="1"/>
          </p:cNvSpPr>
          <p:nvPr/>
        </p:nvSpPr>
        <p:spPr bwMode="auto">
          <a:xfrm>
            <a:off x="4676776" y="956073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245067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https://miro.medium.com/max/1000/0*EkVHmsUShFTV1qO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295400"/>
            <a:ext cx="4762500" cy="3762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389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11924" y="2263834"/>
            <a:ext cx="726527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rgbClr val="292929"/>
                </a:solidFill>
                <a:latin typeface="source-serif-pro"/>
              </a:rPr>
              <a:t>The most popular class of clustering algorithms that we have is the iterative relocation algorithms. These algorithms minimize a given clustering criterion by iteratively relocating data points between clusters until a (locally) optimal partition is attained. There are many algorithms that come under partitioning method some of the popular ones are K-Means, PAM(k-</a:t>
            </a:r>
            <a:r>
              <a:rPr lang="en-US" sz="2500" dirty="0" err="1">
                <a:solidFill>
                  <a:srgbClr val="292929"/>
                </a:solidFill>
                <a:latin typeface="source-serif-pro"/>
              </a:rPr>
              <a:t>Medoid</a:t>
            </a:r>
            <a:r>
              <a:rPr lang="en-US" sz="2500" dirty="0">
                <a:solidFill>
                  <a:srgbClr val="292929"/>
                </a:solidFill>
                <a:latin typeface="source-serif-pro"/>
              </a:rPr>
              <a:t>), CLARA algorithm (Clustering Large Applications) etc.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9263324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102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3151" y="5200651"/>
            <a:ext cx="307181" cy="664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5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101" y="5200651"/>
            <a:ext cx="350044" cy="650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556" name="Group 1028"/>
          <p:cNvGrpSpPr>
            <a:grpSpLocks/>
          </p:cNvGrpSpPr>
          <p:nvPr/>
        </p:nvGrpSpPr>
        <p:grpSpPr bwMode="auto">
          <a:xfrm>
            <a:off x="4400550" y="2341960"/>
            <a:ext cx="3257550" cy="3565922"/>
            <a:chOff x="2736" y="1247"/>
            <a:chExt cx="2736" cy="2995"/>
          </a:xfrm>
        </p:grpSpPr>
        <p:grpSp>
          <p:nvGrpSpPr>
            <p:cNvPr id="23562" name="Group 1029"/>
            <p:cNvGrpSpPr>
              <a:grpSpLocks/>
            </p:cNvGrpSpPr>
            <p:nvPr/>
          </p:nvGrpSpPr>
          <p:grpSpPr bwMode="auto">
            <a:xfrm>
              <a:off x="3312" y="2016"/>
              <a:ext cx="2160" cy="2160"/>
              <a:chOff x="1632" y="1248"/>
              <a:chExt cx="2160" cy="2160"/>
            </a:xfrm>
          </p:grpSpPr>
          <p:grpSp>
            <p:nvGrpSpPr>
              <p:cNvPr id="23573" name="Group 1030"/>
              <p:cNvGrpSpPr>
                <a:grpSpLocks/>
              </p:cNvGrpSpPr>
              <p:nvPr/>
            </p:nvGrpSpPr>
            <p:grpSpPr bwMode="auto">
              <a:xfrm>
                <a:off x="1632" y="1248"/>
                <a:ext cx="432" cy="432"/>
                <a:chOff x="1776" y="1920"/>
                <a:chExt cx="432" cy="432"/>
              </a:xfrm>
            </p:grpSpPr>
            <p:sp>
              <p:nvSpPr>
                <p:cNvPr id="23646" name="Rectangle 103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47" name="Text Box 103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0</a:t>
                  </a:r>
                </a:p>
              </p:txBody>
            </p:sp>
          </p:grpSp>
          <p:grpSp>
            <p:nvGrpSpPr>
              <p:cNvPr id="23574" name="Group 1033"/>
              <p:cNvGrpSpPr>
                <a:grpSpLocks/>
              </p:cNvGrpSpPr>
              <p:nvPr/>
            </p:nvGrpSpPr>
            <p:grpSpPr bwMode="auto">
              <a:xfrm>
                <a:off x="2064" y="1248"/>
                <a:ext cx="432" cy="432"/>
                <a:chOff x="1776" y="1920"/>
                <a:chExt cx="432" cy="432"/>
              </a:xfrm>
            </p:grpSpPr>
            <p:sp>
              <p:nvSpPr>
                <p:cNvPr id="23644" name="Rectangle 103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45" name="Text Box 103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8</a:t>
                  </a:r>
                </a:p>
              </p:txBody>
            </p:sp>
          </p:grpSp>
          <p:grpSp>
            <p:nvGrpSpPr>
              <p:cNvPr id="23575" name="Group 1036"/>
              <p:cNvGrpSpPr>
                <a:grpSpLocks/>
              </p:cNvGrpSpPr>
              <p:nvPr/>
            </p:nvGrpSpPr>
            <p:grpSpPr bwMode="auto">
              <a:xfrm>
                <a:off x="2496" y="1248"/>
                <a:ext cx="432" cy="432"/>
                <a:chOff x="1776" y="1920"/>
                <a:chExt cx="432" cy="432"/>
              </a:xfrm>
            </p:grpSpPr>
            <p:sp>
              <p:nvSpPr>
                <p:cNvPr id="23642" name="Rectangle 103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43" name="Text Box 103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8</a:t>
                  </a:r>
                </a:p>
              </p:txBody>
            </p:sp>
          </p:grpSp>
          <p:grpSp>
            <p:nvGrpSpPr>
              <p:cNvPr id="23576" name="Group 1039"/>
              <p:cNvGrpSpPr>
                <a:grpSpLocks/>
              </p:cNvGrpSpPr>
              <p:nvPr/>
            </p:nvGrpSpPr>
            <p:grpSpPr bwMode="auto">
              <a:xfrm>
                <a:off x="2928" y="1248"/>
                <a:ext cx="432" cy="432"/>
                <a:chOff x="1776" y="1920"/>
                <a:chExt cx="432" cy="432"/>
              </a:xfrm>
            </p:grpSpPr>
            <p:sp>
              <p:nvSpPr>
                <p:cNvPr id="23640" name="Rectangle 104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41" name="Text Box 104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7</a:t>
                  </a:r>
                </a:p>
              </p:txBody>
            </p:sp>
          </p:grpSp>
          <p:grpSp>
            <p:nvGrpSpPr>
              <p:cNvPr id="23577" name="Group 1042"/>
              <p:cNvGrpSpPr>
                <a:grpSpLocks/>
              </p:cNvGrpSpPr>
              <p:nvPr/>
            </p:nvGrpSpPr>
            <p:grpSpPr bwMode="auto">
              <a:xfrm>
                <a:off x="3360" y="1248"/>
                <a:ext cx="432" cy="432"/>
                <a:chOff x="1776" y="1920"/>
                <a:chExt cx="432" cy="432"/>
              </a:xfrm>
            </p:grpSpPr>
            <p:sp>
              <p:nvSpPr>
                <p:cNvPr id="23638" name="Rectangle 104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39" name="Text Box 104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7</a:t>
                  </a:r>
                </a:p>
              </p:txBody>
            </p:sp>
          </p:grpSp>
          <p:grpSp>
            <p:nvGrpSpPr>
              <p:cNvPr id="23578" name="Group 1045"/>
              <p:cNvGrpSpPr>
                <a:grpSpLocks/>
              </p:cNvGrpSpPr>
              <p:nvPr/>
            </p:nvGrpSpPr>
            <p:grpSpPr bwMode="auto">
              <a:xfrm>
                <a:off x="1632" y="1680"/>
                <a:ext cx="432" cy="432"/>
                <a:chOff x="1776" y="1920"/>
                <a:chExt cx="432" cy="432"/>
              </a:xfrm>
            </p:grpSpPr>
            <p:sp>
              <p:nvSpPr>
                <p:cNvPr id="23636" name="Rectangle 1046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37" name="Text Box 1047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79" name="Group 1048"/>
              <p:cNvGrpSpPr>
                <a:grpSpLocks/>
              </p:cNvGrpSpPr>
              <p:nvPr/>
            </p:nvGrpSpPr>
            <p:grpSpPr bwMode="auto">
              <a:xfrm>
                <a:off x="2064" y="1680"/>
                <a:ext cx="432" cy="432"/>
                <a:chOff x="1776" y="1920"/>
                <a:chExt cx="432" cy="432"/>
              </a:xfrm>
            </p:grpSpPr>
            <p:sp>
              <p:nvSpPr>
                <p:cNvPr id="23634" name="Rectangle 1049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35" name="Text Box 1050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0</a:t>
                  </a:r>
                </a:p>
              </p:txBody>
            </p:sp>
          </p:grpSp>
          <p:grpSp>
            <p:nvGrpSpPr>
              <p:cNvPr id="23580" name="Group 1051"/>
              <p:cNvGrpSpPr>
                <a:grpSpLocks/>
              </p:cNvGrpSpPr>
              <p:nvPr/>
            </p:nvGrpSpPr>
            <p:grpSpPr bwMode="auto">
              <a:xfrm>
                <a:off x="2496" y="1680"/>
                <a:ext cx="432" cy="432"/>
                <a:chOff x="1776" y="1920"/>
                <a:chExt cx="432" cy="432"/>
              </a:xfrm>
            </p:grpSpPr>
            <p:sp>
              <p:nvSpPr>
                <p:cNvPr id="23632" name="Rectangle 1052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33" name="Text Box 1053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2</a:t>
                  </a:r>
                </a:p>
              </p:txBody>
            </p:sp>
          </p:grpSp>
          <p:grpSp>
            <p:nvGrpSpPr>
              <p:cNvPr id="23581" name="Group 1054"/>
              <p:cNvGrpSpPr>
                <a:grpSpLocks/>
              </p:cNvGrpSpPr>
              <p:nvPr/>
            </p:nvGrpSpPr>
            <p:grpSpPr bwMode="auto">
              <a:xfrm>
                <a:off x="2928" y="1680"/>
                <a:ext cx="432" cy="432"/>
                <a:chOff x="1776" y="1920"/>
                <a:chExt cx="432" cy="432"/>
              </a:xfrm>
            </p:grpSpPr>
            <p:sp>
              <p:nvSpPr>
                <p:cNvPr id="23630" name="Rectangle 1055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31" name="Text Box 1056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4</a:t>
                  </a:r>
                </a:p>
              </p:txBody>
            </p:sp>
          </p:grpSp>
          <p:grpSp>
            <p:nvGrpSpPr>
              <p:cNvPr id="23582" name="Group 1057"/>
              <p:cNvGrpSpPr>
                <a:grpSpLocks/>
              </p:cNvGrpSpPr>
              <p:nvPr/>
            </p:nvGrpSpPr>
            <p:grpSpPr bwMode="auto">
              <a:xfrm>
                <a:off x="3360" y="1680"/>
                <a:ext cx="432" cy="432"/>
                <a:chOff x="1776" y="1920"/>
                <a:chExt cx="432" cy="432"/>
              </a:xfrm>
            </p:grpSpPr>
            <p:sp>
              <p:nvSpPr>
                <p:cNvPr id="23628" name="Rectangle 1058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29" name="Text Box 1059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4</a:t>
                  </a:r>
                </a:p>
              </p:txBody>
            </p:sp>
          </p:grpSp>
          <p:grpSp>
            <p:nvGrpSpPr>
              <p:cNvPr id="23583" name="Group 1060"/>
              <p:cNvGrpSpPr>
                <a:grpSpLocks/>
              </p:cNvGrpSpPr>
              <p:nvPr/>
            </p:nvGrpSpPr>
            <p:grpSpPr bwMode="auto">
              <a:xfrm>
                <a:off x="1632" y="2112"/>
                <a:ext cx="432" cy="432"/>
                <a:chOff x="1776" y="1920"/>
                <a:chExt cx="432" cy="432"/>
              </a:xfrm>
            </p:grpSpPr>
            <p:sp>
              <p:nvSpPr>
                <p:cNvPr id="23626" name="Rectangle 106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27" name="Text Box 106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84" name="Group 1063"/>
              <p:cNvGrpSpPr>
                <a:grpSpLocks/>
              </p:cNvGrpSpPr>
              <p:nvPr/>
            </p:nvGrpSpPr>
            <p:grpSpPr bwMode="auto">
              <a:xfrm>
                <a:off x="2064" y="2112"/>
                <a:ext cx="432" cy="432"/>
                <a:chOff x="1776" y="1920"/>
                <a:chExt cx="432" cy="432"/>
              </a:xfrm>
            </p:grpSpPr>
            <p:sp>
              <p:nvSpPr>
                <p:cNvPr id="23624" name="Rectangle 106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25" name="Text Box 106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85" name="Group 1066"/>
              <p:cNvGrpSpPr>
                <a:grpSpLocks/>
              </p:cNvGrpSpPr>
              <p:nvPr/>
            </p:nvGrpSpPr>
            <p:grpSpPr bwMode="auto">
              <a:xfrm>
                <a:off x="2496" y="2112"/>
                <a:ext cx="432" cy="432"/>
                <a:chOff x="1776" y="1920"/>
                <a:chExt cx="432" cy="432"/>
              </a:xfrm>
            </p:grpSpPr>
            <p:sp>
              <p:nvSpPr>
                <p:cNvPr id="23622" name="Rectangle 106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23" name="Text Box 106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0</a:t>
                  </a:r>
                </a:p>
              </p:txBody>
            </p:sp>
          </p:grpSp>
          <p:grpSp>
            <p:nvGrpSpPr>
              <p:cNvPr id="23586" name="Group 1069"/>
              <p:cNvGrpSpPr>
                <a:grpSpLocks/>
              </p:cNvGrpSpPr>
              <p:nvPr/>
            </p:nvGrpSpPr>
            <p:grpSpPr bwMode="auto">
              <a:xfrm>
                <a:off x="2928" y="2112"/>
                <a:ext cx="432" cy="432"/>
                <a:chOff x="1776" y="1920"/>
                <a:chExt cx="432" cy="432"/>
              </a:xfrm>
            </p:grpSpPr>
            <p:sp>
              <p:nvSpPr>
                <p:cNvPr id="23620" name="Rectangle 107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21" name="Text Box 107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3</a:t>
                  </a:r>
                </a:p>
              </p:txBody>
            </p:sp>
          </p:grpSp>
          <p:grpSp>
            <p:nvGrpSpPr>
              <p:cNvPr id="23587" name="Group 1072"/>
              <p:cNvGrpSpPr>
                <a:grpSpLocks/>
              </p:cNvGrpSpPr>
              <p:nvPr/>
            </p:nvGrpSpPr>
            <p:grpSpPr bwMode="auto">
              <a:xfrm>
                <a:off x="3360" y="2112"/>
                <a:ext cx="432" cy="432"/>
                <a:chOff x="1776" y="1920"/>
                <a:chExt cx="432" cy="432"/>
              </a:xfrm>
            </p:grpSpPr>
            <p:sp>
              <p:nvSpPr>
                <p:cNvPr id="23618" name="Rectangle 107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19" name="Text Box 107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3</a:t>
                  </a:r>
                </a:p>
              </p:txBody>
            </p:sp>
          </p:grpSp>
          <p:grpSp>
            <p:nvGrpSpPr>
              <p:cNvPr id="23588" name="Group 1075"/>
              <p:cNvGrpSpPr>
                <a:grpSpLocks/>
              </p:cNvGrpSpPr>
              <p:nvPr/>
            </p:nvGrpSpPr>
            <p:grpSpPr bwMode="auto">
              <a:xfrm>
                <a:off x="1632" y="2544"/>
                <a:ext cx="432" cy="432"/>
                <a:chOff x="1776" y="1920"/>
                <a:chExt cx="432" cy="432"/>
              </a:xfrm>
            </p:grpSpPr>
            <p:sp>
              <p:nvSpPr>
                <p:cNvPr id="23616" name="Rectangle 1076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17" name="Text Box 1077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89" name="Group 1078"/>
              <p:cNvGrpSpPr>
                <a:grpSpLocks/>
              </p:cNvGrpSpPr>
              <p:nvPr/>
            </p:nvGrpSpPr>
            <p:grpSpPr bwMode="auto">
              <a:xfrm>
                <a:off x="2064" y="2544"/>
                <a:ext cx="432" cy="432"/>
                <a:chOff x="1776" y="1920"/>
                <a:chExt cx="432" cy="432"/>
              </a:xfrm>
            </p:grpSpPr>
            <p:sp>
              <p:nvSpPr>
                <p:cNvPr id="23614" name="Rectangle 1079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15" name="Text Box 1080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90" name="Group 1081"/>
              <p:cNvGrpSpPr>
                <a:grpSpLocks/>
              </p:cNvGrpSpPr>
              <p:nvPr/>
            </p:nvGrpSpPr>
            <p:grpSpPr bwMode="auto">
              <a:xfrm>
                <a:off x="2496" y="2544"/>
                <a:ext cx="432" cy="432"/>
                <a:chOff x="1776" y="1920"/>
                <a:chExt cx="432" cy="432"/>
              </a:xfrm>
            </p:grpSpPr>
            <p:sp>
              <p:nvSpPr>
                <p:cNvPr id="23612" name="Rectangle 1082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13" name="Text Box 1083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91" name="Group 1084"/>
              <p:cNvGrpSpPr>
                <a:grpSpLocks/>
              </p:cNvGrpSpPr>
              <p:nvPr/>
            </p:nvGrpSpPr>
            <p:grpSpPr bwMode="auto">
              <a:xfrm>
                <a:off x="2928" y="2544"/>
                <a:ext cx="432" cy="432"/>
                <a:chOff x="1776" y="1920"/>
                <a:chExt cx="432" cy="432"/>
              </a:xfrm>
            </p:grpSpPr>
            <p:sp>
              <p:nvSpPr>
                <p:cNvPr id="23610" name="Rectangle 1085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11" name="Text Box 1086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0</a:t>
                  </a:r>
                </a:p>
              </p:txBody>
            </p:sp>
          </p:grpSp>
          <p:grpSp>
            <p:nvGrpSpPr>
              <p:cNvPr id="23592" name="Group 1087"/>
              <p:cNvGrpSpPr>
                <a:grpSpLocks/>
              </p:cNvGrpSpPr>
              <p:nvPr/>
            </p:nvGrpSpPr>
            <p:grpSpPr bwMode="auto">
              <a:xfrm>
                <a:off x="3360" y="2544"/>
                <a:ext cx="432" cy="432"/>
                <a:chOff x="1776" y="1920"/>
                <a:chExt cx="432" cy="432"/>
              </a:xfrm>
            </p:grpSpPr>
            <p:sp>
              <p:nvSpPr>
                <p:cNvPr id="23608" name="Rectangle 1088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09" name="Text Box 1089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1</a:t>
                  </a:r>
                </a:p>
              </p:txBody>
            </p:sp>
          </p:grpSp>
          <p:grpSp>
            <p:nvGrpSpPr>
              <p:cNvPr id="23593" name="Group 1090"/>
              <p:cNvGrpSpPr>
                <a:grpSpLocks/>
              </p:cNvGrpSpPr>
              <p:nvPr/>
            </p:nvGrpSpPr>
            <p:grpSpPr bwMode="auto">
              <a:xfrm>
                <a:off x="1632" y="2976"/>
                <a:ext cx="432" cy="432"/>
                <a:chOff x="1776" y="1920"/>
                <a:chExt cx="432" cy="432"/>
              </a:xfrm>
            </p:grpSpPr>
            <p:sp>
              <p:nvSpPr>
                <p:cNvPr id="23606" name="Rectangle 1091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07" name="Text Box 1092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94" name="Group 1093"/>
              <p:cNvGrpSpPr>
                <a:grpSpLocks/>
              </p:cNvGrpSpPr>
              <p:nvPr/>
            </p:nvGrpSpPr>
            <p:grpSpPr bwMode="auto">
              <a:xfrm>
                <a:off x="2064" y="2976"/>
                <a:ext cx="432" cy="432"/>
                <a:chOff x="1776" y="1920"/>
                <a:chExt cx="432" cy="432"/>
              </a:xfrm>
            </p:grpSpPr>
            <p:sp>
              <p:nvSpPr>
                <p:cNvPr id="23604" name="Rectangle 1094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05" name="Text Box 1095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95" name="Group 1096"/>
              <p:cNvGrpSpPr>
                <a:grpSpLocks/>
              </p:cNvGrpSpPr>
              <p:nvPr/>
            </p:nvGrpSpPr>
            <p:grpSpPr bwMode="auto">
              <a:xfrm>
                <a:off x="2496" y="2976"/>
                <a:ext cx="432" cy="432"/>
                <a:chOff x="1776" y="1920"/>
                <a:chExt cx="432" cy="432"/>
              </a:xfrm>
            </p:grpSpPr>
            <p:sp>
              <p:nvSpPr>
                <p:cNvPr id="23602" name="Rectangle 1097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03" name="Text Box 1098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96" name="Group 1099"/>
              <p:cNvGrpSpPr>
                <a:grpSpLocks/>
              </p:cNvGrpSpPr>
              <p:nvPr/>
            </p:nvGrpSpPr>
            <p:grpSpPr bwMode="auto">
              <a:xfrm>
                <a:off x="2928" y="2976"/>
                <a:ext cx="432" cy="432"/>
                <a:chOff x="1776" y="1920"/>
                <a:chExt cx="432" cy="432"/>
              </a:xfrm>
            </p:grpSpPr>
            <p:sp>
              <p:nvSpPr>
                <p:cNvPr id="23600" name="Rectangle 1100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601" name="Text Box 1101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endParaRPr lang="en-US" altLang="en-US" sz="1800"/>
                </a:p>
              </p:txBody>
            </p:sp>
          </p:grpSp>
          <p:grpSp>
            <p:nvGrpSpPr>
              <p:cNvPr id="23597" name="Group 1102"/>
              <p:cNvGrpSpPr>
                <a:grpSpLocks/>
              </p:cNvGrpSpPr>
              <p:nvPr/>
            </p:nvGrpSpPr>
            <p:grpSpPr bwMode="auto">
              <a:xfrm>
                <a:off x="3360" y="2976"/>
                <a:ext cx="432" cy="432"/>
                <a:chOff x="1776" y="1920"/>
                <a:chExt cx="432" cy="432"/>
              </a:xfrm>
            </p:grpSpPr>
            <p:sp>
              <p:nvSpPr>
                <p:cNvPr id="23598" name="Rectangle 1103"/>
                <p:cNvSpPr>
                  <a:spLocks noChangeArrowheads="1"/>
                </p:cNvSpPr>
                <p:nvPr/>
              </p:nvSpPr>
              <p:spPr bwMode="auto">
                <a:xfrm>
                  <a:off x="1776" y="1920"/>
                  <a:ext cx="432" cy="432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endParaRPr lang="en-US" altLang="en-US" sz="1800"/>
                </a:p>
              </p:txBody>
            </p:sp>
            <p:sp>
              <p:nvSpPr>
                <p:cNvPr id="23599" name="Text Box 1104"/>
                <p:cNvSpPr txBox="1">
                  <a:spLocks noChangeArrowheads="1"/>
                </p:cNvSpPr>
                <p:nvPr/>
              </p:nvSpPr>
              <p:spPr bwMode="auto">
                <a:xfrm>
                  <a:off x="1776" y="1968"/>
                  <a:ext cx="432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1pPr>
                  <a:lvl2pPr marL="37931725" indent="-37474525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charset="0"/>
                      <a:ea typeface="ＭＳ Ｐゴシック" pitchFamily="34" charset="-128"/>
                    </a:defRPr>
                  </a:lvl9pPr>
                </a:lstStyle>
                <a:p>
                  <a:pPr>
                    <a:spcBef>
                      <a:spcPct val="50000"/>
                    </a:spcBef>
                  </a:pPr>
                  <a:r>
                    <a:rPr lang="en-US" altLang="en-US" sz="1800"/>
                    <a:t>0</a:t>
                  </a:r>
                </a:p>
              </p:txBody>
            </p:sp>
          </p:grpSp>
        </p:grpSp>
        <p:pic>
          <p:nvPicPr>
            <p:cNvPr id="23563" name="Picture 1105" descr="Edna Krabappe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0" y="1360"/>
              <a:ext cx="280" cy="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4" name="Picture 110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40" y="1592"/>
              <a:ext cx="171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5" name="Picture 110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247"/>
              <a:ext cx="236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6" name="Picture 1108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3" y="1425"/>
              <a:ext cx="320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7" name="Picture 1109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40" y="1440"/>
              <a:ext cx="411" cy="5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8" name="Picture 1110" descr="Edna Krabappel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0" y="1968"/>
              <a:ext cx="280" cy="6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69" name="Picture 1111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" y="2496"/>
              <a:ext cx="171" cy="3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0" name="Picture 1112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4" y="2736"/>
              <a:ext cx="236" cy="7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1" name="Picture 11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36" y="3696"/>
              <a:ext cx="294" cy="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572" name="Picture 111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4" y="3264"/>
              <a:ext cx="258" cy="5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557" name="Text Box 1115"/>
          <p:cNvSpPr txBox="1">
            <a:spLocks noChangeArrowheads="1"/>
          </p:cNvSpPr>
          <p:nvPr/>
        </p:nvSpPr>
        <p:spPr bwMode="auto">
          <a:xfrm>
            <a:off x="1371600" y="4343400"/>
            <a:ext cx="2507418" cy="149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4050"/>
              <a:t>D(  ,  ) = 8</a:t>
            </a:r>
          </a:p>
          <a:p>
            <a:pPr>
              <a:spcBef>
                <a:spcPct val="25000"/>
              </a:spcBef>
            </a:pPr>
            <a:r>
              <a:rPr lang="en-US" altLang="en-US" sz="4050"/>
              <a:t>D(  ,  ) = 1</a:t>
            </a:r>
          </a:p>
        </p:txBody>
      </p:sp>
      <p:pic>
        <p:nvPicPr>
          <p:cNvPr id="23558" name="Picture 1116" descr="Edna Krabappel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4343401"/>
            <a:ext cx="333375" cy="7227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9" name="Picture 1117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1" y="4514851"/>
            <a:ext cx="203597" cy="460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60" name="Text Box 1118"/>
          <p:cNvSpPr txBox="1">
            <a:spLocks noChangeArrowheads="1"/>
          </p:cNvSpPr>
          <p:nvPr/>
        </p:nvSpPr>
        <p:spPr bwMode="auto">
          <a:xfrm>
            <a:off x="1371601" y="1921669"/>
            <a:ext cx="2983706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We begin with a distance matrix which contains the distances between every pair of objects in our database.</a:t>
            </a:r>
          </a:p>
        </p:txBody>
      </p:sp>
      <p:sp>
        <p:nvSpPr>
          <p:cNvPr id="23561" name="TextBox 94"/>
          <p:cNvSpPr txBox="1">
            <a:spLocks noChangeArrowheads="1"/>
          </p:cNvSpPr>
          <p:nvPr/>
        </p:nvSpPr>
        <p:spPr bwMode="auto">
          <a:xfrm>
            <a:off x="4725591" y="1094185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54894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ChangeArrowheads="1"/>
          </p:cNvSpPr>
          <p:nvPr/>
        </p:nvSpPr>
        <p:spPr bwMode="auto">
          <a:xfrm>
            <a:off x="1657350" y="1543050"/>
            <a:ext cx="58293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9056" tIns="34529" rIns="69056" bIns="34529" anchor="ctr"/>
          <a:lstStyle/>
          <a:p>
            <a:pPr>
              <a:defRPr/>
            </a:pPr>
            <a:r>
              <a:rPr lang="en-US" sz="3300" dirty="0" err="1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Partitional</a:t>
            </a:r>
            <a:r>
              <a:rPr lang="en-US" sz="3300" dirty="0">
                <a:solidFill>
                  <a:schemeClr val="tx2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pitchFamily="-111" charset="0"/>
                <a:ea typeface="ＭＳ Ｐゴシック" pitchFamily="-111" charset="-128"/>
                <a:cs typeface="ＭＳ Ｐゴシック" pitchFamily="-111" charset="-128"/>
              </a:rPr>
              <a:t> Clustering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1314450" y="2343151"/>
            <a:ext cx="6343650" cy="1854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/>
              <a:t>Nonhierarchical, each instance is placed in exactly one of K non-overlapping clusters.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en-US" altLang="en-US"/>
              <a:t>Since only one set of clusters is output, the user normally has to input the desired number of clusters K.</a:t>
            </a:r>
          </a:p>
        </p:txBody>
      </p:sp>
      <p:grpSp>
        <p:nvGrpSpPr>
          <p:cNvPr id="31748" name="Group 4"/>
          <p:cNvGrpSpPr>
            <a:grpSpLocks/>
          </p:cNvGrpSpPr>
          <p:nvPr/>
        </p:nvGrpSpPr>
        <p:grpSpPr bwMode="auto">
          <a:xfrm>
            <a:off x="1257300" y="4857751"/>
            <a:ext cx="3771900" cy="827485"/>
            <a:chOff x="36" y="642"/>
            <a:chExt cx="5760" cy="1413"/>
          </a:xfrm>
        </p:grpSpPr>
        <p:pic>
          <p:nvPicPr>
            <p:cNvPr id="31764" name="Picture 5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" y="789"/>
              <a:ext cx="513" cy="1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5" name="Picture 6" descr="Principal Seymour  Skinner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4" y="828"/>
              <a:ext cx="514" cy="11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66" name="Rectangle 7"/>
            <p:cNvSpPr>
              <a:spLocks noChangeArrowheads="1"/>
            </p:cNvSpPr>
            <p:nvPr/>
          </p:nvSpPr>
          <p:spPr bwMode="auto">
            <a:xfrm>
              <a:off x="36" y="1365"/>
              <a:ext cx="5760" cy="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pic>
          <p:nvPicPr>
            <p:cNvPr id="31767" name="Picture 8" descr="Groundskeeper Willi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33" y="920"/>
              <a:ext cx="569" cy="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8" name="Picture 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9" y="865"/>
              <a:ext cx="635" cy="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9" name="Picture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" y="753"/>
              <a:ext cx="580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70" name="Picture 11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4" y="806"/>
              <a:ext cx="592" cy="1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71" name="Picture 12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27" y="1090"/>
              <a:ext cx="454" cy="7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72" name="Picture 13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95" y="1096"/>
              <a:ext cx="306" cy="6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73" name="Picture 14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1" y="642"/>
              <a:ext cx="459" cy="14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1749" name="Group 15"/>
          <p:cNvGrpSpPr>
            <a:grpSpLocks/>
          </p:cNvGrpSpPr>
          <p:nvPr/>
        </p:nvGrpSpPr>
        <p:grpSpPr bwMode="auto">
          <a:xfrm>
            <a:off x="5943601" y="4686300"/>
            <a:ext cx="1897856" cy="1115616"/>
            <a:chOff x="1880" y="2584"/>
            <a:chExt cx="1267" cy="745"/>
          </a:xfrm>
        </p:grpSpPr>
        <p:grpSp>
          <p:nvGrpSpPr>
            <p:cNvPr id="31752" name="Group 16"/>
            <p:cNvGrpSpPr>
              <a:grpSpLocks/>
            </p:cNvGrpSpPr>
            <p:nvPr/>
          </p:nvGrpSpPr>
          <p:grpSpPr bwMode="auto">
            <a:xfrm>
              <a:off x="1880" y="2584"/>
              <a:ext cx="1267" cy="745"/>
              <a:chOff x="156" y="2634"/>
              <a:chExt cx="2286" cy="1344"/>
            </a:xfrm>
          </p:grpSpPr>
          <p:sp>
            <p:nvSpPr>
              <p:cNvPr id="31762" name="Rectangle 17"/>
              <p:cNvSpPr>
                <a:spLocks noChangeArrowheads="1"/>
              </p:cNvSpPr>
              <p:nvPr/>
            </p:nvSpPr>
            <p:spPr bwMode="auto">
              <a:xfrm>
                <a:off x="156" y="2634"/>
                <a:ext cx="1080" cy="134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1763" name="Rectangle 18"/>
              <p:cNvSpPr>
                <a:spLocks noChangeArrowheads="1"/>
              </p:cNvSpPr>
              <p:nvPr/>
            </p:nvSpPr>
            <p:spPr bwMode="auto">
              <a:xfrm>
                <a:off x="1362" y="2634"/>
                <a:ext cx="1080" cy="1344"/>
              </a:xfrm>
              <a:prstGeom prst="rect">
                <a:avLst/>
              </a:prstGeom>
              <a:solidFill>
                <a:schemeClr val="bg1"/>
              </a:solidFill>
              <a:ln w="1587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</p:grpSp>
        <p:pic>
          <p:nvPicPr>
            <p:cNvPr id="31753" name="Picture 19" descr="Edna Krabappel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40" y="2626"/>
              <a:ext cx="16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4" name="Picture 20" descr="Principal Seymour  Skinner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1" y="2958"/>
              <a:ext cx="168" cy="3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5" name="Picture 21" descr="Groundskeeper Willie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9" y="3005"/>
              <a:ext cx="186" cy="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6" name="Picture 22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9" y="2595"/>
              <a:ext cx="208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7" name="Picture 23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8" y="2602"/>
              <a:ext cx="190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8" name="Picture 24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7" y="2984"/>
              <a:ext cx="195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59" name="Picture 25"/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85" y="2695"/>
              <a:ext cx="149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0" name="Picture 26"/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1" y="3050"/>
              <a:ext cx="101" cy="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761" name="Picture 27" descr="C:\Documents and Settings\eamonn\Desktop\bios_family_marge.gif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13" y="2608"/>
              <a:ext cx="151" cy="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8620" name="AutoShape 28"/>
          <p:cNvSpPr>
            <a:spLocks noChangeArrowheads="1"/>
          </p:cNvSpPr>
          <p:nvPr/>
        </p:nvSpPr>
        <p:spPr bwMode="auto">
          <a:xfrm>
            <a:off x="5200650" y="5029200"/>
            <a:ext cx="400050" cy="342900"/>
          </a:xfrm>
          <a:prstGeom prst="rightArrow">
            <a:avLst>
              <a:gd name="adj1" fmla="val 50000"/>
              <a:gd name="adj2" fmla="val 29167"/>
            </a:avLst>
          </a:prstGeom>
          <a:solidFill>
            <a:srgbClr val="FF9900"/>
          </a:solidFill>
          <a:ln w="0">
            <a:solidFill>
              <a:srgbClr val="000000"/>
            </a:solidFill>
            <a:miter lim="800000"/>
            <a:headEnd/>
            <a:tailEnd/>
          </a:ln>
          <a:effectLst>
            <a:outerShdw blurRad="63500" dist="107763" dir="8100000" algn="ctr" rotWithShape="0">
              <a:srgbClr val="000000">
                <a:alpha val="74998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itchFamily="-111" charset="0"/>
              <a:ea typeface="ＭＳ Ｐゴシック" pitchFamily="-111" charset="-128"/>
              <a:cs typeface="ＭＳ Ｐゴシック" pitchFamily="-111" charset="-128"/>
            </a:endParaRPr>
          </a:p>
        </p:txBody>
      </p:sp>
      <p:sp>
        <p:nvSpPr>
          <p:cNvPr id="31751" name="TextBox 28"/>
          <p:cNvSpPr txBox="1">
            <a:spLocks noChangeArrowheads="1"/>
          </p:cNvSpPr>
          <p:nvPr/>
        </p:nvSpPr>
        <p:spPr bwMode="auto">
          <a:xfrm>
            <a:off x="4725591" y="1094185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50667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Demo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https://www.youtube.com/watch?v=nXY6PxAaOk0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https://www.youtube.com/watch?v=5I3Ei69I40s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2097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ChangeArrowheads="1"/>
          </p:cNvSpPr>
          <p:nvPr/>
        </p:nvSpPr>
        <p:spPr bwMode="auto">
          <a:xfrm>
            <a:off x="152401" y="1524000"/>
            <a:ext cx="4114800" cy="4847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b="1" dirty="0"/>
              <a:t>Partition Algorithm 1: k-means 	</a:t>
            </a:r>
          </a:p>
          <a:p>
            <a:pPr>
              <a:spcBef>
                <a:spcPct val="50000"/>
              </a:spcBef>
            </a:pPr>
            <a:r>
              <a:rPr lang="en-US" altLang="en-US" sz="1800" dirty="0"/>
              <a:t>1. Decide on a value for </a:t>
            </a:r>
            <a:r>
              <a:rPr lang="en-US" altLang="en-US" sz="1800" i="1" dirty="0"/>
              <a:t>k</a:t>
            </a:r>
            <a:r>
              <a:rPr lang="en-US" altLang="en-US" sz="1800" dirty="0"/>
              <a:t>.	</a:t>
            </a:r>
          </a:p>
          <a:p>
            <a:pPr>
              <a:spcBef>
                <a:spcPct val="50000"/>
              </a:spcBef>
            </a:pPr>
            <a:r>
              <a:rPr lang="en-US" altLang="en-US" sz="1800" dirty="0"/>
              <a:t>2. Initialize the </a:t>
            </a:r>
            <a:r>
              <a:rPr lang="en-US" altLang="en-US" sz="1800" i="1" dirty="0"/>
              <a:t>k</a:t>
            </a:r>
            <a:r>
              <a:rPr lang="en-US" altLang="en-US" sz="1800" dirty="0"/>
              <a:t> cluster centers (randomly, if necessary).</a:t>
            </a:r>
          </a:p>
          <a:p>
            <a:pPr>
              <a:spcBef>
                <a:spcPct val="50000"/>
              </a:spcBef>
            </a:pPr>
            <a:r>
              <a:rPr lang="en-US" altLang="en-US" sz="1800" dirty="0"/>
              <a:t>3. Decide the class memberships of the </a:t>
            </a:r>
            <a:r>
              <a:rPr lang="en-US" altLang="en-US" sz="1800" i="1" dirty="0"/>
              <a:t>N</a:t>
            </a:r>
            <a:r>
              <a:rPr lang="en-US" altLang="en-US" sz="1800" dirty="0"/>
              <a:t> objects by assigning them to the nearest cluster center.	</a:t>
            </a:r>
          </a:p>
          <a:p>
            <a:pPr>
              <a:spcBef>
                <a:spcPct val="50000"/>
              </a:spcBef>
            </a:pPr>
            <a:r>
              <a:rPr lang="en-US" altLang="en-US" sz="1800" dirty="0"/>
              <a:t>4. Re-estimate the </a:t>
            </a:r>
            <a:r>
              <a:rPr lang="en-US" altLang="en-US" sz="1800" i="1" dirty="0"/>
              <a:t>k</a:t>
            </a:r>
            <a:r>
              <a:rPr lang="en-US" altLang="en-US" sz="1800" dirty="0"/>
              <a:t> cluster centers, by assuming the memberships found above are correct.	</a:t>
            </a:r>
          </a:p>
          <a:p>
            <a:pPr>
              <a:spcBef>
                <a:spcPct val="50000"/>
              </a:spcBef>
            </a:pPr>
            <a:r>
              <a:rPr lang="en-US" altLang="en-US" sz="1800" dirty="0"/>
              <a:t>5. If none of the </a:t>
            </a:r>
            <a:r>
              <a:rPr lang="en-US" altLang="en-US" sz="1800" i="1" dirty="0"/>
              <a:t>N</a:t>
            </a:r>
            <a:r>
              <a:rPr lang="en-US" altLang="en-US" sz="1800" dirty="0"/>
              <a:t> objects changed membership in the last iteration, exit. Otherwise </a:t>
            </a:r>
            <a:r>
              <a:rPr lang="en-US" altLang="en-US" sz="1800" dirty="0" err="1"/>
              <a:t>goto</a:t>
            </a:r>
            <a:r>
              <a:rPr lang="en-US" altLang="en-US" sz="1800" dirty="0"/>
              <a:t> 3.	</a:t>
            </a:r>
          </a:p>
        </p:txBody>
      </p:sp>
      <p:pic>
        <p:nvPicPr>
          <p:cNvPr id="6146" name="Picture 2" descr="https://miro.medium.com/max/1130/1*Y8A_PtK1ObhNIlVX3j8aT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4091" y="2362200"/>
            <a:ext cx="4022627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33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2"/>
          <p:cNvSpPr>
            <a:spLocks noChangeArrowheads="1"/>
          </p:cNvSpPr>
          <p:nvPr/>
        </p:nvSpPr>
        <p:spPr bwMode="auto">
          <a:xfrm>
            <a:off x="1984772" y="1756173"/>
            <a:ext cx="5242322" cy="41112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19" name="Rectangle 43"/>
          <p:cNvSpPr>
            <a:spLocks noChangeArrowheads="1"/>
          </p:cNvSpPr>
          <p:nvPr/>
        </p:nvSpPr>
        <p:spPr bwMode="auto">
          <a:xfrm>
            <a:off x="2696766" y="1956197"/>
            <a:ext cx="4400550" cy="30575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20" name="Line 44"/>
          <p:cNvSpPr>
            <a:spLocks noChangeShapeType="1"/>
          </p:cNvSpPr>
          <p:nvPr/>
        </p:nvSpPr>
        <p:spPr bwMode="auto">
          <a:xfrm>
            <a:off x="2696766" y="4400550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21" name="Line 45"/>
          <p:cNvSpPr>
            <a:spLocks noChangeShapeType="1"/>
          </p:cNvSpPr>
          <p:nvPr/>
        </p:nvSpPr>
        <p:spPr bwMode="auto">
          <a:xfrm>
            <a:off x="2696766" y="3788569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22" name="Line 46"/>
          <p:cNvSpPr>
            <a:spLocks noChangeShapeType="1"/>
          </p:cNvSpPr>
          <p:nvPr/>
        </p:nvSpPr>
        <p:spPr bwMode="auto">
          <a:xfrm>
            <a:off x="2696766" y="3181350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23" name="Line 47"/>
          <p:cNvSpPr>
            <a:spLocks noChangeShapeType="1"/>
          </p:cNvSpPr>
          <p:nvPr/>
        </p:nvSpPr>
        <p:spPr bwMode="auto">
          <a:xfrm>
            <a:off x="2696766" y="2568180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24" name="Line 48"/>
          <p:cNvSpPr>
            <a:spLocks noChangeShapeType="1"/>
          </p:cNvSpPr>
          <p:nvPr/>
        </p:nvSpPr>
        <p:spPr bwMode="auto">
          <a:xfrm>
            <a:off x="2696766" y="1956199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25" name="Rectangle 49"/>
          <p:cNvSpPr>
            <a:spLocks noChangeArrowheads="1"/>
          </p:cNvSpPr>
          <p:nvPr/>
        </p:nvSpPr>
        <p:spPr bwMode="auto">
          <a:xfrm>
            <a:off x="2696766" y="1956197"/>
            <a:ext cx="4400550" cy="3057525"/>
          </a:xfrm>
          <a:prstGeom prst="rect">
            <a:avLst/>
          </a:prstGeom>
          <a:noFill/>
          <a:ln w="7938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26" name="Line 50"/>
          <p:cNvSpPr>
            <a:spLocks noChangeShapeType="1"/>
          </p:cNvSpPr>
          <p:nvPr/>
        </p:nvSpPr>
        <p:spPr bwMode="auto">
          <a:xfrm>
            <a:off x="2696767" y="1956197"/>
            <a:ext cx="1190" cy="3057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27" name="Line 51"/>
          <p:cNvSpPr>
            <a:spLocks noChangeShapeType="1"/>
          </p:cNvSpPr>
          <p:nvPr/>
        </p:nvSpPr>
        <p:spPr bwMode="auto">
          <a:xfrm>
            <a:off x="2644378" y="5013724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28" name="Line 52"/>
          <p:cNvSpPr>
            <a:spLocks noChangeShapeType="1"/>
          </p:cNvSpPr>
          <p:nvPr/>
        </p:nvSpPr>
        <p:spPr bwMode="auto">
          <a:xfrm>
            <a:off x="2644378" y="4400550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29" name="Line 53"/>
          <p:cNvSpPr>
            <a:spLocks noChangeShapeType="1"/>
          </p:cNvSpPr>
          <p:nvPr/>
        </p:nvSpPr>
        <p:spPr bwMode="auto">
          <a:xfrm>
            <a:off x="2644378" y="3788569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0" name="Line 54"/>
          <p:cNvSpPr>
            <a:spLocks noChangeShapeType="1"/>
          </p:cNvSpPr>
          <p:nvPr/>
        </p:nvSpPr>
        <p:spPr bwMode="auto">
          <a:xfrm>
            <a:off x="2644378" y="3181350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1" name="Line 55"/>
          <p:cNvSpPr>
            <a:spLocks noChangeShapeType="1"/>
          </p:cNvSpPr>
          <p:nvPr/>
        </p:nvSpPr>
        <p:spPr bwMode="auto">
          <a:xfrm>
            <a:off x="2644378" y="2568180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2" name="Line 56"/>
          <p:cNvSpPr>
            <a:spLocks noChangeShapeType="1"/>
          </p:cNvSpPr>
          <p:nvPr/>
        </p:nvSpPr>
        <p:spPr bwMode="auto">
          <a:xfrm>
            <a:off x="2644378" y="1956199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3" name="Line 57"/>
          <p:cNvSpPr>
            <a:spLocks noChangeShapeType="1"/>
          </p:cNvSpPr>
          <p:nvPr/>
        </p:nvSpPr>
        <p:spPr bwMode="auto">
          <a:xfrm>
            <a:off x="2696766" y="5013724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4" name="Line 58"/>
          <p:cNvSpPr>
            <a:spLocks noChangeShapeType="1"/>
          </p:cNvSpPr>
          <p:nvPr/>
        </p:nvSpPr>
        <p:spPr bwMode="auto">
          <a:xfrm flipV="1">
            <a:off x="2696767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5" name="Line 59"/>
          <p:cNvSpPr>
            <a:spLocks noChangeShapeType="1"/>
          </p:cNvSpPr>
          <p:nvPr/>
        </p:nvSpPr>
        <p:spPr bwMode="auto">
          <a:xfrm flipV="1">
            <a:off x="3575449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6" name="Line 60"/>
          <p:cNvSpPr>
            <a:spLocks noChangeShapeType="1"/>
          </p:cNvSpPr>
          <p:nvPr/>
        </p:nvSpPr>
        <p:spPr bwMode="auto">
          <a:xfrm flipV="1">
            <a:off x="4458892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7" name="Line 61"/>
          <p:cNvSpPr>
            <a:spLocks noChangeShapeType="1"/>
          </p:cNvSpPr>
          <p:nvPr/>
        </p:nvSpPr>
        <p:spPr bwMode="auto">
          <a:xfrm flipV="1">
            <a:off x="5336381" y="5013722"/>
            <a:ext cx="1191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8" name="Line 62"/>
          <p:cNvSpPr>
            <a:spLocks noChangeShapeType="1"/>
          </p:cNvSpPr>
          <p:nvPr/>
        </p:nvSpPr>
        <p:spPr bwMode="auto">
          <a:xfrm flipV="1">
            <a:off x="6219825" y="5013722"/>
            <a:ext cx="1191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39" name="Line 63"/>
          <p:cNvSpPr>
            <a:spLocks noChangeShapeType="1"/>
          </p:cNvSpPr>
          <p:nvPr/>
        </p:nvSpPr>
        <p:spPr bwMode="auto">
          <a:xfrm flipV="1">
            <a:off x="7097317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4840" name="Freeform 64"/>
          <p:cNvSpPr>
            <a:spLocks/>
          </p:cNvSpPr>
          <p:nvPr/>
        </p:nvSpPr>
        <p:spPr bwMode="auto">
          <a:xfrm>
            <a:off x="3527822" y="4354116"/>
            <a:ext cx="94059" cy="94059"/>
          </a:xfrm>
          <a:custGeom>
            <a:avLst/>
            <a:gdLst>
              <a:gd name="T0" fmla="*/ 63500 w 79"/>
              <a:gd name="T1" fmla="*/ 0 h 79"/>
              <a:gd name="T2" fmla="*/ 125412 w 79"/>
              <a:gd name="T3" fmla="*/ 61912 h 79"/>
              <a:gd name="T4" fmla="*/ 63500 w 79"/>
              <a:gd name="T5" fmla="*/ 125412 h 79"/>
              <a:gd name="T6" fmla="*/ 0 w 79"/>
              <a:gd name="T7" fmla="*/ 61912 h 79"/>
              <a:gd name="T8" fmla="*/ 63500 w 7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79"/>
              <a:gd name="T17" fmla="*/ 79 w 7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79">
                <a:moveTo>
                  <a:pt x="40" y="0"/>
                </a:moveTo>
                <a:lnTo>
                  <a:pt x="79" y="39"/>
                </a:lnTo>
                <a:lnTo>
                  <a:pt x="40" y="79"/>
                </a:lnTo>
                <a:lnTo>
                  <a:pt x="0" y="39"/>
                </a:lnTo>
                <a:lnTo>
                  <a:pt x="4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US" sz="1350"/>
          </a:p>
        </p:txBody>
      </p:sp>
      <p:sp>
        <p:nvSpPr>
          <p:cNvPr id="34841" name="Rectangle 65"/>
          <p:cNvSpPr>
            <a:spLocks noChangeArrowheads="1"/>
          </p:cNvSpPr>
          <p:nvPr/>
        </p:nvSpPr>
        <p:spPr bwMode="auto">
          <a:xfrm>
            <a:off x="2478881" y="4919663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0</a:t>
            </a:r>
            <a:endParaRPr lang="en-US" altLang="en-US" sz="1800"/>
          </a:p>
        </p:txBody>
      </p:sp>
      <p:sp>
        <p:nvSpPr>
          <p:cNvPr id="34842" name="Rectangle 66"/>
          <p:cNvSpPr>
            <a:spLocks noChangeArrowheads="1"/>
          </p:cNvSpPr>
          <p:nvPr/>
        </p:nvSpPr>
        <p:spPr bwMode="auto">
          <a:xfrm>
            <a:off x="2478881" y="4306491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34843" name="Rectangle 67"/>
          <p:cNvSpPr>
            <a:spLocks noChangeArrowheads="1"/>
          </p:cNvSpPr>
          <p:nvPr/>
        </p:nvSpPr>
        <p:spPr bwMode="auto">
          <a:xfrm>
            <a:off x="2478881" y="369451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34844" name="Rectangle 68"/>
          <p:cNvSpPr>
            <a:spLocks noChangeArrowheads="1"/>
          </p:cNvSpPr>
          <p:nvPr/>
        </p:nvSpPr>
        <p:spPr bwMode="auto">
          <a:xfrm>
            <a:off x="2478881" y="3087291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3</a:t>
            </a:r>
            <a:endParaRPr lang="en-US" altLang="en-US" sz="1800"/>
          </a:p>
        </p:txBody>
      </p:sp>
      <p:sp>
        <p:nvSpPr>
          <p:cNvPr id="34845" name="Rectangle 69"/>
          <p:cNvSpPr>
            <a:spLocks noChangeArrowheads="1"/>
          </p:cNvSpPr>
          <p:nvPr/>
        </p:nvSpPr>
        <p:spPr bwMode="auto">
          <a:xfrm>
            <a:off x="2478881" y="2474119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4</a:t>
            </a:r>
            <a:endParaRPr lang="en-US" altLang="en-US" sz="1800"/>
          </a:p>
        </p:txBody>
      </p:sp>
      <p:sp>
        <p:nvSpPr>
          <p:cNvPr id="34846" name="Rectangle 70"/>
          <p:cNvSpPr>
            <a:spLocks noChangeArrowheads="1"/>
          </p:cNvSpPr>
          <p:nvPr/>
        </p:nvSpPr>
        <p:spPr bwMode="auto">
          <a:xfrm>
            <a:off x="2478881" y="1862138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5</a:t>
            </a:r>
            <a:endParaRPr lang="en-US" altLang="en-US" sz="1800"/>
          </a:p>
        </p:txBody>
      </p:sp>
      <p:sp>
        <p:nvSpPr>
          <p:cNvPr id="34847" name="Rectangle 71"/>
          <p:cNvSpPr>
            <a:spLocks noChangeArrowheads="1"/>
          </p:cNvSpPr>
          <p:nvPr/>
        </p:nvSpPr>
        <p:spPr bwMode="auto">
          <a:xfrm>
            <a:off x="265628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0</a:t>
            </a:r>
            <a:endParaRPr lang="en-US" altLang="en-US" sz="1800"/>
          </a:p>
        </p:txBody>
      </p:sp>
      <p:sp>
        <p:nvSpPr>
          <p:cNvPr id="34848" name="Rectangle 72"/>
          <p:cNvSpPr>
            <a:spLocks noChangeArrowheads="1"/>
          </p:cNvSpPr>
          <p:nvPr/>
        </p:nvSpPr>
        <p:spPr bwMode="auto">
          <a:xfrm>
            <a:off x="353377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34849" name="Rectangle 73"/>
          <p:cNvSpPr>
            <a:spLocks noChangeArrowheads="1"/>
          </p:cNvSpPr>
          <p:nvPr/>
        </p:nvSpPr>
        <p:spPr bwMode="auto">
          <a:xfrm>
            <a:off x="4417219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34850" name="Rectangle 74"/>
          <p:cNvSpPr>
            <a:spLocks noChangeArrowheads="1"/>
          </p:cNvSpPr>
          <p:nvPr/>
        </p:nvSpPr>
        <p:spPr bwMode="auto">
          <a:xfrm>
            <a:off x="5294710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3</a:t>
            </a:r>
            <a:endParaRPr lang="en-US" altLang="en-US" sz="1800"/>
          </a:p>
        </p:txBody>
      </p:sp>
      <p:sp>
        <p:nvSpPr>
          <p:cNvPr id="34851" name="Rectangle 75"/>
          <p:cNvSpPr>
            <a:spLocks noChangeArrowheads="1"/>
          </p:cNvSpPr>
          <p:nvPr/>
        </p:nvSpPr>
        <p:spPr bwMode="auto">
          <a:xfrm>
            <a:off x="6179344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4</a:t>
            </a:r>
            <a:endParaRPr lang="en-US" altLang="en-US" sz="1800"/>
          </a:p>
        </p:txBody>
      </p:sp>
      <p:sp>
        <p:nvSpPr>
          <p:cNvPr id="34852" name="Rectangle 76"/>
          <p:cNvSpPr>
            <a:spLocks noChangeArrowheads="1"/>
          </p:cNvSpPr>
          <p:nvPr/>
        </p:nvSpPr>
        <p:spPr bwMode="auto">
          <a:xfrm>
            <a:off x="705683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5</a:t>
            </a:r>
            <a:endParaRPr lang="en-US" altLang="en-US" sz="1800"/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title"/>
          </p:nvPr>
        </p:nvSpPr>
        <p:spPr>
          <a:xfrm>
            <a:off x="1657350" y="1028700"/>
            <a:ext cx="5829300" cy="4000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1</a:t>
            </a:r>
          </a:p>
        </p:txBody>
      </p:sp>
      <p:sp>
        <p:nvSpPr>
          <p:cNvPr id="34854" name="Text Box 4"/>
          <p:cNvSpPr txBox="1">
            <a:spLocks noChangeArrowheads="1"/>
          </p:cNvSpPr>
          <p:nvPr/>
        </p:nvSpPr>
        <p:spPr bwMode="auto">
          <a:xfrm>
            <a:off x="1877616" y="1485901"/>
            <a:ext cx="5993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Algorithm: k-means, Distance Metric: Euclidean Distance</a:t>
            </a:r>
          </a:p>
        </p:txBody>
      </p:sp>
      <p:sp>
        <p:nvSpPr>
          <p:cNvPr id="34855" name="AutoShape 5"/>
          <p:cNvSpPr>
            <a:spLocks noChangeArrowheads="1"/>
          </p:cNvSpPr>
          <p:nvPr/>
        </p:nvSpPr>
        <p:spPr bwMode="auto">
          <a:xfrm>
            <a:off x="3543300" y="43434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56" name="AutoShape 6"/>
          <p:cNvSpPr>
            <a:spLocks noChangeArrowheads="1"/>
          </p:cNvSpPr>
          <p:nvPr/>
        </p:nvSpPr>
        <p:spPr bwMode="auto">
          <a:xfrm>
            <a:off x="3657600" y="45148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57" name="AutoShape 7"/>
          <p:cNvSpPr>
            <a:spLocks noChangeArrowheads="1"/>
          </p:cNvSpPr>
          <p:nvPr/>
        </p:nvSpPr>
        <p:spPr bwMode="auto">
          <a:xfrm>
            <a:off x="3486150" y="4686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58" name="AutoShape 8"/>
          <p:cNvSpPr>
            <a:spLocks noChangeArrowheads="1"/>
          </p:cNvSpPr>
          <p:nvPr/>
        </p:nvSpPr>
        <p:spPr bwMode="auto">
          <a:xfrm>
            <a:off x="3314700" y="41719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59" name="AutoShape 9"/>
          <p:cNvSpPr>
            <a:spLocks noChangeArrowheads="1"/>
          </p:cNvSpPr>
          <p:nvPr/>
        </p:nvSpPr>
        <p:spPr bwMode="auto">
          <a:xfrm>
            <a:off x="3314700" y="2400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0" name="AutoShape 10"/>
          <p:cNvSpPr>
            <a:spLocks noChangeArrowheads="1"/>
          </p:cNvSpPr>
          <p:nvPr/>
        </p:nvSpPr>
        <p:spPr bwMode="auto">
          <a:xfrm>
            <a:off x="3314700" y="3543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1" name="AutoShape 11"/>
          <p:cNvSpPr>
            <a:spLocks noChangeArrowheads="1"/>
          </p:cNvSpPr>
          <p:nvPr/>
        </p:nvSpPr>
        <p:spPr bwMode="auto">
          <a:xfrm>
            <a:off x="3314700" y="4686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2" name="AutoShape 12"/>
          <p:cNvSpPr>
            <a:spLocks noChangeArrowheads="1"/>
          </p:cNvSpPr>
          <p:nvPr/>
        </p:nvSpPr>
        <p:spPr bwMode="auto">
          <a:xfrm>
            <a:off x="2971800" y="39433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3" name="AutoShape 13"/>
          <p:cNvSpPr>
            <a:spLocks noChangeArrowheads="1"/>
          </p:cNvSpPr>
          <p:nvPr/>
        </p:nvSpPr>
        <p:spPr bwMode="auto">
          <a:xfrm>
            <a:off x="4572000" y="37147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4" name="AutoShape 14"/>
          <p:cNvSpPr>
            <a:spLocks noChangeArrowheads="1"/>
          </p:cNvSpPr>
          <p:nvPr/>
        </p:nvSpPr>
        <p:spPr bwMode="auto">
          <a:xfrm>
            <a:off x="6172200" y="22288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5" name="AutoShape 15"/>
          <p:cNvSpPr>
            <a:spLocks noChangeArrowheads="1"/>
          </p:cNvSpPr>
          <p:nvPr/>
        </p:nvSpPr>
        <p:spPr bwMode="auto">
          <a:xfrm>
            <a:off x="6515100" y="22860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6" name="AutoShape 16"/>
          <p:cNvSpPr>
            <a:spLocks noChangeArrowheads="1"/>
          </p:cNvSpPr>
          <p:nvPr/>
        </p:nvSpPr>
        <p:spPr bwMode="auto">
          <a:xfrm>
            <a:off x="6400800" y="2400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7" name="AutoShape 17"/>
          <p:cNvSpPr>
            <a:spLocks noChangeArrowheads="1"/>
          </p:cNvSpPr>
          <p:nvPr/>
        </p:nvSpPr>
        <p:spPr bwMode="auto">
          <a:xfrm>
            <a:off x="6286500" y="2514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8" name="AutoShape 18"/>
          <p:cNvSpPr>
            <a:spLocks noChangeArrowheads="1"/>
          </p:cNvSpPr>
          <p:nvPr/>
        </p:nvSpPr>
        <p:spPr bwMode="auto">
          <a:xfrm>
            <a:off x="6515100" y="26289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69" name="AutoShape 19"/>
          <p:cNvSpPr>
            <a:spLocks noChangeArrowheads="1"/>
          </p:cNvSpPr>
          <p:nvPr/>
        </p:nvSpPr>
        <p:spPr bwMode="auto">
          <a:xfrm>
            <a:off x="6743700" y="29146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0" name="AutoShape 20"/>
          <p:cNvSpPr>
            <a:spLocks noChangeArrowheads="1"/>
          </p:cNvSpPr>
          <p:nvPr/>
        </p:nvSpPr>
        <p:spPr bwMode="auto">
          <a:xfrm>
            <a:off x="5429250" y="22288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1" name="AutoShape 21"/>
          <p:cNvSpPr>
            <a:spLocks noChangeArrowheads="1"/>
          </p:cNvSpPr>
          <p:nvPr/>
        </p:nvSpPr>
        <p:spPr bwMode="auto">
          <a:xfrm>
            <a:off x="5657850" y="3314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2" name="AutoShape 22"/>
          <p:cNvSpPr>
            <a:spLocks noChangeArrowheads="1"/>
          </p:cNvSpPr>
          <p:nvPr/>
        </p:nvSpPr>
        <p:spPr bwMode="auto">
          <a:xfrm>
            <a:off x="5657850" y="4457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3" name="AutoShape 23"/>
          <p:cNvSpPr>
            <a:spLocks noChangeArrowheads="1"/>
          </p:cNvSpPr>
          <p:nvPr/>
        </p:nvSpPr>
        <p:spPr bwMode="auto">
          <a:xfrm>
            <a:off x="5943600" y="4686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4" name="AutoShape 24"/>
          <p:cNvSpPr>
            <a:spLocks noChangeArrowheads="1"/>
          </p:cNvSpPr>
          <p:nvPr/>
        </p:nvSpPr>
        <p:spPr bwMode="auto">
          <a:xfrm>
            <a:off x="6229350" y="41148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5" name="AutoShape 25"/>
          <p:cNvSpPr>
            <a:spLocks noChangeArrowheads="1"/>
          </p:cNvSpPr>
          <p:nvPr/>
        </p:nvSpPr>
        <p:spPr bwMode="auto">
          <a:xfrm>
            <a:off x="5600700" y="3657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6" name="AutoShape 26"/>
          <p:cNvSpPr>
            <a:spLocks noChangeArrowheads="1"/>
          </p:cNvSpPr>
          <p:nvPr/>
        </p:nvSpPr>
        <p:spPr bwMode="auto">
          <a:xfrm>
            <a:off x="5029200" y="40005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7" name="AutoShape 27"/>
          <p:cNvSpPr>
            <a:spLocks noChangeArrowheads="1"/>
          </p:cNvSpPr>
          <p:nvPr/>
        </p:nvSpPr>
        <p:spPr bwMode="auto">
          <a:xfrm>
            <a:off x="6515100" y="43434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8" name="AutoShape 28"/>
          <p:cNvSpPr>
            <a:spLocks noChangeArrowheads="1"/>
          </p:cNvSpPr>
          <p:nvPr/>
        </p:nvSpPr>
        <p:spPr bwMode="auto">
          <a:xfrm>
            <a:off x="6400800" y="46291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79" name="AutoShape 29"/>
          <p:cNvSpPr>
            <a:spLocks noChangeArrowheads="1"/>
          </p:cNvSpPr>
          <p:nvPr/>
        </p:nvSpPr>
        <p:spPr bwMode="auto">
          <a:xfrm>
            <a:off x="6286500" y="38862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80" name="AutoShape 30"/>
          <p:cNvSpPr>
            <a:spLocks noChangeArrowheads="1"/>
          </p:cNvSpPr>
          <p:nvPr/>
        </p:nvSpPr>
        <p:spPr bwMode="auto">
          <a:xfrm>
            <a:off x="6743700" y="4800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4881" name="AutoShape 31"/>
          <p:cNvSpPr>
            <a:spLocks noChangeArrowheads="1"/>
          </p:cNvSpPr>
          <p:nvPr/>
        </p:nvSpPr>
        <p:spPr bwMode="auto">
          <a:xfrm>
            <a:off x="6115050" y="28003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grpSp>
        <p:nvGrpSpPr>
          <p:cNvPr id="2" name="Group 32"/>
          <p:cNvGrpSpPr>
            <a:grpSpLocks/>
          </p:cNvGrpSpPr>
          <p:nvPr/>
        </p:nvGrpSpPr>
        <p:grpSpPr bwMode="auto">
          <a:xfrm>
            <a:off x="3886200" y="2571750"/>
            <a:ext cx="2057400" cy="2483644"/>
            <a:chOff x="2304" y="1440"/>
            <a:chExt cx="1728" cy="2086"/>
          </a:xfrm>
        </p:grpSpPr>
        <p:grpSp>
          <p:nvGrpSpPr>
            <p:cNvPr id="34884" name="Group 33"/>
            <p:cNvGrpSpPr>
              <a:grpSpLocks/>
            </p:cNvGrpSpPr>
            <p:nvPr/>
          </p:nvGrpSpPr>
          <p:grpSpPr bwMode="auto">
            <a:xfrm>
              <a:off x="2784" y="1440"/>
              <a:ext cx="432" cy="358"/>
              <a:chOff x="192" y="1824"/>
              <a:chExt cx="432" cy="358"/>
            </a:xfrm>
          </p:grpSpPr>
          <p:sp>
            <p:nvSpPr>
              <p:cNvPr id="34891" name="Oval 34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4892" name="Text Box 35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800"/>
                  <a:t>k</a:t>
                </a:r>
                <a:r>
                  <a:rPr lang="en-US" altLang="en-US" sz="1800" baseline="-25000"/>
                  <a:t>1</a:t>
                </a:r>
              </a:p>
            </p:txBody>
          </p:sp>
        </p:grpSp>
        <p:grpSp>
          <p:nvGrpSpPr>
            <p:cNvPr id="34885" name="Group 36"/>
            <p:cNvGrpSpPr>
              <a:grpSpLocks/>
            </p:cNvGrpSpPr>
            <p:nvPr/>
          </p:nvGrpSpPr>
          <p:grpSpPr bwMode="auto">
            <a:xfrm>
              <a:off x="2304" y="2160"/>
              <a:ext cx="432" cy="358"/>
              <a:chOff x="192" y="1824"/>
              <a:chExt cx="432" cy="358"/>
            </a:xfrm>
          </p:grpSpPr>
          <p:sp>
            <p:nvSpPr>
              <p:cNvPr id="34889" name="Oval 37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4890" name="Text Box 38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800"/>
                  <a:t>k</a:t>
                </a:r>
                <a:r>
                  <a:rPr lang="en-US" altLang="en-US" sz="1800" baseline="-25000"/>
                  <a:t>2</a:t>
                </a:r>
              </a:p>
            </p:txBody>
          </p:sp>
        </p:grpSp>
        <p:grpSp>
          <p:nvGrpSpPr>
            <p:cNvPr id="34886" name="Group 39"/>
            <p:cNvGrpSpPr>
              <a:grpSpLocks/>
            </p:cNvGrpSpPr>
            <p:nvPr/>
          </p:nvGrpSpPr>
          <p:grpSpPr bwMode="auto">
            <a:xfrm>
              <a:off x="3600" y="3168"/>
              <a:ext cx="432" cy="358"/>
              <a:chOff x="192" y="1824"/>
              <a:chExt cx="432" cy="358"/>
            </a:xfrm>
          </p:grpSpPr>
          <p:sp>
            <p:nvSpPr>
              <p:cNvPr id="34887" name="Oval 40"/>
              <p:cNvSpPr>
                <a:spLocks noChangeArrowheads="1"/>
              </p:cNvSpPr>
              <p:nvPr/>
            </p:nvSpPr>
            <p:spPr bwMode="auto">
              <a:xfrm>
                <a:off x="192" y="1824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endParaRPr lang="en-US" altLang="en-US" sz="1800"/>
              </a:p>
            </p:txBody>
          </p:sp>
          <p:sp>
            <p:nvSpPr>
              <p:cNvPr id="34888" name="Text Box 41"/>
              <p:cNvSpPr txBox="1">
                <a:spLocks noChangeArrowheads="1"/>
              </p:cNvSpPr>
              <p:nvPr/>
            </p:nvSpPr>
            <p:spPr bwMode="auto">
              <a:xfrm>
                <a:off x="288" y="1872"/>
                <a:ext cx="33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1pPr>
                <a:lvl2pPr marL="37931725" indent="-37474525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pitchFamily="34" charset="-128"/>
                  </a:defRPr>
                </a:lvl9pPr>
              </a:lstStyle>
              <a:p>
                <a:pPr>
                  <a:spcBef>
                    <a:spcPct val="50000"/>
                  </a:spcBef>
                </a:pPr>
                <a:r>
                  <a:rPr lang="en-US" altLang="en-US" sz="1800"/>
                  <a:t>k</a:t>
                </a:r>
                <a:r>
                  <a:rPr lang="en-US" altLang="en-US" sz="1800" baseline="-25000"/>
                  <a:t>3</a:t>
                </a:r>
              </a:p>
            </p:txBody>
          </p:sp>
        </p:grpSp>
      </p:grpSp>
      <p:sp>
        <p:nvSpPr>
          <p:cNvPr id="34883" name="TextBox 75"/>
          <p:cNvSpPr txBox="1">
            <a:spLocks noChangeArrowheads="1"/>
          </p:cNvSpPr>
          <p:nvPr/>
        </p:nvSpPr>
        <p:spPr bwMode="auto">
          <a:xfrm>
            <a:off x="1143001" y="5723335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132554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5"/>
          <p:cNvSpPr>
            <a:spLocks noChangeArrowheads="1"/>
          </p:cNvSpPr>
          <p:nvPr/>
        </p:nvSpPr>
        <p:spPr bwMode="auto">
          <a:xfrm>
            <a:off x="1984772" y="1756173"/>
            <a:ext cx="5242322" cy="41112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43" name="Rectangle 46"/>
          <p:cNvSpPr>
            <a:spLocks noChangeArrowheads="1"/>
          </p:cNvSpPr>
          <p:nvPr/>
        </p:nvSpPr>
        <p:spPr bwMode="auto">
          <a:xfrm>
            <a:off x="2696766" y="1956197"/>
            <a:ext cx="4400550" cy="30575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44" name="Line 47"/>
          <p:cNvSpPr>
            <a:spLocks noChangeShapeType="1"/>
          </p:cNvSpPr>
          <p:nvPr/>
        </p:nvSpPr>
        <p:spPr bwMode="auto">
          <a:xfrm>
            <a:off x="2696766" y="4400550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45" name="Line 48"/>
          <p:cNvSpPr>
            <a:spLocks noChangeShapeType="1"/>
          </p:cNvSpPr>
          <p:nvPr/>
        </p:nvSpPr>
        <p:spPr bwMode="auto">
          <a:xfrm>
            <a:off x="2696766" y="3788569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46" name="Line 49"/>
          <p:cNvSpPr>
            <a:spLocks noChangeShapeType="1"/>
          </p:cNvSpPr>
          <p:nvPr/>
        </p:nvSpPr>
        <p:spPr bwMode="auto">
          <a:xfrm>
            <a:off x="2696766" y="3181350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47" name="Line 50"/>
          <p:cNvSpPr>
            <a:spLocks noChangeShapeType="1"/>
          </p:cNvSpPr>
          <p:nvPr/>
        </p:nvSpPr>
        <p:spPr bwMode="auto">
          <a:xfrm>
            <a:off x="2696766" y="2568180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48" name="Line 51"/>
          <p:cNvSpPr>
            <a:spLocks noChangeShapeType="1"/>
          </p:cNvSpPr>
          <p:nvPr/>
        </p:nvSpPr>
        <p:spPr bwMode="auto">
          <a:xfrm>
            <a:off x="2696766" y="1956199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49" name="Rectangle 52"/>
          <p:cNvSpPr>
            <a:spLocks noChangeArrowheads="1"/>
          </p:cNvSpPr>
          <p:nvPr/>
        </p:nvSpPr>
        <p:spPr bwMode="auto">
          <a:xfrm>
            <a:off x="2696766" y="1956197"/>
            <a:ext cx="4400550" cy="3057525"/>
          </a:xfrm>
          <a:prstGeom prst="rect">
            <a:avLst/>
          </a:prstGeom>
          <a:noFill/>
          <a:ln w="7938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50" name="Line 53"/>
          <p:cNvSpPr>
            <a:spLocks noChangeShapeType="1"/>
          </p:cNvSpPr>
          <p:nvPr/>
        </p:nvSpPr>
        <p:spPr bwMode="auto">
          <a:xfrm>
            <a:off x="2696767" y="1956197"/>
            <a:ext cx="1190" cy="3057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1" name="Line 54"/>
          <p:cNvSpPr>
            <a:spLocks noChangeShapeType="1"/>
          </p:cNvSpPr>
          <p:nvPr/>
        </p:nvSpPr>
        <p:spPr bwMode="auto">
          <a:xfrm>
            <a:off x="2644378" y="5013724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2" name="Line 55"/>
          <p:cNvSpPr>
            <a:spLocks noChangeShapeType="1"/>
          </p:cNvSpPr>
          <p:nvPr/>
        </p:nvSpPr>
        <p:spPr bwMode="auto">
          <a:xfrm>
            <a:off x="2644378" y="4400550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3" name="Line 56"/>
          <p:cNvSpPr>
            <a:spLocks noChangeShapeType="1"/>
          </p:cNvSpPr>
          <p:nvPr/>
        </p:nvSpPr>
        <p:spPr bwMode="auto">
          <a:xfrm>
            <a:off x="2644378" y="3788569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4" name="Line 57"/>
          <p:cNvSpPr>
            <a:spLocks noChangeShapeType="1"/>
          </p:cNvSpPr>
          <p:nvPr/>
        </p:nvSpPr>
        <p:spPr bwMode="auto">
          <a:xfrm>
            <a:off x="2644378" y="3181350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5" name="Line 58"/>
          <p:cNvSpPr>
            <a:spLocks noChangeShapeType="1"/>
          </p:cNvSpPr>
          <p:nvPr/>
        </p:nvSpPr>
        <p:spPr bwMode="auto">
          <a:xfrm>
            <a:off x="2644378" y="2568180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6" name="Line 59"/>
          <p:cNvSpPr>
            <a:spLocks noChangeShapeType="1"/>
          </p:cNvSpPr>
          <p:nvPr/>
        </p:nvSpPr>
        <p:spPr bwMode="auto">
          <a:xfrm>
            <a:off x="2644378" y="1956199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7" name="Line 60"/>
          <p:cNvSpPr>
            <a:spLocks noChangeShapeType="1"/>
          </p:cNvSpPr>
          <p:nvPr/>
        </p:nvSpPr>
        <p:spPr bwMode="auto">
          <a:xfrm>
            <a:off x="2696766" y="5013724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8" name="Line 61"/>
          <p:cNvSpPr>
            <a:spLocks noChangeShapeType="1"/>
          </p:cNvSpPr>
          <p:nvPr/>
        </p:nvSpPr>
        <p:spPr bwMode="auto">
          <a:xfrm flipV="1">
            <a:off x="2696767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59" name="Line 62"/>
          <p:cNvSpPr>
            <a:spLocks noChangeShapeType="1"/>
          </p:cNvSpPr>
          <p:nvPr/>
        </p:nvSpPr>
        <p:spPr bwMode="auto">
          <a:xfrm flipV="1">
            <a:off x="3575449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60" name="Line 63"/>
          <p:cNvSpPr>
            <a:spLocks noChangeShapeType="1"/>
          </p:cNvSpPr>
          <p:nvPr/>
        </p:nvSpPr>
        <p:spPr bwMode="auto">
          <a:xfrm flipV="1">
            <a:off x="4458892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61" name="Line 64"/>
          <p:cNvSpPr>
            <a:spLocks noChangeShapeType="1"/>
          </p:cNvSpPr>
          <p:nvPr/>
        </p:nvSpPr>
        <p:spPr bwMode="auto">
          <a:xfrm flipV="1">
            <a:off x="5336381" y="5013722"/>
            <a:ext cx="1191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62" name="Line 65"/>
          <p:cNvSpPr>
            <a:spLocks noChangeShapeType="1"/>
          </p:cNvSpPr>
          <p:nvPr/>
        </p:nvSpPr>
        <p:spPr bwMode="auto">
          <a:xfrm flipV="1">
            <a:off x="6219825" y="5013722"/>
            <a:ext cx="1191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63" name="Line 66"/>
          <p:cNvSpPr>
            <a:spLocks noChangeShapeType="1"/>
          </p:cNvSpPr>
          <p:nvPr/>
        </p:nvSpPr>
        <p:spPr bwMode="auto">
          <a:xfrm flipV="1">
            <a:off x="7097317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864" name="Freeform 67"/>
          <p:cNvSpPr>
            <a:spLocks/>
          </p:cNvSpPr>
          <p:nvPr/>
        </p:nvSpPr>
        <p:spPr bwMode="auto">
          <a:xfrm>
            <a:off x="3527822" y="4354116"/>
            <a:ext cx="94059" cy="94059"/>
          </a:xfrm>
          <a:custGeom>
            <a:avLst/>
            <a:gdLst>
              <a:gd name="T0" fmla="*/ 63500 w 79"/>
              <a:gd name="T1" fmla="*/ 0 h 79"/>
              <a:gd name="T2" fmla="*/ 125412 w 79"/>
              <a:gd name="T3" fmla="*/ 61912 h 79"/>
              <a:gd name="T4" fmla="*/ 63500 w 79"/>
              <a:gd name="T5" fmla="*/ 125412 h 79"/>
              <a:gd name="T6" fmla="*/ 0 w 79"/>
              <a:gd name="T7" fmla="*/ 61912 h 79"/>
              <a:gd name="T8" fmla="*/ 63500 w 7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79"/>
              <a:gd name="T17" fmla="*/ 79 w 7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79">
                <a:moveTo>
                  <a:pt x="40" y="0"/>
                </a:moveTo>
                <a:lnTo>
                  <a:pt x="79" y="39"/>
                </a:lnTo>
                <a:lnTo>
                  <a:pt x="40" y="79"/>
                </a:lnTo>
                <a:lnTo>
                  <a:pt x="0" y="39"/>
                </a:lnTo>
                <a:lnTo>
                  <a:pt x="4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US" sz="1350"/>
          </a:p>
        </p:txBody>
      </p:sp>
      <p:sp>
        <p:nvSpPr>
          <p:cNvPr id="35865" name="Rectangle 68"/>
          <p:cNvSpPr>
            <a:spLocks noChangeArrowheads="1"/>
          </p:cNvSpPr>
          <p:nvPr/>
        </p:nvSpPr>
        <p:spPr bwMode="auto">
          <a:xfrm>
            <a:off x="2478881" y="4919663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0</a:t>
            </a:r>
            <a:endParaRPr lang="en-US" altLang="en-US" sz="1800"/>
          </a:p>
        </p:txBody>
      </p:sp>
      <p:sp>
        <p:nvSpPr>
          <p:cNvPr id="35866" name="Rectangle 69"/>
          <p:cNvSpPr>
            <a:spLocks noChangeArrowheads="1"/>
          </p:cNvSpPr>
          <p:nvPr/>
        </p:nvSpPr>
        <p:spPr bwMode="auto">
          <a:xfrm>
            <a:off x="2478881" y="4306491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35867" name="Rectangle 70"/>
          <p:cNvSpPr>
            <a:spLocks noChangeArrowheads="1"/>
          </p:cNvSpPr>
          <p:nvPr/>
        </p:nvSpPr>
        <p:spPr bwMode="auto">
          <a:xfrm>
            <a:off x="2478881" y="369451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35868" name="Rectangle 71"/>
          <p:cNvSpPr>
            <a:spLocks noChangeArrowheads="1"/>
          </p:cNvSpPr>
          <p:nvPr/>
        </p:nvSpPr>
        <p:spPr bwMode="auto">
          <a:xfrm>
            <a:off x="2478881" y="3087291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3</a:t>
            </a:r>
            <a:endParaRPr lang="en-US" altLang="en-US" sz="1800"/>
          </a:p>
        </p:txBody>
      </p:sp>
      <p:sp>
        <p:nvSpPr>
          <p:cNvPr id="35869" name="Rectangle 72"/>
          <p:cNvSpPr>
            <a:spLocks noChangeArrowheads="1"/>
          </p:cNvSpPr>
          <p:nvPr/>
        </p:nvSpPr>
        <p:spPr bwMode="auto">
          <a:xfrm>
            <a:off x="2478881" y="2474119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4</a:t>
            </a:r>
            <a:endParaRPr lang="en-US" altLang="en-US" sz="1800"/>
          </a:p>
        </p:txBody>
      </p:sp>
      <p:sp>
        <p:nvSpPr>
          <p:cNvPr id="35870" name="Rectangle 73"/>
          <p:cNvSpPr>
            <a:spLocks noChangeArrowheads="1"/>
          </p:cNvSpPr>
          <p:nvPr/>
        </p:nvSpPr>
        <p:spPr bwMode="auto">
          <a:xfrm>
            <a:off x="2478881" y="1862138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5</a:t>
            </a:r>
            <a:endParaRPr lang="en-US" altLang="en-US" sz="1800"/>
          </a:p>
        </p:txBody>
      </p:sp>
      <p:sp>
        <p:nvSpPr>
          <p:cNvPr id="35871" name="Rectangle 74"/>
          <p:cNvSpPr>
            <a:spLocks noChangeArrowheads="1"/>
          </p:cNvSpPr>
          <p:nvPr/>
        </p:nvSpPr>
        <p:spPr bwMode="auto">
          <a:xfrm>
            <a:off x="265628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0</a:t>
            </a:r>
            <a:endParaRPr lang="en-US" altLang="en-US" sz="1800"/>
          </a:p>
        </p:txBody>
      </p:sp>
      <p:sp>
        <p:nvSpPr>
          <p:cNvPr id="35872" name="Rectangle 75"/>
          <p:cNvSpPr>
            <a:spLocks noChangeArrowheads="1"/>
          </p:cNvSpPr>
          <p:nvPr/>
        </p:nvSpPr>
        <p:spPr bwMode="auto">
          <a:xfrm>
            <a:off x="353377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35873" name="Rectangle 76"/>
          <p:cNvSpPr>
            <a:spLocks noChangeArrowheads="1"/>
          </p:cNvSpPr>
          <p:nvPr/>
        </p:nvSpPr>
        <p:spPr bwMode="auto">
          <a:xfrm>
            <a:off x="4417219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35874" name="Rectangle 77"/>
          <p:cNvSpPr>
            <a:spLocks noChangeArrowheads="1"/>
          </p:cNvSpPr>
          <p:nvPr/>
        </p:nvSpPr>
        <p:spPr bwMode="auto">
          <a:xfrm>
            <a:off x="5294710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3</a:t>
            </a:r>
            <a:endParaRPr lang="en-US" altLang="en-US" sz="1800"/>
          </a:p>
        </p:txBody>
      </p:sp>
      <p:sp>
        <p:nvSpPr>
          <p:cNvPr id="35875" name="Rectangle 78"/>
          <p:cNvSpPr>
            <a:spLocks noChangeArrowheads="1"/>
          </p:cNvSpPr>
          <p:nvPr/>
        </p:nvSpPr>
        <p:spPr bwMode="auto">
          <a:xfrm>
            <a:off x="6179344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4</a:t>
            </a:r>
            <a:endParaRPr lang="en-US" altLang="en-US" sz="1800"/>
          </a:p>
        </p:txBody>
      </p:sp>
      <p:sp>
        <p:nvSpPr>
          <p:cNvPr id="35876" name="Rectangle 79"/>
          <p:cNvSpPr>
            <a:spLocks noChangeArrowheads="1"/>
          </p:cNvSpPr>
          <p:nvPr/>
        </p:nvSpPr>
        <p:spPr bwMode="auto">
          <a:xfrm>
            <a:off x="705683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5</a:t>
            </a:r>
            <a:endParaRPr lang="en-US" altLang="en-US" sz="1800"/>
          </a:p>
        </p:txBody>
      </p:sp>
      <p:sp>
        <p:nvSpPr>
          <p:cNvPr id="265219" name="Rectangle 3"/>
          <p:cNvSpPr>
            <a:spLocks noGrp="1" noChangeArrowheads="1"/>
          </p:cNvSpPr>
          <p:nvPr>
            <p:ph type="title"/>
          </p:nvPr>
        </p:nvSpPr>
        <p:spPr>
          <a:xfrm>
            <a:off x="1657350" y="1028700"/>
            <a:ext cx="5829300" cy="4000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2</a:t>
            </a:r>
          </a:p>
        </p:txBody>
      </p:sp>
      <p:sp>
        <p:nvSpPr>
          <p:cNvPr id="35878" name="Text Box 4"/>
          <p:cNvSpPr txBox="1">
            <a:spLocks noChangeArrowheads="1"/>
          </p:cNvSpPr>
          <p:nvPr/>
        </p:nvSpPr>
        <p:spPr bwMode="auto">
          <a:xfrm>
            <a:off x="1877616" y="1485901"/>
            <a:ext cx="5993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Algorithm: k-means, Distance Metric: Euclidean Distance</a:t>
            </a:r>
          </a:p>
        </p:txBody>
      </p:sp>
      <p:grpSp>
        <p:nvGrpSpPr>
          <p:cNvPr id="35879" name="Group 5"/>
          <p:cNvGrpSpPr>
            <a:grpSpLocks/>
          </p:cNvGrpSpPr>
          <p:nvPr/>
        </p:nvGrpSpPr>
        <p:grpSpPr bwMode="auto">
          <a:xfrm>
            <a:off x="4457700" y="2571751"/>
            <a:ext cx="514350" cy="426244"/>
            <a:chOff x="192" y="1824"/>
            <a:chExt cx="432" cy="358"/>
          </a:xfrm>
        </p:grpSpPr>
        <p:sp>
          <p:nvSpPr>
            <p:cNvPr id="35921" name="Oval 6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5922" name="Text Box 7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1</a:t>
              </a:r>
            </a:p>
          </p:txBody>
        </p:sp>
      </p:grpSp>
      <p:grpSp>
        <p:nvGrpSpPr>
          <p:cNvPr id="35880" name="Group 8"/>
          <p:cNvGrpSpPr>
            <a:grpSpLocks/>
          </p:cNvGrpSpPr>
          <p:nvPr/>
        </p:nvGrpSpPr>
        <p:grpSpPr bwMode="auto">
          <a:xfrm>
            <a:off x="3886200" y="3429001"/>
            <a:ext cx="514350" cy="426244"/>
            <a:chOff x="192" y="1824"/>
            <a:chExt cx="432" cy="358"/>
          </a:xfrm>
        </p:grpSpPr>
        <p:sp>
          <p:nvSpPr>
            <p:cNvPr id="35919" name="Oval 9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5920" name="Text Box 10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2</a:t>
              </a:r>
            </a:p>
          </p:txBody>
        </p:sp>
      </p:grpSp>
      <p:grpSp>
        <p:nvGrpSpPr>
          <p:cNvPr id="35881" name="Group 11"/>
          <p:cNvGrpSpPr>
            <a:grpSpLocks/>
          </p:cNvGrpSpPr>
          <p:nvPr/>
        </p:nvGrpSpPr>
        <p:grpSpPr bwMode="auto">
          <a:xfrm>
            <a:off x="5429250" y="4629151"/>
            <a:ext cx="514350" cy="426244"/>
            <a:chOff x="192" y="1824"/>
            <a:chExt cx="432" cy="358"/>
          </a:xfrm>
        </p:grpSpPr>
        <p:sp>
          <p:nvSpPr>
            <p:cNvPr id="35917" name="Oval 1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5918" name="Text Box 1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3</a:t>
              </a:r>
            </a:p>
          </p:txBody>
        </p:sp>
      </p:grpSp>
      <p:sp>
        <p:nvSpPr>
          <p:cNvPr id="35882" name="AutoShape 14"/>
          <p:cNvSpPr>
            <a:spLocks noChangeArrowheads="1"/>
          </p:cNvSpPr>
          <p:nvPr/>
        </p:nvSpPr>
        <p:spPr bwMode="auto">
          <a:xfrm>
            <a:off x="3543300" y="43434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83" name="AutoShape 15"/>
          <p:cNvSpPr>
            <a:spLocks noChangeArrowheads="1"/>
          </p:cNvSpPr>
          <p:nvPr/>
        </p:nvSpPr>
        <p:spPr bwMode="auto">
          <a:xfrm>
            <a:off x="3657600" y="45148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84" name="AutoShape 16"/>
          <p:cNvSpPr>
            <a:spLocks noChangeArrowheads="1"/>
          </p:cNvSpPr>
          <p:nvPr/>
        </p:nvSpPr>
        <p:spPr bwMode="auto">
          <a:xfrm>
            <a:off x="3486150" y="4686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85" name="AutoShape 17"/>
          <p:cNvSpPr>
            <a:spLocks noChangeArrowheads="1"/>
          </p:cNvSpPr>
          <p:nvPr/>
        </p:nvSpPr>
        <p:spPr bwMode="auto">
          <a:xfrm>
            <a:off x="3314700" y="41719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86" name="AutoShape 18"/>
          <p:cNvSpPr>
            <a:spLocks noChangeArrowheads="1"/>
          </p:cNvSpPr>
          <p:nvPr/>
        </p:nvSpPr>
        <p:spPr bwMode="auto">
          <a:xfrm>
            <a:off x="3314700" y="24003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87" name="AutoShape 19"/>
          <p:cNvSpPr>
            <a:spLocks noChangeArrowheads="1"/>
          </p:cNvSpPr>
          <p:nvPr/>
        </p:nvSpPr>
        <p:spPr bwMode="auto">
          <a:xfrm>
            <a:off x="3314700" y="3543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88" name="AutoShape 20"/>
          <p:cNvSpPr>
            <a:spLocks noChangeArrowheads="1"/>
          </p:cNvSpPr>
          <p:nvPr/>
        </p:nvSpPr>
        <p:spPr bwMode="auto">
          <a:xfrm>
            <a:off x="3314700" y="4686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89" name="AutoShape 21"/>
          <p:cNvSpPr>
            <a:spLocks noChangeArrowheads="1"/>
          </p:cNvSpPr>
          <p:nvPr/>
        </p:nvSpPr>
        <p:spPr bwMode="auto">
          <a:xfrm>
            <a:off x="2971800" y="39433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0" name="AutoShape 22"/>
          <p:cNvSpPr>
            <a:spLocks noChangeArrowheads="1"/>
          </p:cNvSpPr>
          <p:nvPr/>
        </p:nvSpPr>
        <p:spPr bwMode="auto">
          <a:xfrm>
            <a:off x="4572000" y="37147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1" name="AutoShape 23"/>
          <p:cNvSpPr>
            <a:spLocks noChangeArrowheads="1"/>
          </p:cNvSpPr>
          <p:nvPr/>
        </p:nvSpPr>
        <p:spPr bwMode="auto">
          <a:xfrm>
            <a:off x="6172200" y="22288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2" name="AutoShape 24"/>
          <p:cNvSpPr>
            <a:spLocks noChangeArrowheads="1"/>
          </p:cNvSpPr>
          <p:nvPr/>
        </p:nvSpPr>
        <p:spPr bwMode="auto">
          <a:xfrm>
            <a:off x="6515100" y="22860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3" name="AutoShape 25"/>
          <p:cNvSpPr>
            <a:spLocks noChangeArrowheads="1"/>
          </p:cNvSpPr>
          <p:nvPr/>
        </p:nvSpPr>
        <p:spPr bwMode="auto">
          <a:xfrm>
            <a:off x="6400800" y="24003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4" name="AutoShape 26"/>
          <p:cNvSpPr>
            <a:spLocks noChangeArrowheads="1"/>
          </p:cNvSpPr>
          <p:nvPr/>
        </p:nvSpPr>
        <p:spPr bwMode="auto">
          <a:xfrm>
            <a:off x="6286500" y="25146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5" name="AutoShape 27"/>
          <p:cNvSpPr>
            <a:spLocks noChangeArrowheads="1"/>
          </p:cNvSpPr>
          <p:nvPr/>
        </p:nvSpPr>
        <p:spPr bwMode="auto">
          <a:xfrm>
            <a:off x="6515100" y="26289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6" name="AutoShape 28"/>
          <p:cNvSpPr>
            <a:spLocks noChangeArrowheads="1"/>
          </p:cNvSpPr>
          <p:nvPr/>
        </p:nvSpPr>
        <p:spPr bwMode="auto">
          <a:xfrm>
            <a:off x="6743700" y="29146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7" name="AutoShape 29"/>
          <p:cNvSpPr>
            <a:spLocks noChangeArrowheads="1"/>
          </p:cNvSpPr>
          <p:nvPr/>
        </p:nvSpPr>
        <p:spPr bwMode="auto">
          <a:xfrm>
            <a:off x="5429250" y="22288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8" name="AutoShape 30"/>
          <p:cNvSpPr>
            <a:spLocks noChangeArrowheads="1"/>
          </p:cNvSpPr>
          <p:nvPr/>
        </p:nvSpPr>
        <p:spPr bwMode="auto">
          <a:xfrm>
            <a:off x="5657850" y="33147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899" name="AutoShape 31"/>
          <p:cNvSpPr>
            <a:spLocks noChangeArrowheads="1"/>
          </p:cNvSpPr>
          <p:nvPr/>
        </p:nvSpPr>
        <p:spPr bwMode="auto">
          <a:xfrm>
            <a:off x="5657850" y="4457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0" name="AutoShape 32"/>
          <p:cNvSpPr>
            <a:spLocks noChangeArrowheads="1"/>
          </p:cNvSpPr>
          <p:nvPr/>
        </p:nvSpPr>
        <p:spPr bwMode="auto">
          <a:xfrm>
            <a:off x="5943600" y="4686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1" name="AutoShape 33"/>
          <p:cNvSpPr>
            <a:spLocks noChangeArrowheads="1"/>
          </p:cNvSpPr>
          <p:nvPr/>
        </p:nvSpPr>
        <p:spPr bwMode="auto">
          <a:xfrm>
            <a:off x="6229350" y="41148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2" name="AutoShape 34"/>
          <p:cNvSpPr>
            <a:spLocks noChangeArrowheads="1"/>
          </p:cNvSpPr>
          <p:nvPr/>
        </p:nvSpPr>
        <p:spPr bwMode="auto">
          <a:xfrm>
            <a:off x="5600700" y="3657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3" name="AutoShape 35"/>
          <p:cNvSpPr>
            <a:spLocks noChangeArrowheads="1"/>
          </p:cNvSpPr>
          <p:nvPr/>
        </p:nvSpPr>
        <p:spPr bwMode="auto">
          <a:xfrm>
            <a:off x="5029200" y="40005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4" name="AutoShape 36"/>
          <p:cNvSpPr>
            <a:spLocks noChangeArrowheads="1"/>
          </p:cNvSpPr>
          <p:nvPr/>
        </p:nvSpPr>
        <p:spPr bwMode="auto">
          <a:xfrm>
            <a:off x="6515100" y="43434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5" name="AutoShape 37"/>
          <p:cNvSpPr>
            <a:spLocks noChangeArrowheads="1"/>
          </p:cNvSpPr>
          <p:nvPr/>
        </p:nvSpPr>
        <p:spPr bwMode="auto">
          <a:xfrm>
            <a:off x="6400800" y="46291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6" name="AutoShape 38"/>
          <p:cNvSpPr>
            <a:spLocks noChangeArrowheads="1"/>
          </p:cNvSpPr>
          <p:nvPr/>
        </p:nvSpPr>
        <p:spPr bwMode="auto">
          <a:xfrm>
            <a:off x="6286500" y="38862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7" name="AutoShape 39"/>
          <p:cNvSpPr>
            <a:spLocks noChangeArrowheads="1"/>
          </p:cNvSpPr>
          <p:nvPr/>
        </p:nvSpPr>
        <p:spPr bwMode="auto">
          <a:xfrm>
            <a:off x="6743700" y="4800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5908" name="AutoShape 40"/>
          <p:cNvSpPr>
            <a:spLocks noChangeArrowheads="1"/>
          </p:cNvSpPr>
          <p:nvPr/>
        </p:nvSpPr>
        <p:spPr bwMode="auto">
          <a:xfrm>
            <a:off x="6115050" y="28003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3771900" y="2686050"/>
            <a:ext cx="2171700" cy="1943100"/>
            <a:chOff x="2208" y="1536"/>
            <a:chExt cx="1824" cy="1632"/>
          </a:xfrm>
        </p:grpSpPr>
        <p:sp>
          <p:nvSpPr>
            <p:cNvPr id="35914" name="Line 42"/>
            <p:cNvSpPr>
              <a:spLocks noChangeShapeType="1"/>
            </p:cNvSpPr>
            <p:nvPr/>
          </p:nvSpPr>
          <p:spPr bwMode="auto">
            <a:xfrm>
              <a:off x="2976" y="1536"/>
              <a:ext cx="9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5915" name="Line 43"/>
            <p:cNvSpPr>
              <a:spLocks noChangeShapeType="1"/>
            </p:cNvSpPr>
            <p:nvPr/>
          </p:nvSpPr>
          <p:spPr bwMode="auto">
            <a:xfrm flipH="1">
              <a:off x="2208" y="2352"/>
              <a:ext cx="140" cy="38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5916" name="Line 44"/>
            <p:cNvSpPr>
              <a:spLocks noChangeShapeType="1"/>
            </p:cNvSpPr>
            <p:nvPr/>
          </p:nvSpPr>
          <p:spPr bwMode="auto">
            <a:xfrm flipV="1">
              <a:off x="3744" y="2688"/>
              <a:ext cx="288" cy="4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35910" name="Line 82"/>
          <p:cNvSpPr>
            <a:spLocks noChangeShapeType="1"/>
          </p:cNvSpPr>
          <p:nvPr/>
        </p:nvSpPr>
        <p:spPr bwMode="auto">
          <a:xfrm flipH="1" flipV="1">
            <a:off x="2686050" y="2171700"/>
            <a:ext cx="2228850" cy="142875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911" name="Line 83"/>
          <p:cNvSpPr>
            <a:spLocks noChangeShapeType="1"/>
          </p:cNvSpPr>
          <p:nvPr/>
        </p:nvSpPr>
        <p:spPr bwMode="auto">
          <a:xfrm flipH="1">
            <a:off x="4171950" y="3600450"/>
            <a:ext cx="742950" cy="13716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912" name="Line 84"/>
          <p:cNvSpPr>
            <a:spLocks noChangeShapeType="1"/>
          </p:cNvSpPr>
          <p:nvPr/>
        </p:nvSpPr>
        <p:spPr bwMode="auto">
          <a:xfrm flipV="1">
            <a:off x="4914900" y="3600450"/>
            <a:ext cx="2171700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5913" name="TextBox 81"/>
          <p:cNvSpPr txBox="1">
            <a:spLocks noChangeArrowheads="1"/>
          </p:cNvSpPr>
          <p:nvPr/>
        </p:nvSpPr>
        <p:spPr bwMode="auto">
          <a:xfrm>
            <a:off x="1143001" y="5723335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251431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8"/>
          <p:cNvSpPr>
            <a:spLocks noChangeArrowheads="1"/>
          </p:cNvSpPr>
          <p:nvPr/>
        </p:nvSpPr>
        <p:spPr bwMode="auto">
          <a:xfrm>
            <a:off x="1984772" y="1756173"/>
            <a:ext cx="5242322" cy="41112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867" name="Rectangle 69"/>
          <p:cNvSpPr>
            <a:spLocks noChangeArrowheads="1"/>
          </p:cNvSpPr>
          <p:nvPr/>
        </p:nvSpPr>
        <p:spPr bwMode="auto">
          <a:xfrm>
            <a:off x="2696766" y="1956197"/>
            <a:ext cx="4400550" cy="30575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868" name="Line 70"/>
          <p:cNvSpPr>
            <a:spLocks noChangeShapeType="1"/>
          </p:cNvSpPr>
          <p:nvPr/>
        </p:nvSpPr>
        <p:spPr bwMode="auto">
          <a:xfrm>
            <a:off x="2696766" y="4400550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69" name="Line 71"/>
          <p:cNvSpPr>
            <a:spLocks noChangeShapeType="1"/>
          </p:cNvSpPr>
          <p:nvPr/>
        </p:nvSpPr>
        <p:spPr bwMode="auto">
          <a:xfrm>
            <a:off x="2696766" y="3788569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0" name="Line 72"/>
          <p:cNvSpPr>
            <a:spLocks noChangeShapeType="1"/>
          </p:cNvSpPr>
          <p:nvPr/>
        </p:nvSpPr>
        <p:spPr bwMode="auto">
          <a:xfrm>
            <a:off x="2696766" y="3181350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1" name="Line 73"/>
          <p:cNvSpPr>
            <a:spLocks noChangeShapeType="1"/>
          </p:cNvSpPr>
          <p:nvPr/>
        </p:nvSpPr>
        <p:spPr bwMode="auto">
          <a:xfrm>
            <a:off x="2696766" y="2568180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2" name="Line 74"/>
          <p:cNvSpPr>
            <a:spLocks noChangeShapeType="1"/>
          </p:cNvSpPr>
          <p:nvPr/>
        </p:nvSpPr>
        <p:spPr bwMode="auto">
          <a:xfrm>
            <a:off x="2696766" y="1956199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3" name="Rectangle 75"/>
          <p:cNvSpPr>
            <a:spLocks noChangeArrowheads="1"/>
          </p:cNvSpPr>
          <p:nvPr/>
        </p:nvSpPr>
        <p:spPr bwMode="auto">
          <a:xfrm>
            <a:off x="2696766" y="1956197"/>
            <a:ext cx="4400550" cy="3057525"/>
          </a:xfrm>
          <a:prstGeom prst="rect">
            <a:avLst/>
          </a:prstGeom>
          <a:noFill/>
          <a:ln w="7938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874" name="Line 76"/>
          <p:cNvSpPr>
            <a:spLocks noChangeShapeType="1"/>
          </p:cNvSpPr>
          <p:nvPr/>
        </p:nvSpPr>
        <p:spPr bwMode="auto">
          <a:xfrm>
            <a:off x="2696767" y="1956197"/>
            <a:ext cx="1190" cy="3057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5" name="Line 77"/>
          <p:cNvSpPr>
            <a:spLocks noChangeShapeType="1"/>
          </p:cNvSpPr>
          <p:nvPr/>
        </p:nvSpPr>
        <p:spPr bwMode="auto">
          <a:xfrm>
            <a:off x="2644378" y="5013724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6" name="Line 78"/>
          <p:cNvSpPr>
            <a:spLocks noChangeShapeType="1"/>
          </p:cNvSpPr>
          <p:nvPr/>
        </p:nvSpPr>
        <p:spPr bwMode="auto">
          <a:xfrm>
            <a:off x="2644378" y="4400550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7" name="Line 79"/>
          <p:cNvSpPr>
            <a:spLocks noChangeShapeType="1"/>
          </p:cNvSpPr>
          <p:nvPr/>
        </p:nvSpPr>
        <p:spPr bwMode="auto">
          <a:xfrm>
            <a:off x="2644378" y="3788569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8" name="Line 80"/>
          <p:cNvSpPr>
            <a:spLocks noChangeShapeType="1"/>
          </p:cNvSpPr>
          <p:nvPr/>
        </p:nvSpPr>
        <p:spPr bwMode="auto">
          <a:xfrm>
            <a:off x="2644378" y="3181350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79" name="Line 81"/>
          <p:cNvSpPr>
            <a:spLocks noChangeShapeType="1"/>
          </p:cNvSpPr>
          <p:nvPr/>
        </p:nvSpPr>
        <p:spPr bwMode="auto">
          <a:xfrm>
            <a:off x="2644378" y="2568180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0" name="Line 82"/>
          <p:cNvSpPr>
            <a:spLocks noChangeShapeType="1"/>
          </p:cNvSpPr>
          <p:nvPr/>
        </p:nvSpPr>
        <p:spPr bwMode="auto">
          <a:xfrm>
            <a:off x="2644378" y="1956199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1" name="Line 83"/>
          <p:cNvSpPr>
            <a:spLocks noChangeShapeType="1"/>
          </p:cNvSpPr>
          <p:nvPr/>
        </p:nvSpPr>
        <p:spPr bwMode="auto">
          <a:xfrm>
            <a:off x="2696766" y="5013724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2" name="Line 84"/>
          <p:cNvSpPr>
            <a:spLocks noChangeShapeType="1"/>
          </p:cNvSpPr>
          <p:nvPr/>
        </p:nvSpPr>
        <p:spPr bwMode="auto">
          <a:xfrm flipV="1">
            <a:off x="2696767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3" name="Line 85"/>
          <p:cNvSpPr>
            <a:spLocks noChangeShapeType="1"/>
          </p:cNvSpPr>
          <p:nvPr/>
        </p:nvSpPr>
        <p:spPr bwMode="auto">
          <a:xfrm flipV="1">
            <a:off x="3575449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4" name="Line 86"/>
          <p:cNvSpPr>
            <a:spLocks noChangeShapeType="1"/>
          </p:cNvSpPr>
          <p:nvPr/>
        </p:nvSpPr>
        <p:spPr bwMode="auto">
          <a:xfrm flipV="1">
            <a:off x="4458892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5" name="Line 87"/>
          <p:cNvSpPr>
            <a:spLocks noChangeShapeType="1"/>
          </p:cNvSpPr>
          <p:nvPr/>
        </p:nvSpPr>
        <p:spPr bwMode="auto">
          <a:xfrm flipV="1">
            <a:off x="5336381" y="5013722"/>
            <a:ext cx="1191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6" name="Line 88"/>
          <p:cNvSpPr>
            <a:spLocks noChangeShapeType="1"/>
          </p:cNvSpPr>
          <p:nvPr/>
        </p:nvSpPr>
        <p:spPr bwMode="auto">
          <a:xfrm flipV="1">
            <a:off x="6219825" y="5013722"/>
            <a:ext cx="1191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7" name="Line 89"/>
          <p:cNvSpPr>
            <a:spLocks noChangeShapeType="1"/>
          </p:cNvSpPr>
          <p:nvPr/>
        </p:nvSpPr>
        <p:spPr bwMode="auto">
          <a:xfrm flipV="1">
            <a:off x="7097317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6888" name="Freeform 90"/>
          <p:cNvSpPr>
            <a:spLocks/>
          </p:cNvSpPr>
          <p:nvPr/>
        </p:nvSpPr>
        <p:spPr bwMode="auto">
          <a:xfrm>
            <a:off x="3527822" y="4354116"/>
            <a:ext cx="94059" cy="94059"/>
          </a:xfrm>
          <a:custGeom>
            <a:avLst/>
            <a:gdLst>
              <a:gd name="T0" fmla="*/ 63500 w 79"/>
              <a:gd name="T1" fmla="*/ 0 h 79"/>
              <a:gd name="T2" fmla="*/ 125412 w 79"/>
              <a:gd name="T3" fmla="*/ 61912 h 79"/>
              <a:gd name="T4" fmla="*/ 63500 w 79"/>
              <a:gd name="T5" fmla="*/ 125412 h 79"/>
              <a:gd name="T6" fmla="*/ 0 w 79"/>
              <a:gd name="T7" fmla="*/ 61912 h 79"/>
              <a:gd name="T8" fmla="*/ 63500 w 7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79"/>
              <a:gd name="T17" fmla="*/ 79 w 7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79">
                <a:moveTo>
                  <a:pt x="40" y="0"/>
                </a:moveTo>
                <a:lnTo>
                  <a:pt x="79" y="39"/>
                </a:lnTo>
                <a:lnTo>
                  <a:pt x="40" y="79"/>
                </a:lnTo>
                <a:lnTo>
                  <a:pt x="0" y="39"/>
                </a:lnTo>
                <a:lnTo>
                  <a:pt x="4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US" sz="1350"/>
          </a:p>
        </p:txBody>
      </p:sp>
      <p:sp>
        <p:nvSpPr>
          <p:cNvPr id="36889" name="Rectangle 91"/>
          <p:cNvSpPr>
            <a:spLocks noChangeArrowheads="1"/>
          </p:cNvSpPr>
          <p:nvPr/>
        </p:nvSpPr>
        <p:spPr bwMode="auto">
          <a:xfrm>
            <a:off x="2478881" y="4919663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0</a:t>
            </a:r>
            <a:endParaRPr lang="en-US" altLang="en-US" sz="1800"/>
          </a:p>
        </p:txBody>
      </p:sp>
      <p:sp>
        <p:nvSpPr>
          <p:cNvPr id="36890" name="Rectangle 92"/>
          <p:cNvSpPr>
            <a:spLocks noChangeArrowheads="1"/>
          </p:cNvSpPr>
          <p:nvPr/>
        </p:nvSpPr>
        <p:spPr bwMode="auto">
          <a:xfrm>
            <a:off x="2478881" y="4306491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36891" name="Rectangle 93"/>
          <p:cNvSpPr>
            <a:spLocks noChangeArrowheads="1"/>
          </p:cNvSpPr>
          <p:nvPr/>
        </p:nvSpPr>
        <p:spPr bwMode="auto">
          <a:xfrm>
            <a:off x="2478881" y="369451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36892" name="Rectangle 94"/>
          <p:cNvSpPr>
            <a:spLocks noChangeArrowheads="1"/>
          </p:cNvSpPr>
          <p:nvPr/>
        </p:nvSpPr>
        <p:spPr bwMode="auto">
          <a:xfrm>
            <a:off x="2478881" y="3087291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3</a:t>
            </a:r>
            <a:endParaRPr lang="en-US" altLang="en-US" sz="1800"/>
          </a:p>
        </p:txBody>
      </p:sp>
      <p:sp>
        <p:nvSpPr>
          <p:cNvPr id="36893" name="Rectangle 95"/>
          <p:cNvSpPr>
            <a:spLocks noChangeArrowheads="1"/>
          </p:cNvSpPr>
          <p:nvPr/>
        </p:nvSpPr>
        <p:spPr bwMode="auto">
          <a:xfrm>
            <a:off x="2478881" y="2474119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4</a:t>
            </a:r>
            <a:endParaRPr lang="en-US" altLang="en-US" sz="1800"/>
          </a:p>
        </p:txBody>
      </p:sp>
      <p:sp>
        <p:nvSpPr>
          <p:cNvPr id="36894" name="Rectangle 96"/>
          <p:cNvSpPr>
            <a:spLocks noChangeArrowheads="1"/>
          </p:cNvSpPr>
          <p:nvPr/>
        </p:nvSpPr>
        <p:spPr bwMode="auto">
          <a:xfrm>
            <a:off x="2478881" y="1862138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5</a:t>
            </a:r>
            <a:endParaRPr lang="en-US" altLang="en-US" sz="1800"/>
          </a:p>
        </p:txBody>
      </p:sp>
      <p:sp>
        <p:nvSpPr>
          <p:cNvPr id="36895" name="Rectangle 97"/>
          <p:cNvSpPr>
            <a:spLocks noChangeArrowheads="1"/>
          </p:cNvSpPr>
          <p:nvPr/>
        </p:nvSpPr>
        <p:spPr bwMode="auto">
          <a:xfrm>
            <a:off x="265628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0</a:t>
            </a:r>
            <a:endParaRPr lang="en-US" altLang="en-US" sz="1800"/>
          </a:p>
        </p:txBody>
      </p:sp>
      <p:sp>
        <p:nvSpPr>
          <p:cNvPr id="36896" name="Rectangle 98"/>
          <p:cNvSpPr>
            <a:spLocks noChangeArrowheads="1"/>
          </p:cNvSpPr>
          <p:nvPr/>
        </p:nvSpPr>
        <p:spPr bwMode="auto">
          <a:xfrm>
            <a:off x="353377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36897" name="Rectangle 99"/>
          <p:cNvSpPr>
            <a:spLocks noChangeArrowheads="1"/>
          </p:cNvSpPr>
          <p:nvPr/>
        </p:nvSpPr>
        <p:spPr bwMode="auto">
          <a:xfrm>
            <a:off x="4417219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36898" name="Rectangle 100"/>
          <p:cNvSpPr>
            <a:spLocks noChangeArrowheads="1"/>
          </p:cNvSpPr>
          <p:nvPr/>
        </p:nvSpPr>
        <p:spPr bwMode="auto">
          <a:xfrm>
            <a:off x="5294710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3</a:t>
            </a:r>
            <a:endParaRPr lang="en-US" altLang="en-US" sz="1800"/>
          </a:p>
        </p:txBody>
      </p:sp>
      <p:sp>
        <p:nvSpPr>
          <p:cNvPr id="36899" name="Rectangle 101"/>
          <p:cNvSpPr>
            <a:spLocks noChangeArrowheads="1"/>
          </p:cNvSpPr>
          <p:nvPr/>
        </p:nvSpPr>
        <p:spPr bwMode="auto">
          <a:xfrm>
            <a:off x="6179344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4</a:t>
            </a:r>
            <a:endParaRPr lang="en-US" altLang="en-US" sz="1800"/>
          </a:p>
        </p:txBody>
      </p:sp>
      <p:sp>
        <p:nvSpPr>
          <p:cNvPr id="36900" name="Rectangle 102"/>
          <p:cNvSpPr>
            <a:spLocks noChangeArrowheads="1"/>
          </p:cNvSpPr>
          <p:nvPr/>
        </p:nvSpPr>
        <p:spPr bwMode="auto">
          <a:xfrm>
            <a:off x="705683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5</a:t>
            </a:r>
            <a:endParaRPr lang="en-US" altLang="en-US" sz="1800"/>
          </a:p>
        </p:txBody>
      </p:sp>
      <p:sp>
        <p:nvSpPr>
          <p:cNvPr id="266243" name="Rectangle 3"/>
          <p:cNvSpPr>
            <a:spLocks noGrp="1" noChangeArrowheads="1"/>
          </p:cNvSpPr>
          <p:nvPr>
            <p:ph type="title"/>
          </p:nvPr>
        </p:nvSpPr>
        <p:spPr>
          <a:xfrm>
            <a:off x="1657350" y="1028700"/>
            <a:ext cx="5829300" cy="4000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3</a:t>
            </a:r>
          </a:p>
        </p:txBody>
      </p:sp>
      <p:sp>
        <p:nvSpPr>
          <p:cNvPr id="36902" name="Text Box 4"/>
          <p:cNvSpPr txBox="1">
            <a:spLocks noChangeArrowheads="1"/>
          </p:cNvSpPr>
          <p:nvPr/>
        </p:nvSpPr>
        <p:spPr bwMode="auto">
          <a:xfrm>
            <a:off x="1877616" y="1485901"/>
            <a:ext cx="5993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Algorithm: k-means, Distance Metric: Euclidean Distance</a:t>
            </a:r>
          </a:p>
        </p:txBody>
      </p:sp>
      <p:grpSp>
        <p:nvGrpSpPr>
          <p:cNvPr id="36903" name="Group 5"/>
          <p:cNvGrpSpPr>
            <a:grpSpLocks/>
          </p:cNvGrpSpPr>
          <p:nvPr/>
        </p:nvGrpSpPr>
        <p:grpSpPr bwMode="auto">
          <a:xfrm>
            <a:off x="5772150" y="2457451"/>
            <a:ext cx="514350" cy="426244"/>
            <a:chOff x="192" y="1824"/>
            <a:chExt cx="432" cy="358"/>
          </a:xfrm>
        </p:grpSpPr>
        <p:sp>
          <p:nvSpPr>
            <p:cNvPr id="36965" name="Oval 6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6966" name="Text Box 7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1</a:t>
              </a:r>
            </a:p>
          </p:txBody>
        </p:sp>
      </p:grpSp>
      <p:grpSp>
        <p:nvGrpSpPr>
          <p:cNvPr id="36904" name="Group 8"/>
          <p:cNvGrpSpPr>
            <a:grpSpLocks/>
          </p:cNvGrpSpPr>
          <p:nvPr/>
        </p:nvGrpSpPr>
        <p:grpSpPr bwMode="auto">
          <a:xfrm>
            <a:off x="3486150" y="4114801"/>
            <a:ext cx="514350" cy="426244"/>
            <a:chOff x="192" y="1824"/>
            <a:chExt cx="432" cy="358"/>
          </a:xfrm>
        </p:grpSpPr>
        <p:sp>
          <p:nvSpPr>
            <p:cNvPr id="36963" name="Oval 9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6964" name="Text Box 10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2</a:t>
              </a:r>
            </a:p>
          </p:txBody>
        </p:sp>
      </p:grpSp>
      <p:grpSp>
        <p:nvGrpSpPr>
          <p:cNvPr id="36905" name="Group 11"/>
          <p:cNvGrpSpPr>
            <a:grpSpLocks/>
          </p:cNvGrpSpPr>
          <p:nvPr/>
        </p:nvGrpSpPr>
        <p:grpSpPr bwMode="auto">
          <a:xfrm>
            <a:off x="5829300" y="3886201"/>
            <a:ext cx="514350" cy="426244"/>
            <a:chOff x="192" y="1824"/>
            <a:chExt cx="432" cy="358"/>
          </a:xfrm>
        </p:grpSpPr>
        <p:sp>
          <p:nvSpPr>
            <p:cNvPr id="36961" name="Oval 1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6962" name="Text Box 1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3</a:t>
              </a:r>
            </a:p>
          </p:txBody>
        </p:sp>
      </p:grpSp>
      <p:sp>
        <p:nvSpPr>
          <p:cNvPr id="36906" name="AutoShape 14"/>
          <p:cNvSpPr>
            <a:spLocks noChangeArrowheads="1"/>
          </p:cNvSpPr>
          <p:nvPr/>
        </p:nvSpPr>
        <p:spPr bwMode="auto">
          <a:xfrm>
            <a:off x="3543300" y="4343400"/>
            <a:ext cx="114300" cy="1143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07" name="AutoShape 15"/>
          <p:cNvSpPr>
            <a:spLocks noChangeArrowheads="1"/>
          </p:cNvSpPr>
          <p:nvPr/>
        </p:nvSpPr>
        <p:spPr bwMode="auto">
          <a:xfrm>
            <a:off x="3657600" y="4514850"/>
            <a:ext cx="114300" cy="1143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08" name="AutoShape 16"/>
          <p:cNvSpPr>
            <a:spLocks noChangeArrowheads="1"/>
          </p:cNvSpPr>
          <p:nvPr/>
        </p:nvSpPr>
        <p:spPr bwMode="auto">
          <a:xfrm>
            <a:off x="3486150" y="4686300"/>
            <a:ext cx="114300" cy="1143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09" name="AutoShape 17"/>
          <p:cNvSpPr>
            <a:spLocks noChangeArrowheads="1"/>
          </p:cNvSpPr>
          <p:nvPr/>
        </p:nvSpPr>
        <p:spPr bwMode="auto">
          <a:xfrm>
            <a:off x="3314700" y="4171950"/>
            <a:ext cx="114300" cy="1143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0" name="AutoShape 18"/>
          <p:cNvSpPr>
            <a:spLocks noChangeArrowheads="1"/>
          </p:cNvSpPr>
          <p:nvPr/>
        </p:nvSpPr>
        <p:spPr bwMode="auto">
          <a:xfrm>
            <a:off x="3314700" y="240030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1" name="AutoShape 19"/>
          <p:cNvSpPr>
            <a:spLocks noChangeArrowheads="1"/>
          </p:cNvSpPr>
          <p:nvPr/>
        </p:nvSpPr>
        <p:spPr bwMode="auto">
          <a:xfrm>
            <a:off x="3314700" y="3543300"/>
            <a:ext cx="114300" cy="1143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2" name="AutoShape 20"/>
          <p:cNvSpPr>
            <a:spLocks noChangeArrowheads="1"/>
          </p:cNvSpPr>
          <p:nvPr/>
        </p:nvSpPr>
        <p:spPr bwMode="auto">
          <a:xfrm>
            <a:off x="3314700" y="4686300"/>
            <a:ext cx="114300" cy="1143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3" name="AutoShape 21"/>
          <p:cNvSpPr>
            <a:spLocks noChangeArrowheads="1"/>
          </p:cNvSpPr>
          <p:nvPr/>
        </p:nvSpPr>
        <p:spPr bwMode="auto">
          <a:xfrm>
            <a:off x="2971800" y="3943350"/>
            <a:ext cx="114300" cy="1143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4" name="AutoShape 22"/>
          <p:cNvSpPr>
            <a:spLocks noChangeArrowheads="1"/>
          </p:cNvSpPr>
          <p:nvPr/>
        </p:nvSpPr>
        <p:spPr bwMode="auto">
          <a:xfrm>
            <a:off x="4572000" y="3714750"/>
            <a:ext cx="114300" cy="114300"/>
          </a:xfrm>
          <a:prstGeom prst="diamond">
            <a:avLst/>
          </a:prstGeom>
          <a:solidFill>
            <a:srgbClr val="6600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5" name="AutoShape 23"/>
          <p:cNvSpPr>
            <a:spLocks noChangeArrowheads="1"/>
          </p:cNvSpPr>
          <p:nvPr/>
        </p:nvSpPr>
        <p:spPr bwMode="auto">
          <a:xfrm>
            <a:off x="6172200" y="222885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6" name="AutoShape 24"/>
          <p:cNvSpPr>
            <a:spLocks noChangeArrowheads="1"/>
          </p:cNvSpPr>
          <p:nvPr/>
        </p:nvSpPr>
        <p:spPr bwMode="auto">
          <a:xfrm>
            <a:off x="6515100" y="228600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7" name="AutoShape 25"/>
          <p:cNvSpPr>
            <a:spLocks noChangeArrowheads="1"/>
          </p:cNvSpPr>
          <p:nvPr/>
        </p:nvSpPr>
        <p:spPr bwMode="auto">
          <a:xfrm>
            <a:off x="6400800" y="240030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8" name="AutoShape 26"/>
          <p:cNvSpPr>
            <a:spLocks noChangeArrowheads="1"/>
          </p:cNvSpPr>
          <p:nvPr/>
        </p:nvSpPr>
        <p:spPr bwMode="auto">
          <a:xfrm>
            <a:off x="6286500" y="251460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19" name="AutoShape 27"/>
          <p:cNvSpPr>
            <a:spLocks noChangeArrowheads="1"/>
          </p:cNvSpPr>
          <p:nvPr/>
        </p:nvSpPr>
        <p:spPr bwMode="auto">
          <a:xfrm>
            <a:off x="6515100" y="262890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0" name="AutoShape 28"/>
          <p:cNvSpPr>
            <a:spLocks noChangeArrowheads="1"/>
          </p:cNvSpPr>
          <p:nvPr/>
        </p:nvSpPr>
        <p:spPr bwMode="auto">
          <a:xfrm>
            <a:off x="6743700" y="291465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1" name="AutoShape 29"/>
          <p:cNvSpPr>
            <a:spLocks noChangeArrowheads="1"/>
          </p:cNvSpPr>
          <p:nvPr/>
        </p:nvSpPr>
        <p:spPr bwMode="auto">
          <a:xfrm>
            <a:off x="5429250" y="222885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2" name="AutoShape 30"/>
          <p:cNvSpPr>
            <a:spLocks noChangeArrowheads="1"/>
          </p:cNvSpPr>
          <p:nvPr/>
        </p:nvSpPr>
        <p:spPr bwMode="auto">
          <a:xfrm>
            <a:off x="5657850" y="331470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3" name="AutoShape 31"/>
          <p:cNvSpPr>
            <a:spLocks noChangeArrowheads="1"/>
          </p:cNvSpPr>
          <p:nvPr/>
        </p:nvSpPr>
        <p:spPr bwMode="auto">
          <a:xfrm>
            <a:off x="5657850" y="4457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4" name="AutoShape 32"/>
          <p:cNvSpPr>
            <a:spLocks noChangeArrowheads="1"/>
          </p:cNvSpPr>
          <p:nvPr/>
        </p:nvSpPr>
        <p:spPr bwMode="auto">
          <a:xfrm>
            <a:off x="5943600" y="4686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5" name="AutoShape 33"/>
          <p:cNvSpPr>
            <a:spLocks noChangeArrowheads="1"/>
          </p:cNvSpPr>
          <p:nvPr/>
        </p:nvSpPr>
        <p:spPr bwMode="auto">
          <a:xfrm>
            <a:off x="6229350" y="41148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6" name="AutoShape 34"/>
          <p:cNvSpPr>
            <a:spLocks noChangeArrowheads="1"/>
          </p:cNvSpPr>
          <p:nvPr/>
        </p:nvSpPr>
        <p:spPr bwMode="auto">
          <a:xfrm>
            <a:off x="5600700" y="3657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7" name="AutoShape 35"/>
          <p:cNvSpPr>
            <a:spLocks noChangeArrowheads="1"/>
          </p:cNvSpPr>
          <p:nvPr/>
        </p:nvSpPr>
        <p:spPr bwMode="auto">
          <a:xfrm>
            <a:off x="5029200" y="40005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8" name="AutoShape 36"/>
          <p:cNvSpPr>
            <a:spLocks noChangeArrowheads="1"/>
          </p:cNvSpPr>
          <p:nvPr/>
        </p:nvSpPr>
        <p:spPr bwMode="auto">
          <a:xfrm>
            <a:off x="6515100" y="43434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29" name="AutoShape 37"/>
          <p:cNvSpPr>
            <a:spLocks noChangeArrowheads="1"/>
          </p:cNvSpPr>
          <p:nvPr/>
        </p:nvSpPr>
        <p:spPr bwMode="auto">
          <a:xfrm>
            <a:off x="6400800" y="46291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0" name="AutoShape 38"/>
          <p:cNvSpPr>
            <a:spLocks noChangeArrowheads="1"/>
          </p:cNvSpPr>
          <p:nvPr/>
        </p:nvSpPr>
        <p:spPr bwMode="auto">
          <a:xfrm>
            <a:off x="6286500" y="38862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1" name="AutoShape 39"/>
          <p:cNvSpPr>
            <a:spLocks noChangeArrowheads="1"/>
          </p:cNvSpPr>
          <p:nvPr/>
        </p:nvSpPr>
        <p:spPr bwMode="auto">
          <a:xfrm>
            <a:off x="6743700" y="4800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2" name="AutoShape 40"/>
          <p:cNvSpPr>
            <a:spLocks noChangeArrowheads="1"/>
          </p:cNvSpPr>
          <p:nvPr/>
        </p:nvSpPr>
        <p:spPr bwMode="auto">
          <a:xfrm>
            <a:off x="6115050" y="2800350"/>
            <a:ext cx="114300" cy="114300"/>
          </a:xfrm>
          <a:prstGeom prst="diamond">
            <a:avLst/>
          </a:prstGeom>
          <a:solidFill>
            <a:srgbClr val="00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3" name="AutoShape 41"/>
          <p:cNvSpPr>
            <a:spLocks noChangeArrowheads="1"/>
          </p:cNvSpPr>
          <p:nvPr/>
        </p:nvSpPr>
        <p:spPr bwMode="auto">
          <a:xfrm>
            <a:off x="3543300" y="43434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4" name="AutoShape 42"/>
          <p:cNvSpPr>
            <a:spLocks noChangeArrowheads="1"/>
          </p:cNvSpPr>
          <p:nvPr/>
        </p:nvSpPr>
        <p:spPr bwMode="auto">
          <a:xfrm>
            <a:off x="3657600" y="45148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5" name="AutoShape 43"/>
          <p:cNvSpPr>
            <a:spLocks noChangeArrowheads="1"/>
          </p:cNvSpPr>
          <p:nvPr/>
        </p:nvSpPr>
        <p:spPr bwMode="auto">
          <a:xfrm>
            <a:off x="3486150" y="4686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6" name="AutoShape 44"/>
          <p:cNvSpPr>
            <a:spLocks noChangeArrowheads="1"/>
          </p:cNvSpPr>
          <p:nvPr/>
        </p:nvSpPr>
        <p:spPr bwMode="auto">
          <a:xfrm>
            <a:off x="3314700" y="41719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7" name="AutoShape 45"/>
          <p:cNvSpPr>
            <a:spLocks noChangeArrowheads="1"/>
          </p:cNvSpPr>
          <p:nvPr/>
        </p:nvSpPr>
        <p:spPr bwMode="auto">
          <a:xfrm>
            <a:off x="3314700" y="24003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8" name="AutoShape 46"/>
          <p:cNvSpPr>
            <a:spLocks noChangeArrowheads="1"/>
          </p:cNvSpPr>
          <p:nvPr/>
        </p:nvSpPr>
        <p:spPr bwMode="auto">
          <a:xfrm>
            <a:off x="3314700" y="3543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39" name="AutoShape 47"/>
          <p:cNvSpPr>
            <a:spLocks noChangeArrowheads="1"/>
          </p:cNvSpPr>
          <p:nvPr/>
        </p:nvSpPr>
        <p:spPr bwMode="auto">
          <a:xfrm>
            <a:off x="3314700" y="4686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0" name="AutoShape 48"/>
          <p:cNvSpPr>
            <a:spLocks noChangeArrowheads="1"/>
          </p:cNvSpPr>
          <p:nvPr/>
        </p:nvSpPr>
        <p:spPr bwMode="auto">
          <a:xfrm>
            <a:off x="2971800" y="39433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1" name="AutoShape 49"/>
          <p:cNvSpPr>
            <a:spLocks noChangeArrowheads="1"/>
          </p:cNvSpPr>
          <p:nvPr/>
        </p:nvSpPr>
        <p:spPr bwMode="auto">
          <a:xfrm>
            <a:off x="4572000" y="37147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2" name="AutoShape 50"/>
          <p:cNvSpPr>
            <a:spLocks noChangeArrowheads="1"/>
          </p:cNvSpPr>
          <p:nvPr/>
        </p:nvSpPr>
        <p:spPr bwMode="auto">
          <a:xfrm>
            <a:off x="6172200" y="22288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3" name="AutoShape 51"/>
          <p:cNvSpPr>
            <a:spLocks noChangeArrowheads="1"/>
          </p:cNvSpPr>
          <p:nvPr/>
        </p:nvSpPr>
        <p:spPr bwMode="auto">
          <a:xfrm>
            <a:off x="6515100" y="22860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4" name="AutoShape 52"/>
          <p:cNvSpPr>
            <a:spLocks noChangeArrowheads="1"/>
          </p:cNvSpPr>
          <p:nvPr/>
        </p:nvSpPr>
        <p:spPr bwMode="auto">
          <a:xfrm>
            <a:off x="6400800" y="24003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5" name="AutoShape 53"/>
          <p:cNvSpPr>
            <a:spLocks noChangeArrowheads="1"/>
          </p:cNvSpPr>
          <p:nvPr/>
        </p:nvSpPr>
        <p:spPr bwMode="auto">
          <a:xfrm>
            <a:off x="6286500" y="25146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6" name="AutoShape 54"/>
          <p:cNvSpPr>
            <a:spLocks noChangeArrowheads="1"/>
          </p:cNvSpPr>
          <p:nvPr/>
        </p:nvSpPr>
        <p:spPr bwMode="auto">
          <a:xfrm>
            <a:off x="6515100" y="26289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7" name="AutoShape 55"/>
          <p:cNvSpPr>
            <a:spLocks noChangeArrowheads="1"/>
          </p:cNvSpPr>
          <p:nvPr/>
        </p:nvSpPr>
        <p:spPr bwMode="auto">
          <a:xfrm>
            <a:off x="6743700" y="29146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8" name="AutoShape 56"/>
          <p:cNvSpPr>
            <a:spLocks noChangeArrowheads="1"/>
          </p:cNvSpPr>
          <p:nvPr/>
        </p:nvSpPr>
        <p:spPr bwMode="auto">
          <a:xfrm>
            <a:off x="5429250" y="22288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49" name="AutoShape 57"/>
          <p:cNvSpPr>
            <a:spLocks noChangeArrowheads="1"/>
          </p:cNvSpPr>
          <p:nvPr/>
        </p:nvSpPr>
        <p:spPr bwMode="auto">
          <a:xfrm>
            <a:off x="5657850" y="33147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0" name="AutoShape 58"/>
          <p:cNvSpPr>
            <a:spLocks noChangeArrowheads="1"/>
          </p:cNvSpPr>
          <p:nvPr/>
        </p:nvSpPr>
        <p:spPr bwMode="auto">
          <a:xfrm>
            <a:off x="5657850" y="4457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1" name="AutoShape 59"/>
          <p:cNvSpPr>
            <a:spLocks noChangeArrowheads="1"/>
          </p:cNvSpPr>
          <p:nvPr/>
        </p:nvSpPr>
        <p:spPr bwMode="auto">
          <a:xfrm>
            <a:off x="5943600" y="4686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2" name="AutoShape 60"/>
          <p:cNvSpPr>
            <a:spLocks noChangeArrowheads="1"/>
          </p:cNvSpPr>
          <p:nvPr/>
        </p:nvSpPr>
        <p:spPr bwMode="auto">
          <a:xfrm>
            <a:off x="6229350" y="41148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3" name="AutoShape 61"/>
          <p:cNvSpPr>
            <a:spLocks noChangeArrowheads="1"/>
          </p:cNvSpPr>
          <p:nvPr/>
        </p:nvSpPr>
        <p:spPr bwMode="auto">
          <a:xfrm>
            <a:off x="5600700" y="3657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4" name="AutoShape 62"/>
          <p:cNvSpPr>
            <a:spLocks noChangeArrowheads="1"/>
          </p:cNvSpPr>
          <p:nvPr/>
        </p:nvSpPr>
        <p:spPr bwMode="auto">
          <a:xfrm>
            <a:off x="5029200" y="40005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5" name="AutoShape 63"/>
          <p:cNvSpPr>
            <a:spLocks noChangeArrowheads="1"/>
          </p:cNvSpPr>
          <p:nvPr/>
        </p:nvSpPr>
        <p:spPr bwMode="auto">
          <a:xfrm>
            <a:off x="6515100" y="43434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6" name="AutoShape 64"/>
          <p:cNvSpPr>
            <a:spLocks noChangeArrowheads="1"/>
          </p:cNvSpPr>
          <p:nvPr/>
        </p:nvSpPr>
        <p:spPr bwMode="auto">
          <a:xfrm>
            <a:off x="6400800" y="46291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7" name="AutoShape 65"/>
          <p:cNvSpPr>
            <a:spLocks noChangeArrowheads="1"/>
          </p:cNvSpPr>
          <p:nvPr/>
        </p:nvSpPr>
        <p:spPr bwMode="auto">
          <a:xfrm>
            <a:off x="6286500" y="38862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8" name="AutoShape 66"/>
          <p:cNvSpPr>
            <a:spLocks noChangeArrowheads="1"/>
          </p:cNvSpPr>
          <p:nvPr/>
        </p:nvSpPr>
        <p:spPr bwMode="auto">
          <a:xfrm>
            <a:off x="6743700" y="4800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59" name="AutoShape 67"/>
          <p:cNvSpPr>
            <a:spLocks noChangeArrowheads="1"/>
          </p:cNvSpPr>
          <p:nvPr/>
        </p:nvSpPr>
        <p:spPr bwMode="auto">
          <a:xfrm>
            <a:off x="6115050" y="28003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6960" name="TextBox 101"/>
          <p:cNvSpPr txBox="1">
            <a:spLocks noChangeArrowheads="1"/>
          </p:cNvSpPr>
          <p:nvPr/>
        </p:nvSpPr>
        <p:spPr bwMode="auto">
          <a:xfrm>
            <a:off x="1143001" y="5723335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448423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5"/>
          <p:cNvSpPr>
            <a:spLocks noChangeArrowheads="1"/>
          </p:cNvSpPr>
          <p:nvPr/>
        </p:nvSpPr>
        <p:spPr bwMode="auto">
          <a:xfrm>
            <a:off x="1984772" y="1756173"/>
            <a:ext cx="5242322" cy="411122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891" name="Rectangle 46"/>
          <p:cNvSpPr>
            <a:spLocks noChangeArrowheads="1"/>
          </p:cNvSpPr>
          <p:nvPr/>
        </p:nvSpPr>
        <p:spPr bwMode="auto">
          <a:xfrm>
            <a:off x="2696766" y="1956197"/>
            <a:ext cx="4400550" cy="30575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892" name="Line 47"/>
          <p:cNvSpPr>
            <a:spLocks noChangeShapeType="1"/>
          </p:cNvSpPr>
          <p:nvPr/>
        </p:nvSpPr>
        <p:spPr bwMode="auto">
          <a:xfrm>
            <a:off x="2696766" y="4400550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893" name="Line 48"/>
          <p:cNvSpPr>
            <a:spLocks noChangeShapeType="1"/>
          </p:cNvSpPr>
          <p:nvPr/>
        </p:nvSpPr>
        <p:spPr bwMode="auto">
          <a:xfrm>
            <a:off x="2696766" y="3788569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894" name="Line 49"/>
          <p:cNvSpPr>
            <a:spLocks noChangeShapeType="1"/>
          </p:cNvSpPr>
          <p:nvPr/>
        </p:nvSpPr>
        <p:spPr bwMode="auto">
          <a:xfrm>
            <a:off x="2696766" y="3181350"/>
            <a:ext cx="4400550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895" name="Line 50"/>
          <p:cNvSpPr>
            <a:spLocks noChangeShapeType="1"/>
          </p:cNvSpPr>
          <p:nvPr/>
        </p:nvSpPr>
        <p:spPr bwMode="auto">
          <a:xfrm>
            <a:off x="2696766" y="2568180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896" name="Line 51"/>
          <p:cNvSpPr>
            <a:spLocks noChangeShapeType="1"/>
          </p:cNvSpPr>
          <p:nvPr/>
        </p:nvSpPr>
        <p:spPr bwMode="auto">
          <a:xfrm>
            <a:off x="2696766" y="1956199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897" name="Rectangle 52"/>
          <p:cNvSpPr>
            <a:spLocks noChangeArrowheads="1"/>
          </p:cNvSpPr>
          <p:nvPr/>
        </p:nvSpPr>
        <p:spPr bwMode="auto">
          <a:xfrm>
            <a:off x="2696766" y="1956197"/>
            <a:ext cx="4400550" cy="3057525"/>
          </a:xfrm>
          <a:prstGeom prst="rect">
            <a:avLst/>
          </a:prstGeom>
          <a:noFill/>
          <a:ln w="7938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898" name="Line 53"/>
          <p:cNvSpPr>
            <a:spLocks noChangeShapeType="1"/>
          </p:cNvSpPr>
          <p:nvPr/>
        </p:nvSpPr>
        <p:spPr bwMode="auto">
          <a:xfrm>
            <a:off x="2696767" y="1956197"/>
            <a:ext cx="1190" cy="30575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899" name="Line 54"/>
          <p:cNvSpPr>
            <a:spLocks noChangeShapeType="1"/>
          </p:cNvSpPr>
          <p:nvPr/>
        </p:nvSpPr>
        <p:spPr bwMode="auto">
          <a:xfrm>
            <a:off x="2644378" y="5013724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0" name="Line 55"/>
          <p:cNvSpPr>
            <a:spLocks noChangeShapeType="1"/>
          </p:cNvSpPr>
          <p:nvPr/>
        </p:nvSpPr>
        <p:spPr bwMode="auto">
          <a:xfrm>
            <a:off x="2644378" y="4400550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1" name="Line 56"/>
          <p:cNvSpPr>
            <a:spLocks noChangeShapeType="1"/>
          </p:cNvSpPr>
          <p:nvPr/>
        </p:nvSpPr>
        <p:spPr bwMode="auto">
          <a:xfrm>
            <a:off x="2644378" y="3788569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2" name="Line 57"/>
          <p:cNvSpPr>
            <a:spLocks noChangeShapeType="1"/>
          </p:cNvSpPr>
          <p:nvPr/>
        </p:nvSpPr>
        <p:spPr bwMode="auto">
          <a:xfrm>
            <a:off x="2644378" y="3181350"/>
            <a:ext cx="52388" cy="1191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3" name="Line 58"/>
          <p:cNvSpPr>
            <a:spLocks noChangeShapeType="1"/>
          </p:cNvSpPr>
          <p:nvPr/>
        </p:nvSpPr>
        <p:spPr bwMode="auto">
          <a:xfrm>
            <a:off x="2644378" y="2568180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4" name="Line 59"/>
          <p:cNvSpPr>
            <a:spLocks noChangeShapeType="1"/>
          </p:cNvSpPr>
          <p:nvPr/>
        </p:nvSpPr>
        <p:spPr bwMode="auto">
          <a:xfrm>
            <a:off x="2644378" y="1956199"/>
            <a:ext cx="52388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5" name="Line 60"/>
          <p:cNvSpPr>
            <a:spLocks noChangeShapeType="1"/>
          </p:cNvSpPr>
          <p:nvPr/>
        </p:nvSpPr>
        <p:spPr bwMode="auto">
          <a:xfrm>
            <a:off x="2696766" y="5013724"/>
            <a:ext cx="4400550" cy="119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6" name="Line 61"/>
          <p:cNvSpPr>
            <a:spLocks noChangeShapeType="1"/>
          </p:cNvSpPr>
          <p:nvPr/>
        </p:nvSpPr>
        <p:spPr bwMode="auto">
          <a:xfrm flipV="1">
            <a:off x="2696767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7" name="Line 62"/>
          <p:cNvSpPr>
            <a:spLocks noChangeShapeType="1"/>
          </p:cNvSpPr>
          <p:nvPr/>
        </p:nvSpPr>
        <p:spPr bwMode="auto">
          <a:xfrm flipV="1">
            <a:off x="3575449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8" name="Line 63"/>
          <p:cNvSpPr>
            <a:spLocks noChangeShapeType="1"/>
          </p:cNvSpPr>
          <p:nvPr/>
        </p:nvSpPr>
        <p:spPr bwMode="auto">
          <a:xfrm flipV="1">
            <a:off x="4458892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09" name="Line 64"/>
          <p:cNvSpPr>
            <a:spLocks noChangeShapeType="1"/>
          </p:cNvSpPr>
          <p:nvPr/>
        </p:nvSpPr>
        <p:spPr bwMode="auto">
          <a:xfrm flipV="1">
            <a:off x="5336381" y="5013722"/>
            <a:ext cx="1191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10" name="Line 65"/>
          <p:cNvSpPr>
            <a:spLocks noChangeShapeType="1"/>
          </p:cNvSpPr>
          <p:nvPr/>
        </p:nvSpPr>
        <p:spPr bwMode="auto">
          <a:xfrm flipV="1">
            <a:off x="6219825" y="5013722"/>
            <a:ext cx="1191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11" name="Line 66"/>
          <p:cNvSpPr>
            <a:spLocks noChangeShapeType="1"/>
          </p:cNvSpPr>
          <p:nvPr/>
        </p:nvSpPr>
        <p:spPr bwMode="auto">
          <a:xfrm flipV="1">
            <a:off x="7097317" y="5013722"/>
            <a:ext cx="1190" cy="523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37912" name="Freeform 67"/>
          <p:cNvSpPr>
            <a:spLocks/>
          </p:cNvSpPr>
          <p:nvPr/>
        </p:nvSpPr>
        <p:spPr bwMode="auto">
          <a:xfrm>
            <a:off x="3527822" y="4354116"/>
            <a:ext cx="94059" cy="94059"/>
          </a:xfrm>
          <a:custGeom>
            <a:avLst/>
            <a:gdLst>
              <a:gd name="T0" fmla="*/ 63500 w 79"/>
              <a:gd name="T1" fmla="*/ 0 h 79"/>
              <a:gd name="T2" fmla="*/ 125412 w 79"/>
              <a:gd name="T3" fmla="*/ 61912 h 79"/>
              <a:gd name="T4" fmla="*/ 63500 w 79"/>
              <a:gd name="T5" fmla="*/ 125412 h 79"/>
              <a:gd name="T6" fmla="*/ 0 w 79"/>
              <a:gd name="T7" fmla="*/ 61912 h 79"/>
              <a:gd name="T8" fmla="*/ 63500 w 79"/>
              <a:gd name="T9" fmla="*/ 0 h 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9"/>
              <a:gd name="T16" fmla="*/ 0 h 79"/>
              <a:gd name="T17" fmla="*/ 79 w 79"/>
              <a:gd name="T18" fmla="*/ 79 h 7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9" h="79">
                <a:moveTo>
                  <a:pt x="40" y="0"/>
                </a:moveTo>
                <a:lnTo>
                  <a:pt x="79" y="39"/>
                </a:lnTo>
                <a:lnTo>
                  <a:pt x="40" y="79"/>
                </a:lnTo>
                <a:lnTo>
                  <a:pt x="0" y="39"/>
                </a:lnTo>
                <a:lnTo>
                  <a:pt x="40" y="0"/>
                </a:lnTo>
                <a:close/>
              </a:path>
            </a:pathLst>
          </a:custGeom>
          <a:solidFill>
            <a:srgbClr val="000080"/>
          </a:solidFill>
          <a:ln w="7938">
            <a:solidFill>
              <a:srgbClr val="000080"/>
            </a:solidFill>
            <a:round/>
            <a:headEnd/>
            <a:tailEnd/>
          </a:ln>
        </p:spPr>
        <p:txBody>
          <a:bodyPr/>
          <a:lstStyle/>
          <a:p>
            <a:endParaRPr lang="en-US" sz="1350"/>
          </a:p>
        </p:txBody>
      </p:sp>
      <p:sp>
        <p:nvSpPr>
          <p:cNvPr id="37913" name="Rectangle 68"/>
          <p:cNvSpPr>
            <a:spLocks noChangeArrowheads="1"/>
          </p:cNvSpPr>
          <p:nvPr/>
        </p:nvSpPr>
        <p:spPr bwMode="auto">
          <a:xfrm>
            <a:off x="2478881" y="4919663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0</a:t>
            </a:r>
            <a:endParaRPr lang="en-US" altLang="en-US" sz="1800"/>
          </a:p>
        </p:txBody>
      </p:sp>
      <p:sp>
        <p:nvSpPr>
          <p:cNvPr id="37914" name="Rectangle 69"/>
          <p:cNvSpPr>
            <a:spLocks noChangeArrowheads="1"/>
          </p:cNvSpPr>
          <p:nvPr/>
        </p:nvSpPr>
        <p:spPr bwMode="auto">
          <a:xfrm>
            <a:off x="2478881" y="4306491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37915" name="Rectangle 70"/>
          <p:cNvSpPr>
            <a:spLocks noChangeArrowheads="1"/>
          </p:cNvSpPr>
          <p:nvPr/>
        </p:nvSpPr>
        <p:spPr bwMode="auto">
          <a:xfrm>
            <a:off x="2478881" y="369451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37916" name="Rectangle 71"/>
          <p:cNvSpPr>
            <a:spLocks noChangeArrowheads="1"/>
          </p:cNvSpPr>
          <p:nvPr/>
        </p:nvSpPr>
        <p:spPr bwMode="auto">
          <a:xfrm>
            <a:off x="2478881" y="3087291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3</a:t>
            </a:r>
            <a:endParaRPr lang="en-US" altLang="en-US" sz="1800"/>
          </a:p>
        </p:txBody>
      </p:sp>
      <p:sp>
        <p:nvSpPr>
          <p:cNvPr id="37917" name="Rectangle 72"/>
          <p:cNvSpPr>
            <a:spLocks noChangeArrowheads="1"/>
          </p:cNvSpPr>
          <p:nvPr/>
        </p:nvSpPr>
        <p:spPr bwMode="auto">
          <a:xfrm>
            <a:off x="2478881" y="2474119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4</a:t>
            </a:r>
            <a:endParaRPr lang="en-US" altLang="en-US" sz="1800"/>
          </a:p>
        </p:txBody>
      </p:sp>
      <p:sp>
        <p:nvSpPr>
          <p:cNvPr id="37918" name="Rectangle 73"/>
          <p:cNvSpPr>
            <a:spLocks noChangeArrowheads="1"/>
          </p:cNvSpPr>
          <p:nvPr/>
        </p:nvSpPr>
        <p:spPr bwMode="auto">
          <a:xfrm>
            <a:off x="2478881" y="1862138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5</a:t>
            </a:r>
            <a:endParaRPr lang="en-US" altLang="en-US" sz="1800"/>
          </a:p>
        </p:txBody>
      </p:sp>
      <p:sp>
        <p:nvSpPr>
          <p:cNvPr id="37919" name="Rectangle 74"/>
          <p:cNvSpPr>
            <a:spLocks noChangeArrowheads="1"/>
          </p:cNvSpPr>
          <p:nvPr/>
        </p:nvSpPr>
        <p:spPr bwMode="auto">
          <a:xfrm>
            <a:off x="265628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0</a:t>
            </a:r>
            <a:endParaRPr lang="en-US" altLang="en-US" sz="1800"/>
          </a:p>
        </p:txBody>
      </p:sp>
      <p:sp>
        <p:nvSpPr>
          <p:cNvPr id="37920" name="Rectangle 75"/>
          <p:cNvSpPr>
            <a:spLocks noChangeArrowheads="1"/>
          </p:cNvSpPr>
          <p:nvPr/>
        </p:nvSpPr>
        <p:spPr bwMode="auto">
          <a:xfrm>
            <a:off x="353377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1</a:t>
            </a:r>
            <a:endParaRPr lang="en-US" altLang="en-US" sz="1800"/>
          </a:p>
        </p:txBody>
      </p:sp>
      <p:sp>
        <p:nvSpPr>
          <p:cNvPr id="37921" name="Rectangle 76"/>
          <p:cNvSpPr>
            <a:spLocks noChangeArrowheads="1"/>
          </p:cNvSpPr>
          <p:nvPr/>
        </p:nvSpPr>
        <p:spPr bwMode="auto">
          <a:xfrm>
            <a:off x="4417219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2</a:t>
            </a:r>
            <a:endParaRPr lang="en-US" altLang="en-US" sz="1800"/>
          </a:p>
        </p:txBody>
      </p:sp>
      <p:sp>
        <p:nvSpPr>
          <p:cNvPr id="37922" name="Rectangle 77"/>
          <p:cNvSpPr>
            <a:spLocks noChangeArrowheads="1"/>
          </p:cNvSpPr>
          <p:nvPr/>
        </p:nvSpPr>
        <p:spPr bwMode="auto">
          <a:xfrm>
            <a:off x="5294710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3</a:t>
            </a:r>
            <a:endParaRPr lang="en-US" altLang="en-US" sz="1800"/>
          </a:p>
        </p:txBody>
      </p:sp>
      <p:sp>
        <p:nvSpPr>
          <p:cNvPr id="37923" name="Rectangle 78"/>
          <p:cNvSpPr>
            <a:spLocks noChangeArrowheads="1"/>
          </p:cNvSpPr>
          <p:nvPr/>
        </p:nvSpPr>
        <p:spPr bwMode="auto">
          <a:xfrm>
            <a:off x="6179344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4</a:t>
            </a:r>
            <a:endParaRPr lang="en-US" altLang="en-US" sz="1800"/>
          </a:p>
        </p:txBody>
      </p:sp>
      <p:sp>
        <p:nvSpPr>
          <p:cNvPr id="37924" name="Rectangle 79"/>
          <p:cNvSpPr>
            <a:spLocks noChangeArrowheads="1"/>
          </p:cNvSpPr>
          <p:nvPr/>
        </p:nvSpPr>
        <p:spPr bwMode="auto">
          <a:xfrm>
            <a:off x="7056835" y="5161360"/>
            <a:ext cx="91372" cy="196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275">
                <a:solidFill>
                  <a:srgbClr val="000000"/>
                </a:solidFill>
              </a:rPr>
              <a:t>5</a:t>
            </a:r>
            <a:endParaRPr lang="en-US" altLang="en-US" sz="1800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title"/>
          </p:nvPr>
        </p:nvSpPr>
        <p:spPr>
          <a:xfrm>
            <a:off x="1657350" y="1028700"/>
            <a:ext cx="5829300" cy="4000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4</a:t>
            </a:r>
          </a:p>
        </p:txBody>
      </p:sp>
      <p:sp>
        <p:nvSpPr>
          <p:cNvPr id="37926" name="Text Box 4"/>
          <p:cNvSpPr txBox="1">
            <a:spLocks noChangeArrowheads="1"/>
          </p:cNvSpPr>
          <p:nvPr/>
        </p:nvSpPr>
        <p:spPr bwMode="auto">
          <a:xfrm>
            <a:off x="1877616" y="1485901"/>
            <a:ext cx="5993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Algorithm: k-means, Distance Metric: Euclidean Distance</a:t>
            </a:r>
          </a:p>
        </p:txBody>
      </p:sp>
      <p:grpSp>
        <p:nvGrpSpPr>
          <p:cNvPr id="37927" name="Group 5"/>
          <p:cNvGrpSpPr>
            <a:grpSpLocks/>
          </p:cNvGrpSpPr>
          <p:nvPr/>
        </p:nvGrpSpPr>
        <p:grpSpPr bwMode="auto">
          <a:xfrm>
            <a:off x="5772150" y="2457451"/>
            <a:ext cx="514350" cy="426244"/>
            <a:chOff x="192" y="1824"/>
            <a:chExt cx="432" cy="358"/>
          </a:xfrm>
        </p:grpSpPr>
        <p:sp>
          <p:nvSpPr>
            <p:cNvPr id="37966" name="Oval 6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7967" name="Text Box 7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1</a:t>
              </a:r>
            </a:p>
          </p:txBody>
        </p:sp>
      </p:grpSp>
      <p:grpSp>
        <p:nvGrpSpPr>
          <p:cNvPr id="37928" name="Group 8"/>
          <p:cNvGrpSpPr>
            <a:grpSpLocks/>
          </p:cNvGrpSpPr>
          <p:nvPr/>
        </p:nvGrpSpPr>
        <p:grpSpPr bwMode="auto">
          <a:xfrm>
            <a:off x="3486150" y="4114801"/>
            <a:ext cx="514350" cy="426244"/>
            <a:chOff x="192" y="1824"/>
            <a:chExt cx="432" cy="358"/>
          </a:xfrm>
        </p:grpSpPr>
        <p:sp>
          <p:nvSpPr>
            <p:cNvPr id="37964" name="Oval 9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7965" name="Text Box 10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2</a:t>
              </a:r>
            </a:p>
          </p:txBody>
        </p:sp>
      </p:grpSp>
      <p:grpSp>
        <p:nvGrpSpPr>
          <p:cNvPr id="37929" name="Group 11"/>
          <p:cNvGrpSpPr>
            <a:grpSpLocks/>
          </p:cNvGrpSpPr>
          <p:nvPr/>
        </p:nvGrpSpPr>
        <p:grpSpPr bwMode="auto">
          <a:xfrm>
            <a:off x="5829300" y="3886201"/>
            <a:ext cx="514350" cy="426244"/>
            <a:chOff x="192" y="1824"/>
            <a:chExt cx="432" cy="358"/>
          </a:xfrm>
        </p:grpSpPr>
        <p:sp>
          <p:nvSpPr>
            <p:cNvPr id="37962" name="Oval 1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7963" name="Text Box 1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3</a:t>
              </a:r>
            </a:p>
          </p:txBody>
        </p:sp>
      </p:grpSp>
      <p:sp>
        <p:nvSpPr>
          <p:cNvPr id="37930" name="AutoShape 14"/>
          <p:cNvSpPr>
            <a:spLocks noChangeArrowheads="1"/>
          </p:cNvSpPr>
          <p:nvPr/>
        </p:nvSpPr>
        <p:spPr bwMode="auto">
          <a:xfrm>
            <a:off x="3543300" y="43434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1" name="AutoShape 15"/>
          <p:cNvSpPr>
            <a:spLocks noChangeArrowheads="1"/>
          </p:cNvSpPr>
          <p:nvPr/>
        </p:nvSpPr>
        <p:spPr bwMode="auto">
          <a:xfrm>
            <a:off x="3657600" y="45148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2" name="AutoShape 16"/>
          <p:cNvSpPr>
            <a:spLocks noChangeArrowheads="1"/>
          </p:cNvSpPr>
          <p:nvPr/>
        </p:nvSpPr>
        <p:spPr bwMode="auto">
          <a:xfrm>
            <a:off x="3486150" y="4686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3" name="AutoShape 17"/>
          <p:cNvSpPr>
            <a:spLocks noChangeArrowheads="1"/>
          </p:cNvSpPr>
          <p:nvPr/>
        </p:nvSpPr>
        <p:spPr bwMode="auto">
          <a:xfrm>
            <a:off x="3314700" y="41719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4" name="AutoShape 18"/>
          <p:cNvSpPr>
            <a:spLocks noChangeArrowheads="1"/>
          </p:cNvSpPr>
          <p:nvPr/>
        </p:nvSpPr>
        <p:spPr bwMode="auto">
          <a:xfrm>
            <a:off x="3314700" y="2400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5" name="AutoShape 19"/>
          <p:cNvSpPr>
            <a:spLocks noChangeArrowheads="1"/>
          </p:cNvSpPr>
          <p:nvPr/>
        </p:nvSpPr>
        <p:spPr bwMode="auto">
          <a:xfrm>
            <a:off x="3314700" y="3543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6" name="AutoShape 20"/>
          <p:cNvSpPr>
            <a:spLocks noChangeArrowheads="1"/>
          </p:cNvSpPr>
          <p:nvPr/>
        </p:nvSpPr>
        <p:spPr bwMode="auto">
          <a:xfrm>
            <a:off x="3314700" y="4686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7" name="AutoShape 21"/>
          <p:cNvSpPr>
            <a:spLocks noChangeArrowheads="1"/>
          </p:cNvSpPr>
          <p:nvPr/>
        </p:nvSpPr>
        <p:spPr bwMode="auto">
          <a:xfrm>
            <a:off x="2971800" y="39433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8" name="AutoShape 22"/>
          <p:cNvSpPr>
            <a:spLocks noChangeArrowheads="1"/>
          </p:cNvSpPr>
          <p:nvPr/>
        </p:nvSpPr>
        <p:spPr bwMode="auto">
          <a:xfrm>
            <a:off x="4572000" y="37147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39" name="AutoShape 23"/>
          <p:cNvSpPr>
            <a:spLocks noChangeArrowheads="1"/>
          </p:cNvSpPr>
          <p:nvPr/>
        </p:nvSpPr>
        <p:spPr bwMode="auto">
          <a:xfrm>
            <a:off x="6172200" y="22288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0" name="AutoShape 24"/>
          <p:cNvSpPr>
            <a:spLocks noChangeArrowheads="1"/>
          </p:cNvSpPr>
          <p:nvPr/>
        </p:nvSpPr>
        <p:spPr bwMode="auto">
          <a:xfrm>
            <a:off x="6515100" y="22860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1" name="AutoShape 25"/>
          <p:cNvSpPr>
            <a:spLocks noChangeArrowheads="1"/>
          </p:cNvSpPr>
          <p:nvPr/>
        </p:nvSpPr>
        <p:spPr bwMode="auto">
          <a:xfrm>
            <a:off x="6400800" y="24003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2" name="AutoShape 26"/>
          <p:cNvSpPr>
            <a:spLocks noChangeArrowheads="1"/>
          </p:cNvSpPr>
          <p:nvPr/>
        </p:nvSpPr>
        <p:spPr bwMode="auto">
          <a:xfrm>
            <a:off x="6286500" y="25146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3" name="AutoShape 27"/>
          <p:cNvSpPr>
            <a:spLocks noChangeArrowheads="1"/>
          </p:cNvSpPr>
          <p:nvPr/>
        </p:nvSpPr>
        <p:spPr bwMode="auto">
          <a:xfrm>
            <a:off x="6515100" y="26289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4" name="AutoShape 28"/>
          <p:cNvSpPr>
            <a:spLocks noChangeArrowheads="1"/>
          </p:cNvSpPr>
          <p:nvPr/>
        </p:nvSpPr>
        <p:spPr bwMode="auto">
          <a:xfrm>
            <a:off x="6743700" y="29146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5" name="AutoShape 29"/>
          <p:cNvSpPr>
            <a:spLocks noChangeArrowheads="1"/>
          </p:cNvSpPr>
          <p:nvPr/>
        </p:nvSpPr>
        <p:spPr bwMode="auto">
          <a:xfrm>
            <a:off x="5429250" y="22288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6" name="AutoShape 30"/>
          <p:cNvSpPr>
            <a:spLocks noChangeArrowheads="1"/>
          </p:cNvSpPr>
          <p:nvPr/>
        </p:nvSpPr>
        <p:spPr bwMode="auto">
          <a:xfrm>
            <a:off x="5657850" y="3314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7" name="AutoShape 31"/>
          <p:cNvSpPr>
            <a:spLocks noChangeArrowheads="1"/>
          </p:cNvSpPr>
          <p:nvPr/>
        </p:nvSpPr>
        <p:spPr bwMode="auto">
          <a:xfrm>
            <a:off x="5657850" y="4457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8" name="AutoShape 32"/>
          <p:cNvSpPr>
            <a:spLocks noChangeArrowheads="1"/>
          </p:cNvSpPr>
          <p:nvPr/>
        </p:nvSpPr>
        <p:spPr bwMode="auto">
          <a:xfrm>
            <a:off x="5943600" y="4686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49" name="AutoShape 33"/>
          <p:cNvSpPr>
            <a:spLocks noChangeArrowheads="1"/>
          </p:cNvSpPr>
          <p:nvPr/>
        </p:nvSpPr>
        <p:spPr bwMode="auto">
          <a:xfrm>
            <a:off x="6229350" y="41148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50" name="AutoShape 34"/>
          <p:cNvSpPr>
            <a:spLocks noChangeArrowheads="1"/>
          </p:cNvSpPr>
          <p:nvPr/>
        </p:nvSpPr>
        <p:spPr bwMode="auto">
          <a:xfrm>
            <a:off x="5600700" y="3657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51" name="AutoShape 35"/>
          <p:cNvSpPr>
            <a:spLocks noChangeArrowheads="1"/>
          </p:cNvSpPr>
          <p:nvPr/>
        </p:nvSpPr>
        <p:spPr bwMode="auto">
          <a:xfrm>
            <a:off x="5029200" y="40005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52" name="AutoShape 36"/>
          <p:cNvSpPr>
            <a:spLocks noChangeArrowheads="1"/>
          </p:cNvSpPr>
          <p:nvPr/>
        </p:nvSpPr>
        <p:spPr bwMode="auto">
          <a:xfrm>
            <a:off x="6515100" y="43434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53" name="AutoShape 37"/>
          <p:cNvSpPr>
            <a:spLocks noChangeArrowheads="1"/>
          </p:cNvSpPr>
          <p:nvPr/>
        </p:nvSpPr>
        <p:spPr bwMode="auto">
          <a:xfrm>
            <a:off x="6400800" y="46291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54" name="AutoShape 38"/>
          <p:cNvSpPr>
            <a:spLocks noChangeArrowheads="1"/>
          </p:cNvSpPr>
          <p:nvPr/>
        </p:nvSpPr>
        <p:spPr bwMode="auto">
          <a:xfrm>
            <a:off x="6286500" y="38862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55" name="AutoShape 39"/>
          <p:cNvSpPr>
            <a:spLocks noChangeArrowheads="1"/>
          </p:cNvSpPr>
          <p:nvPr/>
        </p:nvSpPr>
        <p:spPr bwMode="auto">
          <a:xfrm>
            <a:off x="6743700" y="4800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7956" name="AutoShape 40"/>
          <p:cNvSpPr>
            <a:spLocks noChangeArrowheads="1"/>
          </p:cNvSpPr>
          <p:nvPr/>
        </p:nvSpPr>
        <p:spPr bwMode="auto">
          <a:xfrm>
            <a:off x="6115050" y="28003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grpSp>
        <p:nvGrpSpPr>
          <p:cNvPr id="5" name="Group 41"/>
          <p:cNvGrpSpPr>
            <a:grpSpLocks/>
          </p:cNvGrpSpPr>
          <p:nvPr/>
        </p:nvGrpSpPr>
        <p:grpSpPr bwMode="auto">
          <a:xfrm>
            <a:off x="3257550" y="2514600"/>
            <a:ext cx="2971800" cy="1885950"/>
            <a:chOff x="1776" y="1392"/>
            <a:chExt cx="2496" cy="1584"/>
          </a:xfrm>
        </p:grpSpPr>
        <p:sp>
          <p:nvSpPr>
            <p:cNvPr id="37959" name="Line 42"/>
            <p:cNvSpPr>
              <a:spLocks noChangeShapeType="1"/>
            </p:cNvSpPr>
            <p:nvPr/>
          </p:nvSpPr>
          <p:spPr bwMode="auto">
            <a:xfrm flipH="1" flipV="1">
              <a:off x="1776" y="2592"/>
              <a:ext cx="192" cy="1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7960" name="Line 43"/>
            <p:cNvSpPr>
              <a:spLocks noChangeShapeType="1"/>
            </p:cNvSpPr>
            <p:nvPr/>
          </p:nvSpPr>
          <p:spPr bwMode="auto">
            <a:xfrm flipH="1">
              <a:off x="3840" y="2736"/>
              <a:ext cx="96" cy="24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7961" name="Line 44"/>
            <p:cNvSpPr>
              <a:spLocks noChangeShapeType="1"/>
            </p:cNvSpPr>
            <p:nvPr/>
          </p:nvSpPr>
          <p:spPr bwMode="auto">
            <a:xfrm>
              <a:off x="4080" y="1392"/>
              <a:ext cx="192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37958" name="TextBox 78"/>
          <p:cNvSpPr txBox="1">
            <a:spLocks noChangeArrowheads="1"/>
          </p:cNvSpPr>
          <p:nvPr/>
        </p:nvSpPr>
        <p:spPr bwMode="auto">
          <a:xfrm>
            <a:off x="1143001" y="5723335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4128612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1943100" y="1714501"/>
          <a:ext cx="5325666" cy="4188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Chart" r:id="rId3" imgW="6888861" imgH="5418011" progId="Excel.Chart.8">
                  <p:embed/>
                </p:oleObj>
              </mc:Choice>
              <mc:Fallback>
                <p:oleObj name="Chart" r:id="rId3" imgW="6888861" imgH="5418011" progId="Excel.Chart.8">
                  <p:embed/>
                  <p:pic>
                    <p:nvPicPr>
                      <p:cNvPr id="389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1714501"/>
                        <a:ext cx="5325666" cy="418861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00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291" name="Rectangle 3"/>
          <p:cNvSpPr>
            <a:spLocks noGrp="1" noChangeArrowheads="1"/>
          </p:cNvSpPr>
          <p:nvPr>
            <p:ph type="title"/>
          </p:nvPr>
        </p:nvSpPr>
        <p:spPr>
          <a:xfrm>
            <a:off x="1657350" y="1028700"/>
            <a:ext cx="5829300" cy="4000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3000">
                <a:effectLst>
                  <a:outerShdw blurRad="38100" dist="38100" dir="2700000" algn="tl">
                    <a:srgbClr val="DDDDDD"/>
                  </a:outerShdw>
                </a:effectLst>
              </a:rPr>
              <a:t>K-means Clustering: Step 5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1877616" y="1485901"/>
            <a:ext cx="59939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800"/>
              <a:t>Algorithm: k-means, Distance Metric: Euclidean Distance</a:t>
            </a:r>
          </a:p>
        </p:txBody>
      </p:sp>
      <p:grpSp>
        <p:nvGrpSpPr>
          <p:cNvPr id="38917" name="Group 5"/>
          <p:cNvGrpSpPr>
            <a:grpSpLocks/>
          </p:cNvGrpSpPr>
          <p:nvPr/>
        </p:nvGrpSpPr>
        <p:grpSpPr bwMode="auto">
          <a:xfrm>
            <a:off x="6057900" y="2457451"/>
            <a:ext cx="514350" cy="426244"/>
            <a:chOff x="192" y="1824"/>
            <a:chExt cx="432" cy="358"/>
          </a:xfrm>
        </p:grpSpPr>
        <p:sp>
          <p:nvSpPr>
            <p:cNvPr id="38952" name="Oval 6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8953" name="Text Box 7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1</a:t>
              </a:r>
            </a:p>
          </p:txBody>
        </p:sp>
      </p:grpSp>
      <p:grpSp>
        <p:nvGrpSpPr>
          <p:cNvPr id="38918" name="Group 8"/>
          <p:cNvGrpSpPr>
            <a:grpSpLocks/>
          </p:cNvGrpSpPr>
          <p:nvPr/>
        </p:nvGrpSpPr>
        <p:grpSpPr bwMode="auto">
          <a:xfrm>
            <a:off x="3200400" y="3886201"/>
            <a:ext cx="514350" cy="426244"/>
            <a:chOff x="192" y="1824"/>
            <a:chExt cx="432" cy="358"/>
          </a:xfrm>
        </p:grpSpPr>
        <p:sp>
          <p:nvSpPr>
            <p:cNvPr id="38950" name="Oval 9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8951" name="Text Box 10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2</a:t>
              </a:r>
            </a:p>
          </p:txBody>
        </p:sp>
      </p:grpSp>
      <p:grpSp>
        <p:nvGrpSpPr>
          <p:cNvPr id="38919" name="Group 11"/>
          <p:cNvGrpSpPr>
            <a:grpSpLocks/>
          </p:cNvGrpSpPr>
          <p:nvPr/>
        </p:nvGrpSpPr>
        <p:grpSpPr bwMode="auto">
          <a:xfrm>
            <a:off x="5772150" y="4057651"/>
            <a:ext cx="514350" cy="426244"/>
            <a:chOff x="192" y="1824"/>
            <a:chExt cx="432" cy="358"/>
          </a:xfrm>
        </p:grpSpPr>
        <p:sp>
          <p:nvSpPr>
            <p:cNvPr id="38948" name="Oval 12"/>
            <p:cNvSpPr>
              <a:spLocks noChangeArrowheads="1"/>
            </p:cNvSpPr>
            <p:nvPr/>
          </p:nvSpPr>
          <p:spPr bwMode="auto">
            <a:xfrm>
              <a:off x="192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endParaRPr lang="en-US" altLang="en-US" sz="1800"/>
            </a:p>
          </p:txBody>
        </p:sp>
        <p:sp>
          <p:nvSpPr>
            <p:cNvPr id="38949" name="Text Box 13"/>
            <p:cNvSpPr txBox="1">
              <a:spLocks noChangeArrowheads="1"/>
            </p:cNvSpPr>
            <p:nvPr/>
          </p:nvSpPr>
          <p:spPr bwMode="auto">
            <a:xfrm>
              <a:off x="288" y="1872"/>
              <a:ext cx="33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altLang="en-US" sz="1800"/>
                <a:t>k</a:t>
              </a:r>
              <a:r>
                <a:rPr lang="en-US" altLang="en-US" sz="1800" baseline="-25000"/>
                <a:t>3</a:t>
              </a:r>
            </a:p>
          </p:txBody>
        </p:sp>
      </p:grpSp>
      <p:sp>
        <p:nvSpPr>
          <p:cNvPr id="38920" name="AutoShape 14"/>
          <p:cNvSpPr>
            <a:spLocks noChangeArrowheads="1"/>
          </p:cNvSpPr>
          <p:nvPr/>
        </p:nvSpPr>
        <p:spPr bwMode="auto">
          <a:xfrm>
            <a:off x="3543300" y="43434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1" name="AutoShape 15"/>
          <p:cNvSpPr>
            <a:spLocks noChangeArrowheads="1"/>
          </p:cNvSpPr>
          <p:nvPr/>
        </p:nvSpPr>
        <p:spPr bwMode="auto">
          <a:xfrm>
            <a:off x="3657600" y="45148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2" name="AutoShape 16"/>
          <p:cNvSpPr>
            <a:spLocks noChangeArrowheads="1"/>
          </p:cNvSpPr>
          <p:nvPr/>
        </p:nvSpPr>
        <p:spPr bwMode="auto">
          <a:xfrm>
            <a:off x="3486150" y="4686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3" name="AutoShape 17"/>
          <p:cNvSpPr>
            <a:spLocks noChangeArrowheads="1"/>
          </p:cNvSpPr>
          <p:nvPr/>
        </p:nvSpPr>
        <p:spPr bwMode="auto">
          <a:xfrm>
            <a:off x="3314700" y="41719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4" name="AutoShape 18"/>
          <p:cNvSpPr>
            <a:spLocks noChangeArrowheads="1"/>
          </p:cNvSpPr>
          <p:nvPr/>
        </p:nvSpPr>
        <p:spPr bwMode="auto">
          <a:xfrm>
            <a:off x="3314700" y="2400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5" name="AutoShape 19"/>
          <p:cNvSpPr>
            <a:spLocks noChangeArrowheads="1"/>
          </p:cNvSpPr>
          <p:nvPr/>
        </p:nvSpPr>
        <p:spPr bwMode="auto">
          <a:xfrm>
            <a:off x="3314700" y="3543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6" name="AutoShape 20"/>
          <p:cNvSpPr>
            <a:spLocks noChangeArrowheads="1"/>
          </p:cNvSpPr>
          <p:nvPr/>
        </p:nvSpPr>
        <p:spPr bwMode="auto">
          <a:xfrm>
            <a:off x="3314700" y="468630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7" name="AutoShape 21"/>
          <p:cNvSpPr>
            <a:spLocks noChangeArrowheads="1"/>
          </p:cNvSpPr>
          <p:nvPr/>
        </p:nvSpPr>
        <p:spPr bwMode="auto">
          <a:xfrm>
            <a:off x="2971800" y="3943350"/>
            <a:ext cx="114300" cy="114300"/>
          </a:xfrm>
          <a:prstGeom prst="diamond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8" name="AutoShape 22"/>
          <p:cNvSpPr>
            <a:spLocks noChangeArrowheads="1"/>
          </p:cNvSpPr>
          <p:nvPr/>
        </p:nvSpPr>
        <p:spPr bwMode="auto">
          <a:xfrm>
            <a:off x="4572000" y="37147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29" name="AutoShape 23"/>
          <p:cNvSpPr>
            <a:spLocks noChangeArrowheads="1"/>
          </p:cNvSpPr>
          <p:nvPr/>
        </p:nvSpPr>
        <p:spPr bwMode="auto">
          <a:xfrm>
            <a:off x="6172200" y="22288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0" name="AutoShape 24"/>
          <p:cNvSpPr>
            <a:spLocks noChangeArrowheads="1"/>
          </p:cNvSpPr>
          <p:nvPr/>
        </p:nvSpPr>
        <p:spPr bwMode="auto">
          <a:xfrm>
            <a:off x="6515100" y="22860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1" name="AutoShape 25"/>
          <p:cNvSpPr>
            <a:spLocks noChangeArrowheads="1"/>
          </p:cNvSpPr>
          <p:nvPr/>
        </p:nvSpPr>
        <p:spPr bwMode="auto">
          <a:xfrm>
            <a:off x="6400800" y="24003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2" name="AutoShape 26"/>
          <p:cNvSpPr>
            <a:spLocks noChangeArrowheads="1"/>
          </p:cNvSpPr>
          <p:nvPr/>
        </p:nvSpPr>
        <p:spPr bwMode="auto">
          <a:xfrm>
            <a:off x="6286500" y="25146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3" name="AutoShape 27"/>
          <p:cNvSpPr>
            <a:spLocks noChangeArrowheads="1"/>
          </p:cNvSpPr>
          <p:nvPr/>
        </p:nvSpPr>
        <p:spPr bwMode="auto">
          <a:xfrm>
            <a:off x="6515100" y="262890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4" name="AutoShape 28"/>
          <p:cNvSpPr>
            <a:spLocks noChangeArrowheads="1"/>
          </p:cNvSpPr>
          <p:nvPr/>
        </p:nvSpPr>
        <p:spPr bwMode="auto">
          <a:xfrm>
            <a:off x="6743700" y="29146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5" name="AutoShape 29"/>
          <p:cNvSpPr>
            <a:spLocks noChangeArrowheads="1"/>
          </p:cNvSpPr>
          <p:nvPr/>
        </p:nvSpPr>
        <p:spPr bwMode="auto">
          <a:xfrm>
            <a:off x="5429250" y="22288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6" name="AutoShape 30"/>
          <p:cNvSpPr>
            <a:spLocks noChangeArrowheads="1"/>
          </p:cNvSpPr>
          <p:nvPr/>
        </p:nvSpPr>
        <p:spPr bwMode="auto">
          <a:xfrm>
            <a:off x="5657850" y="3314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7" name="AutoShape 31"/>
          <p:cNvSpPr>
            <a:spLocks noChangeArrowheads="1"/>
          </p:cNvSpPr>
          <p:nvPr/>
        </p:nvSpPr>
        <p:spPr bwMode="auto">
          <a:xfrm>
            <a:off x="5657850" y="44577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8" name="AutoShape 32"/>
          <p:cNvSpPr>
            <a:spLocks noChangeArrowheads="1"/>
          </p:cNvSpPr>
          <p:nvPr/>
        </p:nvSpPr>
        <p:spPr bwMode="auto">
          <a:xfrm>
            <a:off x="5943600" y="46863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39" name="AutoShape 33"/>
          <p:cNvSpPr>
            <a:spLocks noChangeArrowheads="1"/>
          </p:cNvSpPr>
          <p:nvPr/>
        </p:nvSpPr>
        <p:spPr bwMode="auto">
          <a:xfrm>
            <a:off x="6229350" y="41148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40" name="AutoShape 34"/>
          <p:cNvSpPr>
            <a:spLocks noChangeArrowheads="1"/>
          </p:cNvSpPr>
          <p:nvPr/>
        </p:nvSpPr>
        <p:spPr bwMode="auto">
          <a:xfrm>
            <a:off x="5600700" y="3657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41" name="AutoShape 35"/>
          <p:cNvSpPr>
            <a:spLocks noChangeArrowheads="1"/>
          </p:cNvSpPr>
          <p:nvPr/>
        </p:nvSpPr>
        <p:spPr bwMode="auto">
          <a:xfrm>
            <a:off x="5029200" y="40005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42" name="AutoShape 36"/>
          <p:cNvSpPr>
            <a:spLocks noChangeArrowheads="1"/>
          </p:cNvSpPr>
          <p:nvPr/>
        </p:nvSpPr>
        <p:spPr bwMode="auto">
          <a:xfrm>
            <a:off x="6515100" y="43434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43" name="AutoShape 37"/>
          <p:cNvSpPr>
            <a:spLocks noChangeArrowheads="1"/>
          </p:cNvSpPr>
          <p:nvPr/>
        </p:nvSpPr>
        <p:spPr bwMode="auto">
          <a:xfrm>
            <a:off x="6400800" y="462915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44" name="AutoShape 38"/>
          <p:cNvSpPr>
            <a:spLocks noChangeArrowheads="1"/>
          </p:cNvSpPr>
          <p:nvPr/>
        </p:nvSpPr>
        <p:spPr bwMode="auto">
          <a:xfrm>
            <a:off x="6286500" y="38862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45" name="AutoShape 39"/>
          <p:cNvSpPr>
            <a:spLocks noChangeArrowheads="1"/>
          </p:cNvSpPr>
          <p:nvPr/>
        </p:nvSpPr>
        <p:spPr bwMode="auto">
          <a:xfrm>
            <a:off x="6743700" y="4800600"/>
            <a:ext cx="114300" cy="114300"/>
          </a:xfrm>
          <a:prstGeom prst="diamond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46" name="AutoShape 40"/>
          <p:cNvSpPr>
            <a:spLocks noChangeArrowheads="1"/>
          </p:cNvSpPr>
          <p:nvPr/>
        </p:nvSpPr>
        <p:spPr bwMode="auto">
          <a:xfrm>
            <a:off x="6115050" y="2800350"/>
            <a:ext cx="114300" cy="114300"/>
          </a:xfrm>
          <a:prstGeom prst="diamond">
            <a:avLst/>
          </a:prstGeom>
          <a:solidFill>
            <a:srgbClr val="00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endParaRPr lang="en-US" altLang="en-US" sz="1800"/>
          </a:p>
        </p:txBody>
      </p:sp>
      <p:sp>
        <p:nvSpPr>
          <p:cNvPr id="38947" name="TextBox 40"/>
          <p:cNvSpPr txBox="1">
            <a:spLocks noChangeArrowheads="1"/>
          </p:cNvSpPr>
          <p:nvPr/>
        </p:nvSpPr>
        <p:spPr bwMode="auto">
          <a:xfrm>
            <a:off x="1143001" y="5723335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1956365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971550"/>
            <a:ext cx="6858000" cy="623888"/>
          </a:xfrm>
        </p:spPr>
        <p:txBody>
          <a:bodyPr/>
          <a:lstStyle/>
          <a:p>
            <a:pPr>
              <a:defRPr/>
            </a:pPr>
            <a:r>
              <a:rPr lang="en-US" altLang="en-US" sz="3000">
                <a:effectLst>
                  <a:outerShdw blurRad="38100" dist="38100" dir="2700000" algn="tl">
                    <a:srgbClr val="C0C0C0"/>
                  </a:outerShdw>
                </a:effectLst>
              </a:rPr>
              <a:t>Comments on k-Means</a:t>
            </a:r>
            <a:endParaRPr lang="en-US" altLang="en-US" sz="2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14450" y="1828800"/>
            <a:ext cx="6515100" cy="3486150"/>
          </a:xfrm>
        </p:spPr>
        <p:txBody>
          <a:bodyPr>
            <a:normAutofit fontScale="70000" lnSpcReduction="20000"/>
          </a:bodyPr>
          <a:lstStyle/>
          <a:p>
            <a:r>
              <a:rPr lang="en-US" altLang="en-US" u="sng"/>
              <a:t>Strengths</a:t>
            </a:r>
            <a:r>
              <a:rPr lang="en-US" altLang="en-US"/>
              <a:t> </a:t>
            </a:r>
          </a:p>
          <a:p>
            <a:pPr lvl="1"/>
            <a:r>
              <a:rPr lang="en-US" altLang="en-US" i="1"/>
              <a:t>Relatively efficient</a:t>
            </a:r>
            <a:r>
              <a:rPr lang="en-US" altLang="en-US"/>
              <a:t>: </a:t>
            </a:r>
            <a:r>
              <a:rPr lang="en-US" altLang="en-US" i="1"/>
              <a:t>O</a:t>
            </a:r>
            <a:r>
              <a:rPr lang="en-US" altLang="en-US"/>
              <a:t>(</a:t>
            </a:r>
            <a:r>
              <a:rPr lang="en-US" altLang="en-US" i="1"/>
              <a:t>tkn</a:t>
            </a:r>
            <a:r>
              <a:rPr lang="en-US" altLang="en-US"/>
              <a:t>), where </a:t>
            </a:r>
            <a:r>
              <a:rPr lang="en-US" altLang="en-US" i="1"/>
              <a:t>n</a:t>
            </a:r>
            <a:r>
              <a:rPr lang="en-US" altLang="en-US"/>
              <a:t> is # objects, </a:t>
            </a:r>
            <a:r>
              <a:rPr lang="en-US" altLang="en-US" i="1"/>
              <a:t>k</a:t>
            </a:r>
            <a:r>
              <a:rPr lang="en-US" altLang="en-US"/>
              <a:t> is # clusters, and </a:t>
            </a:r>
            <a:r>
              <a:rPr lang="en-US" altLang="en-US" i="1"/>
              <a:t>t  </a:t>
            </a:r>
            <a:r>
              <a:rPr lang="en-US" altLang="en-US"/>
              <a:t>is # iterations. Normally, </a:t>
            </a:r>
            <a:r>
              <a:rPr lang="en-US" altLang="en-US" i="1"/>
              <a:t>k</a:t>
            </a:r>
            <a:r>
              <a:rPr lang="en-US" altLang="en-US"/>
              <a:t>, </a:t>
            </a:r>
            <a:r>
              <a:rPr lang="en-US" altLang="en-US" i="1"/>
              <a:t>t</a:t>
            </a:r>
            <a:r>
              <a:rPr lang="en-US" altLang="en-US"/>
              <a:t> &lt;&lt; </a:t>
            </a:r>
            <a:r>
              <a:rPr lang="en-US" altLang="en-US" i="1"/>
              <a:t>n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Often terminates at a local optimum. </a:t>
            </a:r>
          </a:p>
          <a:p>
            <a:r>
              <a:rPr lang="en-US" altLang="en-US" u="sng"/>
              <a:t>Weakness</a:t>
            </a:r>
            <a:endParaRPr lang="en-US" altLang="en-US"/>
          </a:p>
          <a:p>
            <a:pPr lvl="1"/>
            <a:r>
              <a:rPr lang="en-US" altLang="en-US"/>
              <a:t>Applicable only when mean is defined, then what about categorical data?</a:t>
            </a:r>
          </a:p>
          <a:p>
            <a:pPr lvl="1"/>
            <a:r>
              <a:rPr lang="en-US" altLang="en-US"/>
              <a:t>Need to specify </a:t>
            </a:r>
            <a:r>
              <a:rPr lang="en-US" altLang="en-US" i="1"/>
              <a:t>k, </a:t>
            </a:r>
            <a:r>
              <a:rPr lang="en-US" altLang="en-US"/>
              <a:t>the number of clusters, in advance</a:t>
            </a:r>
          </a:p>
          <a:p>
            <a:pPr lvl="1"/>
            <a:r>
              <a:rPr lang="en-US" altLang="en-US"/>
              <a:t>Unable to handle noisy data and outliers</a:t>
            </a:r>
          </a:p>
          <a:p>
            <a:pPr lvl="1"/>
            <a:r>
              <a:rPr lang="en-US" altLang="en-US"/>
              <a:t>Not suitable to discover clusters with non-convex shapes</a:t>
            </a:r>
          </a:p>
        </p:txBody>
      </p:sp>
      <p:sp>
        <p:nvSpPr>
          <p:cNvPr id="39940" name="TextBox 3"/>
          <p:cNvSpPr txBox="1">
            <a:spLocks noChangeArrowheads="1"/>
          </p:cNvSpPr>
          <p:nvPr/>
        </p:nvSpPr>
        <p:spPr bwMode="auto">
          <a:xfrm>
            <a:off x="1143001" y="5723335"/>
            <a:ext cx="3137397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r>
              <a:rPr lang="en-US" altLang="en-US" sz="1350" dirty="0"/>
              <a:t>Slide based on one by Eamonn Keogh</a:t>
            </a:r>
          </a:p>
        </p:txBody>
      </p:sp>
    </p:spTree>
    <p:extLst>
      <p:ext uri="{BB962C8B-B14F-4D97-AF65-F5344CB8AC3E}">
        <p14:creationId xmlns:p14="http://schemas.microsoft.com/office/powerpoint/2010/main" val="3126714423"/>
      </p:ext>
    </p:extLst>
  </p:cSld>
  <p:clrMapOvr>
    <a:masterClrMapping/>
  </p:clrMapOvr>
  <p:transition>
    <p:strips dir="r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</a:t>
            </a:r>
          </a:p>
          <a:p>
            <a:pPr lvl="1"/>
            <a:r>
              <a:rPr lang="en-US" dirty="0"/>
              <a:t>Easy to use</a:t>
            </a:r>
          </a:p>
          <a:p>
            <a:pPr lvl="1"/>
            <a:r>
              <a:rPr lang="en-US" dirty="0"/>
              <a:t>Need to know K</a:t>
            </a:r>
          </a:p>
          <a:p>
            <a:pPr lvl="1"/>
            <a:r>
              <a:rPr lang="en-US" dirty="0"/>
              <a:t>May need to scale data</a:t>
            </a:r>
          </a:p>
          <a:p>
            <a:pPr lvl="1"/>
            <a:r>
              <a:rPr lang="en-US" dirty="0"/>
              <a:t>Good initial method</a:t>
            </a:r>
          </a:p>
          <a:p>
            <a:r>
              <a:rPr lang="en-US" dirty="0"/>
              <a:t>Local optima</a:t>
            </a:r>
          </a:p>
          <a:p>
            <a:pPr lvl="1"/>
            <a:r>
              <a:rPr lang="en-US" dirty="0"/>
              <a:t>No guarantee of optimal solution</a:t>
            </a:r>
          </a:p>
          <a:p>
            <a:pPr lvl="1"/>
            <a:r>
              <a:rPr lang="en-US" dirty="0"/>
              <a:t>Repeat with different starting values</a:t>
            </a:r>
          </a:p>
        </p:txBody>
      </p:sp>
    </p:spTree>
    <p:extLst>
      <p:ext uri="{BB962C8B-B14F-4D97-AF65-F5344CB8AC3E}">
        <p14:creationId xmlns:p14="http://schemas.microsoft.com/office/powerpoint/2010/main" val="55450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BA21B8-7B4C-2BF0-EDF2-7F30364B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8AA8D8-6699-4CA3-89BD-99D8AEEF5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Numerical ?</a:t>
            </a:r>
          </a:p>
        </p:txBody>
      </p:sp>
    </p:spTree>
    <p:extLst>
      <p:ext uri="{BB962C8B-B14F-4D97-AF65-F5344CB8AC3E}">
        <p14:creationId xmlns:p14="http://schemas.microsoft.com/office/powerpoint/2010/main" val="28639406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Clustering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Clustering (agglomerative)</a:t>
            </a:r>
          </a:p>
          <a:p>
            <a:pPr lvl="1"/>
            <a:r>
              <a:rPr lang="en-US" dirty="0"/>
              <a:t>Create a distance matrix using ‘</a:t>
            </a:r>
            <a:r>
              <a:rPr lang="en-US" dirty="0" err="1"/>
              <a:t>dist</a:t>
            </a:r>
            <a:r>
              <a:rPr lang="en-US" dirty="0"/>
              <a:t>()’</a:t>
            </a:r>
          </a:p>
          <a:p>
            <a:pPr lvl="1"/>
            <a:r>
              <a:rPr lang="en-US" dirty="0"/>
              <a:t>Create the hierarchy using ‘</a:t>
            </a:r>
            <a:r>
              <a:rPr lang="en-US" dirty="0" err="1"/>
              <a:t>hclust</a:t>
            </a:r>
            <a:r>
              <a:rPr lang="en-US" dirty="0"/>
              <a:t>()’</a:t>
            </a:r>
          </a:p>
          <a:p>
            <a:pPr lvl="1"/>
            <a:endParaRPr lang="en-US" dirty="0"/>
          </a:p>
          <a:p>
            <a:r>
              <a:rPr lang="en-US" dirty="0"/>
              <a:t>Model Based Clustering</a:t>
            </a:r>
          </a:p>
          <a:p>
            <a:pPr lvl="1"/>
            <a:r>
              <a:rPr lang="en-US" dirty="0"/>
              <a:t>Use ‘</a:t>
            </a:r>
            <a:r>
              <a:rPr lang="en-US" dirty="0" err="1"/>
              <a:t>mclust</a:t>
            </a:r>
            <a:r>
              <a:rPr lang="en-US" dirty="0"/>
              <a:t>()’ to create the clusters on the basis of</a:t>
            </a:r>
          </a:p>
          <a:p>
            <a:pPr lvl="2"/>
            <a:r>
              <a:rPr lang="en-US" dirty="0"/>
              <a:t>Bayesian Information Criterion (BIC)</a:t>
            </a:r>
          </a:p>
          <a:p>
            <a:pPr lvl="2"/>
            <a:r>
              <a:rPr lang="en-US" dirty="0"/>
              <a:t>Parameterized Gaussian mixture models</a:t>
            </a:r>
          </a:p>
        </p:txBody>
      </p:sp>
    </p:spTree>
    <p:extLst>
      <p:ext uri="{BB962C8B-B14F-4D97-AF65-F5344CB8AC3E}">
        <p14:creationId xmlns:p14="http://schemas.microsoft.com/office/powerpoint/2010/main" val="1328217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BD5A224905B34196C5C872560CE977" ma:contentTypeVersion="5" ma:contentTypeDescription="Create a new document." ma:contentTypeScope="" ma:versionID="13de268a65433674b014f099dec85178">
  <xsd:schema xmlns:xsd="http://www.w3.org/2001/XMLSchema" xmlns:xs="http://www.w3.org/2001/XMLSchema" xmlns:p="http://schemas.microsoft.com/office/2006/metadata/properties" xmlns:ns2="4eef6f31-7617-4889-8d39-a9ac36c690dc" targetNamespace="http://schemas.microsoft.com/office/2006/metadata/properties" ma:root="true" ma:fieldsID="0b93d5231c568789c4a9c766c8fffe7c" ns2:_="">
    <xsd:import namespace="4eef6f31-7617-4889-8d39-a9ac36c690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ef6f31-7617-4889-8d39-a9ac36c690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206E44E-297C-4EA5-A67F-4CCAA6C99F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97B3FA-EE1F-4799-9540-7E4246D899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eef6f31-7617-4889-8d39-a9ac36c690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317C634-66A1-4AEC-8DE3-0504F20FE65A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570</Words>
  <Application>Microsoft Office PowerPoint</Application>
  <PresentationFormat>On-screen Show (4:3)</PresentationFormat>
  <Paragraphs>149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ＭＳ Ｐゴシック</vt:lpstr>
      <vt:lpstr>Arial</vt:lpstr>
      <vt:lpstr>Calibri</vt:lpstr>
      <vt:lpstr>source-serif-pro</vt:lpstr>
      <vt:lpstr>Times New Roman</vt:lpstr>
      <vt:lpstr>Office Theme</vt:lpstr>
      <vt:lpstr>Chart</vt:lpstr>
      <vt:lpstr>Clustering</vt:lpstr>
      <vt:lpstr>Two Types of Clustering</vt:lpstr>
      <vt:lpstr>PowerPoint Presentation</vt:lpstr>
      <vt:lpstr>PowerPoint Presentation</vt:lpstr>
      <vt:lpstr>PowerPoint Presentation</vt:lpstr>
      <vt:lpstr>PowerPoint Presentation</vt:lpstr>
      <vt:lpstr>Demo </vt:lpstr>
      <vt:lpstr>PowerPoint Presentation</vt:lpstr>
      <vt:lpstr>K-means Clustering: Step 1</vt:lpstr>
      <vt:lpstr>K-means Clustering: Step 2</vt:lpstr>
      <vt:lpstr>K-means Clustering: Step 3</vt:lpstr>
      <vt:lpstr>K-means Clustering: Step 4</vt:lpstr>
      <vt:lpstr>K-means Clustering: Step 5</vt:lpstr>
      <vt:lpstr>Comments on k-Means</vt:lpstr>
      <vt:lpstr>Bottom Line</vt:lpstr>
      <vt:lpstr>PowerPoint Presentation</vt:lpstr>
      <vt:lpstr>Other Clustering in R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Clustering</dc:title>
  <dc:creator>Rose, John R</dc:creator>
  <cp:lastModifiedBy>Microsoft account</cp:lastModifiedBy>
  <cp:revision>38</cp:revision>
  <dcterms:created xsi:type="dcterms:W3CDTF">2015-02-02T18:43:07Z</dcterms:created>
  <dcterms:modified xsi:type="dcterms:W3CDTF">2025-02-17T07:10:22Z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0x01010056BD5A224905B34196C5C872560CE977</vt:lpwstr>
  </property>
</Properties>
</file>