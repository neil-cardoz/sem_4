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365" r:id="rId6"/>
    <p:sldId id="351" r:id="rId7"/>
    <p:sldId id="352" r:id="rId8"/>
    <p:sldId id="366" r:id="rId9"/>
    <p:sldId id="367" r:id="rId10"/>
    <p:sldId id="368" r:id="rId11"/>
    <p:sldId id="353" r:id="rId12"/>
    <p:sldId id="358" r:id="rId13"/>
    <p:sldId id="369" r:id="rId14"/>
    <p:sldId id="370" r:id="rId15"/>
    <p:sldId id="362" r:id="rId16"/>
    <p:sldId id="363" r:id="rId17"/>
    <p:sldId id="37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1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05"/>
  </p:normalViewPr>
  <p:slideViewPr>
    <p:cSldViewPr>
      <p:cViewPr varScale="1">
        <p:scale>
          <a:sx n="83" d="100"/>
          <a:sy n="8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9C558-FAF8-4CA0-A309-1CF8F58B4995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C19ED-1F4E-4AC5-84FE-DB46026FA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55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5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5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5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3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27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57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8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98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8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2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CF35B-D249-42FB-9EDC-DC939374698D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3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F5B6AE-F68F-E1CB-B23B-E0CC43CFD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Density based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90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4FE9EA3-8FCA-B898-A5DC-BC6E0B470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Based Methods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779CA6-7C08-3BB5-EA2C-EFABE1904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Minion"/>
              </a:rPr>
              <a:t>Partitioning and hierarchical methods are designed to find spherical-shaped clusters. They have difficulty finding clusters of arbitrary shape such as the “S” shape and oval clusters </a:t>
            </a:r>
            <a:endParaRPr lang="en-IN" sz="1800" dirty="0">
              <a:latin typeface="Minion"/>
            </a:endParaRPr>
          </a:p>
          <a:p>
            <a:r>
              <a:rPr lang="en-IN" sz="1800" dirty="0">
                <a:effectLst/>
                <a:latin typeface="Minion"/>
              </a:rPr>
              <a:t>Given such data, they would likely inaccurately identify convex regions, where noise or outliers are included in the clusters. </a:t>
            </a:r>
            <a:endParaRPr lang="en-IN" dirty="0"/>
          </a:p>
          <a:p>
            <a:r>
              <a:rPr lang="en-IN" sz="1800" dirty="0">
                <a:effectLst/>
                <a:latin typeface="Minion"/>
              </a:rPr>
              <a:t>To find clusters of arbitrary shape, alternatively, we can model clusters as dense regions in the data space, separated by sparse regions. </a:t>
            </a:r>
          </a:p>
          <a:p>
            <a:r>
              <a:rPr lang="en-IN" sz="1800" dirty="0">
                <a:effectLst/>
                <a:latin typeface="Minion"/>
              </a:rPr>
              <a:t>This is the main strategy behind </a:t>
            </a:r>
            <a:r>
              <a:rPr lang="en-IN" sz="1800" i="1" dirty="0">
                <a:effectLst/>
                <a:latin typeface="Minion"/>
              </a:rPr>
              <a:t>density-based clustering methods</a:t>
            </a:r>
            <a:r>
              <a:rPr lang="en-IN" sz="1800" dirty="0">
                <a:effectLst/>
                <a:latin typeface="Minion"/>
              </a:rPr>
              <a:t>, which can discover clusters of </a:t>
            </a:r>
            <a:r>
              <a:rPr lang="en-IN" sz="1800" dirty="0" err="1">
                <a:effectLst/>
                <a:latin typeface="Minion"/>
              </a:rPr>
              <a:t>nonspherical</a:t>
            </a:r>
            <a:r>
              <a:rPr lang="en-IN" sz="1800" dirty="0">
                <a:effectLst/>
                <a:latin typeface="Minion"/>
              </a:rPr>
              <a:t> shape. </a:t>
            </a:r>
            <a:endParaRPr lang="en-IN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3E9E7EA-49B1-867D-AF28-5D82888C4C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746" t="60981" r="4901" b="7647"/>
          <a:stretch/>
        </p:blipFill>
        <p:spPr>
          <a:xfrm>
            <a:off x="2857500" y="4505179"/>
            <a:ext cx="3429000" cy="2078183"/>
          </a:xfrm>
          <a:prstGeom prst="rect">
            <a:avLst/>
          </a:prstGeom>
        </p:spPr>
      </p:pic>
      <p:pic>
        <p:nvPicPr>
          <p:cNvPr id="1025" name="Picture 1" descr="page75image9542144">
            <a:extLst>
              <a:ext uri="{FF2B5EF4-FFF2-40B4-BE49-F238E27FC236}">
                <a16:creationId xmlns:a16="http://schemas.microsoft.com/office/drawing/2014/main" xmlns="" id="{2BFF4BCA-F9A8-D33C-AFFF-27957D106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406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75image9542144">
            <a:extLst>
              <a:ext uri="{FF2B5EF4-FFF2-40B4-BE49-F238E27FC236}">
                <a16:creationId xmlns:a16="http://schemas.microsoft.com/office/drawing/2014/main" xmlns="" id="{300916CA-9B43-81AA-5E46-66DA2161E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4069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899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44F4FA-E1E6-395B-DC0C-8AA1908A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2400" b="1" dirty="0">
                <a:effectLst/>
                <a:latin typeface="GillSans" panose="020B0502020104020203" pitchFamily="34" charset="-79"/>
                <a:cs typeface="GillSans" panose="020B0502020104020203" pitchFamily="34" charset="-79"/>
              </a:rPr>
              <a:t>DBSCAN: </a:t>
            </a:r>
            <a:r>
              <a:rPr lang="en-IN" sz="2400" dirty="0">
                <a:effectLst/>
                <a:latin typeface="Minion"/>
              </a:rPr>
              <a:t>Density-Based Spatial Clustering of Applications with Noise</a:t>
            </a:r>
            <a:r>
              <a:rPr lang="en-IN" sz="2400" dirty="0"/>
              <a:t/>
            </a:r>
            <a:br>
              <a:rPr lang="en-IN" sz="2400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512C6B-D45E-1D71-CDAB-8FB2B90B3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200" i="1" dirty="0">
                <a:effectLst/>
                <a:latin typeface="Minion"/>
              </a:rPr>
              <a:t>How can we find dense regions in density-based clustering?” </a:t>
            </a:r>
          </a:p>
          <a:p>
            <a:r>
              <a:rPr lang="en-IN" sz="2200" dirty="0">
                <a:effectLst/>
                <a:latin typeface="Minion"/>
              </a:rPr>
              <a:t>The </a:t>
            </a:r>
            <a:r>
              <a:rPr lang="en-IN" sz="2200" i="1" dirty="0">
                <a:effectLst/>
                <a:latin typeface="Minion"/>
              </a:rPr>
              <a:t>density </a:t>
            </a:r>
            <a:r>
              <a:rPr lang="en-IN" sz="2200" dirty="0">
                <a:effectLst/>
                <a:latin typeface="Minion"/>
              </a:rPr>
              <a:t>of an object </a:t>
            </a:r>
            <a:r>
              <a:rPr lang="en-IN" sz="2200" b="1" i="1" dirty="0">
                <a:effectLst/>
                <a:latin typeface="Minion"/>
              </a:rPr>
              <a:t>o </a:t>
            </a:r>
            <a:r>
              <a:rPr lang="en-IN" sz="2200" dirty="0">
                <a:effectLst/>
                <a:latin typeface="Minion"/>
              </a:rPr>
              <a:t>can be measured by the number of objects close to </a:t>
            </a:r>
            <a:r>
              <a:rPr lang="en-IN" sz="2200" b="1" i="1" dirty="0">
                <a:effectLst/>
                <a:latin typeface="Minion"/>
              </a:rPr>
              <a:t>o</a:t>
            </a:r>
            <a:r>
              <a:rPr lang="en-IN" sz="2200" dirty="0">
                <a:effectLst/>
                <a:latin typeface="Minion"/>
              </a:rPr>
              <a:t>. </a:t>
            </a:r>
            <a:r>
              <a:rPr lang="en-IN" sz="2200" b="1" dirty="0">
                <a:effectLst/>
                <a:latin typeface="Minion"/>
              </a:rPr>
              <a:t>DBSCAN </a:t>
            </a:r>
            <a:r>
              <a:rPr lang="en-IN" sz="2200" dirty="0">
                <a:effectLst/>
                <a:latin typeface="Minion"/>
              </a:rPr>
              <a:t>finds </a:t>
            </a:r>
            <a:r>
              <a:rPr lang="en-IN" sz="2200" i="1" dirty="0">
                <a:effectLst/>
                <a:latin typeface="Minion"/>
              </a:rPr>
              <a:t>core objects</a:t>
            </a:r>
            <a:r>
              <a:rPr lang="en-IN" sz="2200" dirty="0">
                <a:effectLst/>
                <a:latin typeface="Minion"/>
              </a:rPr>
              <a:t>, that is, objects that have dense </a:t>
            </a:r>
            <a:r>
              <a:rPr lang="en-IN" sz="2200" dirty="0" err="1">
                <a:effectLst/>
                <a:latin typeface="Minion"/>
              </a:rPr>
              <a:t>neighborhoods</a:t>
            </a:r>
            <a:r>
              <a:rPr lang="en-IN" sz="2200" dirty="0">
                <a:effectLst/>
                <a:latin typeface="Minion"/>
              </a:rPr>
              <a:t>. It connects core objects and their </a:t>
            </a:r>
            <a:r>
              <a:rPr lang="en-IN" sz="2200" dirty="0" err="1">
                <a:effectLst/>
                <a:latin typeface="Minion"/>
              </a:rPr>
              <a:t>neighborhoods</a:t>
            </a:r>
            <a:r>
              <a:rPr lang="en-IN" sz="2200" dirty="0">
                <a:effectLst/>
                <a:latin typeface="Minion"/>
              </a:rPr>
              <a:t> to form dense regions as clusters. </a:t>
            </a:r>
            <a:endParaRPr lang="en-IN" sz="2200" dirty="0"/>
          </a:p>
          <a:p>
            <a:r>
              <a:rPr lang="en-IN" sz="2200" i="1" dirty="0">
                <a:effectLst/>
                <a:latin typeface="Minion"/>
              </a:rPr>
              <a:t>“How does </a:t>
            </a:r>
            <a:r>
              <a:rPr lang="en-IN" sz="2200" b="1" dirty="0">
                <a:effectLst/>
                <a:latin typeface="Minion"/>
              </a:rPr>
              <a:t>DBSCAN </a:t>
            </a:r>
            <a:r>
              <a:rPr lang="en-IN" sz="2200" i="1" dirty="0">
                <a:effectLst/>
                <a:latin typeface="Minion"/>
              </a:rPr>
              <a:t>quantify the </a:t>
            </a:r>
            <a:r>
              <a:rPr lang="en-IN" sz="2200" i="1" dirty="0" err="1">
                <a:effectLst/>
                <a:latin typeface="Minion"/>
              </a:rPr>
              <a:t>neighborhood</a:t>
            </a:r>
            <a:r>
              <a:rPr lang="en-IN" sz="2200" i="1" dirty="0">
                <a:effectLst/>
                <a:latin typeface="Minion"/>
              </a:rPr>
              <a:t> of an object?” </a:t>
            </a:r>
          </a:p>
          <a:p>
            <a:r>
              <a:rPr lang="en-IN" sz="2200" dirty="0">
                <a:effectLst/>
                <a:latin typeface="Minion"/>
              </a:rPr>
              <a:t>A user-specified para- meter </a:t>
            </a:r>
            <a:r>
              <a:rPr lang="el-GR" sz="2200" dirty="0">
                <a:effectLst/>
                <a:latin typeface="RMTMI"/>
              </a:rPr>
              <a:t>ε &gt; </a:t>
            </a:r>
            <a:r>
              <a:rPr lang="el-GR" sz="2200" dirty="0">
                <a:effectLst/>
                <a:latin typeface="Minion"/>
              </a:rPr>
              <a:t>0 </a:t>
            </a:r>
            <a:r>
              <a:rPr lang="en-IN" sz="2200" dirty="0">
                <a:effectLst/>
                <a:latin typeface="Minion"/>
              </a:rPr>
              <a:t>is used to specify the radius of a </a:t>
            </a:r>
            <a:r>
              <a:rPr lang="en-IN" sz="2200" dirty="0" err="1">
                <a:effectLst/>
                <a:latin typeface="Minion"/>
              </a:rPr>
              <a:t>neighborhood</a:t>
            </a:r>
            <a:r>
              <a:rPr lang="en-IN" sz="2200" dirty="0">
                <a:effectLst/>
                <a:latin typeface="Minion"/>
              </a:rPr>
              <a:t> we consider for every object. The </a:t>
            </a:r>
            <a:r>
              <a:rPr lang="el-GR" sz="2200" dirty="0">
                <a:effectLst/>
                <a:latin typeface="RMTMI"/>
              </a:rPr>
              <a:t>ε</a:t>
            </a:r>
            <a:r>
              <a:rPr lang="el-GR" sz="2200" b="1" dirty="0">
                <a:effectLst/>
                <a:latin typeface="Minion"/>
              </a:rPr>
              <a:t>-</a:t>
            </a:r>
            <a:r>
              <a:rPr lang="en-IN" sz="2200" b="1" dirty="0" err="1">
                <a:effectLst/>
                <a:latin typeface="Minion"/>
              </a:rPr>
              <a:t>neighborhood</a:t>
            </a:r>
            <a:r>
              <a:rPr lang="en-IN" sz="2200" b="1" dirty="0">
                <a:effectLst/>
                <a:latin typeface="Minion"/>
              </a:rPr>
              <a:t> </a:t>
            </a:r>
            <a:r>
              <a:rPr lang="en-IN" sz="2200" dirty="0">
                <a:effectLst/>
                <a:latin typeface="Minion"/>
              </a:rPr>
              <a:t>of an object </a:t>
            </a:r>
            <a:r>
              <a:rPr lang="en-IN" sz="2200" b="1" i="1" dirty="0">
                <a:effectLst/>
                <a:latin typeface="Minion"/>
              </a:rPr>
              <a:t>o </a:t>
            </a:r>
            <a:r>
              <a:rPr lang="en-IN" sz="2200" dirty="0">
                <a:effectLst/>
                <a:latin typeface="Minion"/>
              </a:rPr>
              <a:t>is the space within a radius </a:t>
            </a:r>
            <a:r>
              <a:rPr lang="el-GR" sz="2200" dirty="0">
                <a:effectLst/>
                <a:latin typeface="RMTMI"/>
              </a:rPr>
              <a:t>ε </a:t>
            </a:r>
            <a:r>
              <a:rPr lang="en-IN" sz="2200" dirty="0" err="1">
                <a:effectLst/>
                <a:latin typeface="Minion"/>
              </a:rPr>
              <a:t>centered</a:t>
            </a:r>
            <a:r>
              <a:rPr lang="en-IN" sz="2200" dirty="0">
                <a:effectLst/>
                <a:latin typeface="Minion"/>
              </a:rPr>
              <a:t> at </a:t>
            </a:r>
            <a:r>
              <a:rPr lang="en-IN" sz="2200" b="1" i="1" dirty="0">
                <a:effectLst/>
                <a:latin typeface="Minion"/>
              </a:rPr>
              <a:t>o</a:t>
            </a:r>
            <a:r>
              <a:rPr lang="en-IN" sz="2200" dirty="0">
                <a:effectLst/>
                <a:latin typeface="Minion"/>
              </a:rPr>
              <a:t>. </a:t>
            </a:r>
            <a:endParaRPr lang="en-IN" sz="2200" dirty="0"/>
          </a:p>
          <a:p>
            <a:r>
              <a:rPr lang="en-IN" sz="2200" dirty="0">
                <a:effectLst/>
                <a:latin typeface="Minion"/>
              </a:rPr>
              <a:t>Due to the fixed </a:t>
            </a:r>
            <a:r>
              <a:rPr lang="en-IN" sz="2200" dirty="0" err="1">
                <a:effectLst/>
                <a:latin typeface="Minion"/>
              </a:rPr>
              <a:t>neighborhood</a:t>
            </a:r>
            <a:r>
              <a:rPr lang="en-IN" sz="2200" dirty="0">
                <a:effectLst/>
                <a:latin typeface="Minion"/>
              </a:rPr>
              <a:t> size parameterized by </a:t>
            </a:r>
            <a:r>
              <a:rPr lang="el-GR" sz="2200" dirty="0">
                <a:effectLst/>
                <a:latin typeface="RMTMI"/>
              </a:rPr>
              <a:t>ε</a:t>
            </a:r>
            <a:r>
              <a:rPr lang="el-GR" sz="2200" dirty="0">
                <a:effectLst/>
                <a:latin typeface="Minion"/>
              </a:rPr>
              <a:t>, </a:t>
            </a:r>
            <a:r>
              <a:rPr lang="en-IN" sz="2200" dirty="0">
                <a:effectLst/>
                <a:latin typeface="Minion"/>
              </a:rPr>
              <a:t>the </a:t>
            </a:r>
            <a:r>
              <a:rPr lang="en-IN" sz="2200" b="1" dirty="0">
                <a:effectLst/>
                <a:latin typeface="Minion"/>
              </a:rPr>
              <a:t>density of a </a:t>
            </a:r>
            <a:r>
              <a:rPr lang="en-IN" sz="2200" b="1" dirty="0" err="1">
                <a:effectLst/>
                <a:latin typeface="Minion"/>
              </a:rPr>
              <a:t>neighborhood</a:t>
            </a:r>
            <a:r>
              <a:rPr lang="en-IN" sz="2200" b="1" dirty="0">
                <a:effectLst/>
                <a:latin typeface="Minion"/>
              </a:rPr>
              <a:t> </a:t>
            </a:r>
            <a:r>
              <a:rPr lang="en-IN" sz="2200" dirty="0">
                <a:effectLst/>
                <a:latin typeface="Minion"/>
              </a:rPr>
              <a:t>can be measured simply by the number of objects in the </a:t>
            </a:r>
            <a:r>
              <a:rPr lang="en-IN" sz="2200" dirty="0" err="1">
                <a:effectLst/>
                <a:latin typeface="Minion"/>
              </a:rPr>
              <a:t>neighborhood</a:t>
            </a:r>
            <a:r>
              <a:rPr lang="en-IN" sz="2200" dirty="0">
                <a:effectLst/>
                <a:latin typeface="Minion"/>
              </a:rPr>
              <a:t>. </a:t>
            </a:r>
            <a:endParaRPr lang="en-IN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2914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FC8062-3997-36BF-75D3-1F065193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97691B-D230-6F6F-9D81-04BDB67DF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The main idea behind DBSCAN is that a point belongs to a cluster if it is close to many points from that cluster.</a:t>
            </a:r>
          </a:p>
          <a:p>
            <a:pPr algn="l"/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There are two key parameters of DBSCAN: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92929"/>
                </a:solidFill>
                <a:effectLst/>
                <a:latin typeface="source-serif-pro"/>
              </a:rPr>
              <a:t>eps</a:t>
            </a:r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: The distance that specifies the </a:t>
            </a:r>
            <a:r>
              <a:rPr lang="en-IN" b="0" i="0" dirty="0" err="1">
                <a:solidFill>
                  <a:srgbClr val="292929"/>
                </a:solidFill>
                <a:effectLst/>
                <a:latin typeface="source-serif-pro"/>
              </a:rPr>
              <a:t>neighborhoods</a:t>
            </a:r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. Two points are considered to be </a:t>
            </a:r>
            <a:r>
              <a:rPr lang="en-IN" b="0" i="0" dirty="0" err="1">
                <a:solidFill>
                  <a:srgbClr val="292929"/>
                </a:solidFill>
                <a:effectLst/>
                <a:latin typeface="source-serif-pro"/>
              </a:rPr>
              <a:t>neighbors</a:t>
            </a:r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 if the distance between them are less than or equal to eps.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 err="1">
                <a:solidFill>
                  <a:srgbClr val="292929"/>
                </a:solidFill>
                <a:effectLst/>
                <a:latin typeface="source-serif-pro"/>
              </a:rPr>
              <a:t>minPts</a:t>
            </a:r>
            <a:r>
              <a:rPr lang="en-IN" b="1" i="0" dirty="0">
                <a:solidFill>
                  <a:srgbClr val="292929"/>
                </a:solidFill>
                <a:effectLst/>
                <a:latin typeface="source-serif-pro"/>
              </a:rPr>
              <a:t>:</a:t>
            </a:r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 Minimum number of data points to define a cluster.</a:t>
            </a:r>
          </a:p>
          <a:p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090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2BFA62-001C-59E7-500E-D4DFA26C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EE06417-6A3E-869E-110E-9AC341CB7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/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Based on these two parameters, points are classified as core point, border point, or outlier: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92929"/>
                </a:solidFill>
                <a:effectLst/>
                <a:latin typeface="source-serif-pro"/>
              </a:rPr>
              <a:t>Core point:</a:t>
            </a:r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 A point is a core point if there are at least </a:t>
            </a:r>
            <a:r>
              <a:rPr lang="en-IN" b="0" i="0" dirty="0" err="1">
                <a:solidFill>
                  <a:srgbClr val="292929"/>
                </a:solidFill>
                <a:effectLst/>
                <a:latin typeface="source-serif-pro"/>
              </a:rPr>
              <a:t>minPts</a:t>
            </a:r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 number of points (including the point itself) in its surrounding area with radius eps.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92929"/>
                </a:solidFill>
                <a:effectLst/>
                <a:latin typeface="source-serif-pro"/>
              </a:rPr>
              <a:t>Border point:</a:t>
            </a:r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 A point is a border point if it is reachable from a core point and there are less than </a:t>
            </a:r>
            <a:r>
              <a:rPr lang="en-IN" b="0" i="0" dirty="0" err="1">
                <a:solidFill>
                  <a:srgbClr val="292929"/>
                </a:solidFill>
                <a:effectLst/>
                <a:latin typeface="source-serif-pro"/>
              </a:rPr>
              <a:t>minPts</a:t>
            </a:r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 number of points within its surrounding area.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292929"/>
                </a:solidFill>
                <a:effectLst/>
                <a:latin typeface="source-serif-pro"/>
              </a:rPr>
              <a:t>Outlier:</a:t>
            </a:r>
            <a:r>
              <a:rPr lang="en-IN" b="0" i="0" dirty="0">
                <a:solidFill>
                  <a:srgbClr val="292929"/>
                </a:solidFill>
                <a:effectLst/>
                <a:latin typeface="source-serif-pro"/>
              </a:rPr>
              <a:t> A point is an outlier if it is not a core point and not reachable from any core points.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74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DCF78287-82AA-4320-B13B-ED08A4A8E1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700"/>
            <a:ext cx="5114490" cy="353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5E907783-38A3-393C-D559-C5190D901BA3}"/>
              </a:ext>
            </a:extLst>
          </p:cNvPr>
          <p:cNvSpPr txBox="1"/>
          <p:nvPr/>
        </p:nvSpPr>
        <p:spPr>
          <a:xfrm>
            <a:off x="266700" y="3552824"/>
            <a:ext cx="8610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0" i="0" dirty="0">
                <a:solidFill>
                  <a:srgbClr val="292929"/>
                </a:solidFill>
                <a:effectLst/>
                <a:latin typeface="source-serif-pro"/>
              </a:rPr>
              <a:t>In this case, </a:t>
            </a:r>
            <a:r>
              <a:rPr lang="en-IN" sz="2200" b="0" i="0" dirty="0" err="1">
                <a:solidFill>
                  <a:srgbClr val="292929"/>
                </a:solidFill>
                <a:effectLst/>
                <a:latin typeface="source-serif-pro"/>
              </a:rPr>
              <a:t>minPts</a:t>
            </a:r>
            <a:r>
              <a:rPr lang="en-IN" sz="2200" b="0" i="0" dirty="0">
                <a:solidFill>
                  <a:srgbClr val="292929"/>
                </a:solidFill>
                <a:effectLst/>
                <a:latin typeface="source-serif-pro"/>
              </a:rPr>
              <a:t> is 4. Red points are core points because there are </a:t>
            </a:r>
            <a:r>
              <a:rPr lang="en-IN" sz="2200" b="1" i="0" dirty="0">
                <a:solidFill>
                  <a:srgbClr val="292929"/>
                </a:solidFill>
                <a:effectLst/>
                <a:latin typeface="source-serif-pro"/>
              </a:rPr>
              <a:t>at least</a:t>
            </a:r>
            <a:r>
              <a:rPr lang="en-IN" sz="2200" b="0" i="0" dirty="0">
                <a:solidFill>
                  <a:srgbClr val="292929"/>
                </a:solidFill>
                <a:effectLst/>
                <a:latin typeface="source-serif-pro"/>
              </a:rPr>
              <a:t> 4 points within their surrounding area with radius eps. This area is shown with the circles in the figure. The yellow points are border points because they are reachable from a core point and have less than 4 points within their </a:t>
            </a:r>
            <a:r>
              <a:rPr lang="en-IN" sz="2200" b="0" i="0" dirty="0" err="1">
                <a:solidFill>
                  <a:srgbClr val="292929"/>
                </a:solidFill>
                <a:effectLst/>
                <a:latin typeface="source-serif-pro"/>
              </a:rPr>
              <a:t>neighborhood</a:t>
            </a:r>
            <a:r>
              <a:rPr lang="en-IN" sz="2200" b="0" i="0" dirty="0">
                <a:solidFill>
                  <a:srgbClr val="292929"/>
                </a:solidFill>
                <a:effectLst/>
                <a:latin typeface="source-serif-pro"/>
              </a:rPr>
              <a:t>. Reachable means being in the surrounding area of a core point. The points B and C have two points (including the point itself) within their </a:t>
            </a:r>
            <a:r>
              <a:rPr lang="en-IN" sz="2200" b="0" i="0" dirty="0" err="1">
                <a:solidFill>
                  <a:srgbClr val="292929"/>
                </a:solidFill>
                <a:effectLst/>
                <a:latin typeface="source-serif-pro"/>
              </a:rPr>
              <a:t>neigborhood</a:t>
            </a:r>
            <a:r>
              <a:rPr lang="en-IN" sz="2200" b="0" i="0" dirty="0">
                <a:solidFill>
                  <a:srgbClr val="292929"/>
                </a:solidFill>
                <a:effectLst/>
                <a:latin typeface="source-serif-pro"/>
              </a:rPr>
              <a:t> (i.e. the surrounding area with a radius of eps). Finally N is an outlier because it is not a core point and cannot be reached from a core point.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46134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CCF96A-0546-3ABA-70CE-7E9C57766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381000"/>
            <a:ext cx="8839200" cy="4525963"/>
          </a:xfrm>
        </p:spPr>
        <p:txBody>
          <a:bodyPr>
            <a:noAutofit/>
          </a:bodyPr>
          <a:lstStyle/>
          <a:p>
            <a:pPr algn="just"/>
            <a:r>
              <a:rPr lang="en-IN" sz="2400" dirty="0">
                <a:effectLst/>
                <a:latin typeface="Minion"/>
              </a:rPr>
              <a:t>Given a set, </a:t>
            </a:r>
            <a:r>
              <a:rPr lang="en-IN" sz="2400" i="1" dirty="0">
                <a:effectLst/>
                <a:latin typeface="Minion"/>
              </a:rPr>
              <a:t>D</a:t>
            </a:r>
            <a:r>
              <a:rPr lang="en-IN" sz="2400" dirty="0">
                <a:effectLst/>
                <a:latin typeface="Minion"/>
              </a:rPr>
              <a:t>, of objects, we can identify all core objects with respect to the given parameters, </a:t>
            </a:r>
            <a:r>
              <a:rPr lang="el-GR" sz="2400" dirty="0">
                <a:effectLst/>
                <a:latin typeface="RMTMI"/>
              </a:rPr>
              <a:t>ε </a:t>
            </a:r>
            <a:r>
              <a:rPr lang="en-IN" sz="2400" dirty="0">
                <a:effectLst/>
                <a:latin typeface="Minion"/>
              </a:rPr>
              <a:t>and </a:t>
            </a:r>
            <a:r>
              <a:rPr lang="en-IN" sz="2400" i="1" dirty="0" err="1">
                <a:effectLst/>
                <a:latin typeface="Minion"/>
              </a:rPr>
              <a:t>MinPts</a:t>
            </a:r>
            <a:r>
              <a:rPr lang="en-IN" sz="2400" dirty="0">
                <a:effectLst/>
                <a:latin typeface="Minion"/>
              </a:rPr>
              <a:t>. The clustering task is therein reduced to using core objects and their </a:t>
            </a:r>
            <a:r>
              <a:rPr lang="en-IN" sz="2400" dirty="0" err="1">
                <a:effectLst/>
                <a:latin typeface="Minion"/>
              </a:rPr>
              <a:t>neighborhoods</a:t>
            </a:r>
            <a:r>
              <a:rPr lang="en-IN" sz="2400" dirty="0">
                <a:effectLst/>
                <a:latin typeface="Minion"/>
              </a:rPr>
              <a:t> to form dense regions, where the dense regions are clusters. </a:t>
            </a:r>
          </a:p>
          <a:p>
            <a:pPr algn="just"/>
            <a:r>
              <a:rPr lang="en-IN" sz="2400" dirty="0">
                <a:effectLst/>
                <a:latin typeface="Minion"/>
              </a:rPr>
              <a:t>For a core object </a:t>
            </a:r>
            <a:r>
              <a:rPr lang="en-IN" sz="2400" b="1" i="1" dirty="0">
                <a:effectLst/>
                <a:latin typeface="Minion"/>
              </a:rPr>
              <a:t>q </a:t>
            </a:r>
            <a:r>
              <a:rPr lang="en-IN" sz="2400" dirty="0">
                <a:effectLst/>
                <a:latin typeface="Minion"/>
              </a:rPr>
              <a:t>and an object </a:t>
            </a:r>
            <a:r>
              <a:rPr lang="en-IN" sz="2400" b="1" i="1" dirty="0">
                <a:effectLst/>
                <a:latin typeface="Minion"/>
              </a:rPr>
              <a:t>p</a:t>
            </a:r>
            <a:r>
              <a:rPr lang="en-IN" sz="2400" dirty="0">
                <a:effectLst/>
                <a:latin typeface="Minion"/>
              </a:rPr>
              <a:t>, we say that </a:t>
            </a:r>
            <a:r>
              <a:rPr lang="en-IN" sz="2400" b="1" i="1" dirty="0">
                <a:effectLst/>
                <a:latin typeface="Minion"/>
              </a:rPr>
              <a:t>p </a:t>
            </a:r>
            <a:r>
              <a:rPr lang="en-IN" sz="2400" dirty="0">
                <a:effectLst/>
                <a:latin typeface="Minion"/>
              </a:rPr>
              <a:t>is </a:t>
            </a:r>
            <a:r>
              <a:rPr lang="en-IN" sz="2400" b="1" dirty="0">
                <a:effectLst/>
                <a:latin typeface="Minion"/>
              </a:rPr>
              <a:t>directly density-reachable </a:t>
            </a:r>
            <a:r>
              <a:rPr lang="en-IN" sz="2400" dirty="0">
                <a:effectLst/>
                <a:latin typeface="Minion"/>
              </a:rPr>
              <a:t>from </a:t>
            </a:r>
            <a:r>
              <a:rPr lang="en-IN" sz="2400" b="1" i="1" dirty="0">
                <a:effectLst/>
                <a:latin typeface="Minion"/>
              </a:rPr>
              <a:t>q </a:t>
            </a:r>
            <a:r>
              <a:rPr lang="en-IN" sz="2400" dirty="0">
                <a:effectLst/>
                <a:latin typeface="Minion"/>
              </a:rPr>
              <a:t>(with respect to </a:t>
            </a:r>
            <a:r>
              <a:rPr lang="el-GR" sz="2400" dirty="0">
                <a:effectLst/>
                <a:latin typeface="RMTMI"/>
              </a:rPr>
              <a:t>ε </a:t>
            </a:r>
            <a:r>
              <a:rPr lang="en-IN" sz="2400" dirty="0">
                <a:effectLst/>
                <a:latin typeface="Minion"/>
              </a:rPr>
              <a:t>and </a:t>
            </a:r>
            <a:r>
              <a:rPr lang="en-IN" sz="2400" i="1" dirty="0" err="1">
                <a:effectLst/>
                <a:latin typeface="Minion"/>
              </a:rPr>
              <a:t>MinPts</a:t>
            </a:r>
            <a:r>
              <a:rPr lang="en-IN" sz="2400" dirty="0">
                <a:effectLst/>
                <a:latin typeface="Minion"/>
              </a:rPr>
              <a:t>) if </a:t>
            </a:r>
            <a:r>
              <a:rPr lang="en-IN" sz="2400" b="1" i="1" dirty="0">
                <a:effectLst/>
                <a:latin typeface="Minion"/>
              </a:rPr>
              <a:t>p </a:t>
            </a:r>
            <a:r>
              <a:rPr lang="en-IN" sz="2400" dirty="0">
                <a:effectLst/>
                <a:latin typeface="Minion"/>
              </a:rPr>
              <a:t>is within the </a:t>
            </a:r>
            <a:r>
              <a:rPr lang="el-GR" sz="2400" dirty="0">
                <a:effectLst/>
                <a:latin typeface="RMTMI"/>
              </a:rPr>
              <a:t>ε</a:t>
            </a:r>
            <a:r>
              <a:rPr lang="el-GR" sz="2400" dirty="0">
                <a:effectLst/>
                <a:latin typeface="Minion"/>
              </a:rPr>
              <a:t>-</a:t>
            </a:r>
            <a:r>
              <a:rPr lang="en-IN" sz="2400" dirty="0" err="1">
                <a:effectLst/>
                <a:latin typeface="Minion"/>
              </a:rPr>
              <a:t>neighborhood</a:t>
            </a:r>
            <a:r>
              <a:rPr lang="en-IN" sz="2400" dirty="0">
                <a:effectLst/>
                <a:latin typeface="Minion"/>
              </a:rPr>
              <a:t> of </a:t>
            </a:r>
            <a:r>
              <a:rPr lang="en-IN" sz="2400" b="1" i="1" dirty="0">
                <a:effectLst/>
                <a:latin typeface="Minion"/>
              </a:rPr>
              <a:t>q</a:t>
            </a:r>
            <a:r>
              <a:rPr lang="en-IN" sz="2400" dirty="0">
                <a:effectLst/>
                <a:latin typeface="Minion"/>
              </a:rPr>
              <a:t>. Clearly, an object </a:t>
            </a:r>
            <a:r>
              <a:rPr lang="en-IN" sz="2400" b="1" i="1" dirty="0">
                <a:effectLst/>
                <a:latin typeface="Minion"/>
              </a:rPr>
              <a:t>p </a:t>
            </a:r>
            <a:r>
              <a:rPr lang="en-IN" sz="2400" dirty="0">
                <a:effectLst/>
                <a:latin typeface="Minion"/>
              </a:rPr>
              <a:t>is directly density-reachable from another object </a:t>
            </a:r>
            <a:r>
              <a:rPr lang="en-IN" sz="2400" b="1" i="1" dirty="0">
                <a:effectLst/>
                <a:latin typeface="Minion"/>
              </a:rPr>
              <a:t>q </a:t>
            </a:r>
            <a:r>
              <a:rPr lang="en-IN" sz="2400" dirty="0">
                <a:effectLst/>
                <a:latin typeface="Minion"/>
              </a:rPr>
              <a:t>if and only if </a:t>
            </a:r>
            <a:r>
              <a:rPr lang="en-IN" sz="2400" b="1" i="1" dirty="0">
                <a:effectLst/>
                <a:latin typeface="Minion"/>
              </a:rPr>
              <a:t>q </a:t>
            </a:r>
            <a:r>
              <a:rPr lang="en-IN" sz="2400" dirty="0">
                <a:effectLst/>
                <a:latin typeface="Minion"/>
              </a:rPr>
              <a:t>is a core object and </a:t>
            </a:r>
            <a:r>
              <a:rPr lang="en-IN" sz="2400" b="1" i="1" dirty="0">
                <a:effectLst/>
                <a:latin typeface="Minion"/>
              </a:rPr>
              <a:t>p </a:t>
            </a:r>
            <a:r>
              <a:rPr lang="en-IN" sz="2400" dirty="0">
                <a:effectLst/>
                <a:latin typeface="Minion"/>
              </a:rPr>
              <a:t>is in the </a:t>
            </a:r>
            <a:r>
              <a:rPr lang="el-GR" sz="2400" dirty="0">
                <a:effectLst/>
                <a:latin typeface="RMTMI"/>
              </a:rPr>
              <a:t>ε</a:t>
            </a:r>
            <a:r>
              <a:rPr lang="el-GR" sz="2400" dirty="0">
                <a:effectLst/>
                <a:latin typeface="Minion"/>
              </a:rPr>
              <a:t>-</a:t>
            </a:r>
            <a:r>
              <a:rPr lang="en-IN" sz="2400" dirty="0" err="1">
                <a:effectLst/>
                <a:latin typeface="Minion"/>
              </a:rPr>
              <a:t>neighborhood</a:t>
            </a:r>
            <a:r>
              <a:rPr lang="en-IN" sz="2400" dirty="0">
                <a:effectLst/>
                <a:latin typeface="Minion"/>
              </a:rPr>
              <a:t> of </a:t>
            </a:r>
            <a:r>
              <a:rPr lang="en-IN" sz="2400" b="1" i="1" dirty="0">
                <a:effectLst/>
                <a:latin typeface="Minion"/>
              </a:rPr>
              <a:t>q</a:t>
            </a:r>
            <a:r>
              <a:rPr lang="en-IN" sz="2400" dirty="0">
                <a:effectLst/>
                <a:latin typeface="Minion"/>
              </a:rPr>
              <a:t>. Using the directly density-reachable relation, a core object can “bring” all objects from its </a:t>
            </a:r>
            <a:r>
              <a:rPr lang="el-GR" sz="2400" dirty="0">
                <a:effectLst/>
                <a:latin typeface="RMTMI"/>
              </a:rPr>
              <a:t>ε</a:t>
            </a:r>
            <a:r>
              <a:rPr lang="el-GR" sz="2400" dirty="0">
                <a:effectLst/>
                <a:latin typeface="Minion"/>
              </a:rPr>
              <a:t>-</a:t>
            </a:r>
            <a:r>
              <a:rPr lang="en-IN" sz="2400" dirty="0" err="1">
                <a:effectLst/>
                <a:latin typeface="Minion"/>
              </a:rPr>
              <a:t>neighborhood</a:t>
            </a:r>
            <a:r>
              <a:rPr lang="en-IN" sz="2400" dirty="0">
                <a:effectLst/>
                <a:latin typeface="Minion"/>
              </a:rPr>
              <a:t> into a dense region. </a:t>
            </a:r>
            <a:endParaRPr lang="en-IN" sz="2400" dirty="0"/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63192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390E92DB-65A7-0A7D-DC22-E7AE0841F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118" t="11785" r="58419" b="37707"/>
          <a:stretch/>
        </p:blipFill>
        <p:spPr>
          <a:xfrm>
            <a:off x="1727201" y="228600"/>
            <a:ext cx="5689598" cy="609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5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E174D4-E065-C271-7E71-732527C79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</a:t>
            </a:r>
            <a:r>
              <a:rPr lang="en-US" dirty="0" err="1"/>
              <a:t>www.youtube.com</a:t>
            </a:r>
            <a:r>
              <a:rPr lang="en-US" dirty="0"/>
              <a:t>/</a:t>
            </a:r>
            <a:r>
              <a:rPr lang="en-US" dirty="0" err="1"/>
              <a:t>watch?v</a:t>
            </a:r>
            <a:r>
              <a:rPr lang="en-US" dirty="0"/>
              <a:t>=</a:t>
            </a:r>
            <a:r>
              <a:rPr lang="en-US" dirty="0" err="1"/>
              <a:t>RDZUdRSDOok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69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205A8D-7D96-DE69-7A0D-E97B89A96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228600"/>
            <a:ext cx="8610600" cy="6477000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IN" sz="2200" b="0" i="0" dirty="0">
                <a:effectLst/>
                <a:latin typeface="urw-din"/>
              </a:rPr>
              <a:t>OPTICS Clustering stands for </a:t>
            </a:r>
            <a:r>
              <a:rPr lang="en-IN" sz="2200" b="1" i="0" dirty="0">
                <a:effectLst/>
                <a:latin typeface="urw-din"/>
              </a:rPr>
              <a:t>Ordering Points To Identify Cluster Structure</a:t>
            </a:r>
            <a:r>
              <a:rPr lang="en-IN" sz="2200" b="0" i="0" dirty="0">
                <a:effectLst/>
                <a:latin typeface="urw-din"/>
              </a:rPr>
              <a:t>. It draws inspiration from the DBSCAN clustering algorithm. It adds two more terms to the concepts of DBSCAN clustering. They are:-</a:t>
            </a:r>
          </a:p>
          <a:p>
            <a:pPr algn="just" fontAlgn="base">
              <a:buFont typeface="+mj-lt"/>
              <a:buAutoNum type="arabicPeriod"/>
            </a:pPr>
            <a:r>
              <a:rPr lang="en-IN" sz="2200" b="1" i="0" dirty="0">
                <a:effectLst/>
                <a:latin typeface="urw-din"/>
              </a:rPr>
              <a:t>Core Distance:</a:t>
            </a:r>
            <a:r>
              <a:rPr lang="en-IN" sz="2200" b="0" i="0" dirty="0">
                <a:effectLst/>
                <a:latin typeface="urw-din"/>
              </a:rPr>
              <a:t> It is the minimum value of radius required to classify a given point as a core point. If the given point is not a Core point, then it’s Core Distance is undefined.</a:t>
            </a:r>
          </a:p>
          <a:p>
            <a:endParaRPr lang="en-US" sz="2200" dirty="0"/>
          </a:p>
        </p:txBody>
      </p:sp>
      <p:pic>
        <p:nvPicPr>
          <p:cNvPr id="2053" name="Picture 5" descr="Lightbox">
            <a:extLst>
              <a:ext uri="{FF2B5EF4-FFF2-40B4-BE49-F238E27FC236}">
                <a16:creationId xmlns:a16="http://schemas.microsoft.com/office/drawing/2014/main" xmlns="" id="{2BBE3FE4-B7AD-B8AD-D92E-843430080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912" y="4293928"/>
            <a:ext cx="4098013" cy="263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3CFDFC5-F5D5-51D4-DA74-C751C00104BA}"/>
              </a:ext>
            </a:extLst>
          </p:cNvPr>
          <p:cNvSpPr txBox="1"/>
          <p:nvPr/>
        </p:nvSpPr>
        <p:spPr>
          <a:xfrm>
            <a:off x="361950" y="2336617"/>
            <a:ext cx="84201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IN" sz="2200" b="1" i="0" dirty="0">
                <a:effectLst/>
                <a:latin typeface="urw-din"/>
              </a:rPr>
              <a:t>2. Reachability Distance:</a:t>
            </a:r>
            <a:r>
              <a:rPr lang="en-IN" sz="2200" b="0" i="0" dirty="0">
                <a:effectLst/>
                <a:latin typeface="urw-din"/>
              </a:rPr>
              <a:t> It is defined with respect to another data point q(Let). The Reachability distance between a point p and q is the maximum of the Core Distance of p and the Euclidean Distance(or some other distance metric) between p and q. Note that The Reachability Distance is not defined if q is not a Core point.</a:t>
            </a:r>
          </a:p>
          <a:p>
            <a:r>
              <a:rPr lang="en-IN" sz="2200" dirty="0"/>
              <a:t/>
            </a:r>
            <a:br>
              <a:rPr lang="en-IN" sz="2200" dirty="0"/>
            </a:br>
            <a:endParaRPr lang="en-US" sz="2200" dirty="0"/>
          </a:p>
        </p:txBody>
      </p:sp>
      <p:pic>
        <p:nvPicPr>
          <p:cNvPr id="2055" name="Picture 7" descr="Lightbox">
            <a:extLst>
              <a:ext uri="{FF2B5EF4-FFF2-40B4-BE49-F238E27FC236}">
                <a16:creationId xmlns:a16="http://schemas.microsoft.com/office/drawing/2014/main" xmlns="" id="{61823E60-5771-E223-CF6A-1D9B98D28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594" y="4293928"/>
            <a:ext cx="4267200" cy="261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202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9F7CA2B-4860-92BD-D4E5-E9C5D0C1C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3810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n-IN" sz="2200" b="1" dirty="0">
                <a:effectLst/>
                <a:latin typeface="Minion"/>
              </a:rPr>
              <a:t>Core-distance and reachability-distance. </a:t>
            </a:r>
            <a:r>
              <a:rPr lang="en-IN" sz="2200" dirty="0">
                <a:solidFill>
                  <a:srgbClr val="0000FF"/>
                </a:solidFill>
                <a:effectLst/>
                <a:latin typeface="Minion"/>
              </a:rPr>
              <a:t>Figure 10.16 </a:t>
            </a:r>
            <a:r>
              <a:rPr lang="en-IN" sz="2200" dirty="0">
                <a:effectLst/>
                <a:latin typeface="Minion"/>
              </a:rPr>
              <a:t>illustrates the concepts of core- distance and reachability-distance. Suppose that </a:t>
            </a:r>
            <a:r>
              <a:rPr lang="el-GR" sz="2200" dirty="0">
                <a:effectLst/>
                <a:latin typeface="RMTMI"/>
              </a:rPr>
              <a:t>ε </a:t>
            </a:r>
            <a:r>
              <a:rPr lang="el-GR" sz="2200" dirty="0">
                <a:effectLst/>
                <a:latin typeface="MTSY"/>
              </a:rPr>
              <a:t>= </a:t>
            </a:r>
            <a:r>
              <a:rPr lang="el-GR" sz="2200" dirty="0">
                <a:effectLst/>
                <a:latin typeface="Minion"/>
              </a:rPr>
              <a:t>6 </a:t>
            </a:r>
            <a:r>
              <a:rPr lang="en-IN" sz="2200" dirty="0">
                <a:effectLst/>
                <a:latin typeface="Minion"/>
              </a:rPr>
              <a:t>mm and </a:t>
            </a:r>
            <a:r>
              <a:rPr lang="en-IN" sz="2200" i="1" dirty="0" err="1">
                <a:effectLst/>
                <a:latin typeface="Minion"/>
              </a:rPr>
              <a:t>MinPts</a:t>
            </a:r>
            <a:r>
              <a:rPr lang="en-IN" sz="2200" i="1" dirty="0">
                <a:effectLst/>
                <a:latin typeface="Minion"/>
              </a:rPr>
              <a:t> </a:t>
            </a:r>
            <a:r>
              <a:rPr lang="en-IN" sz="2200" dirty="0">
                <a:effectLst/>
                <a:latin typeface="MTSY"/>
              </a:rPr>
              <a:t>= </a:t>
            </a:r>
            <a:r>
              <a:rPr lang="en-IN" sz="2200" dirty="0">
                <a:effectLst/>
                <a:latin typeface="Minion"/>
              </a:rPr>
              <a:t>5. The core- distance of </a:t>
            </a:r>
            <a:r>
              <a:rPr lang="en-IN" sz="2200" b="1" i="1" dirty="0">
                <a:effectLst/>
                <a:latin typeface="Minion"/>
              </a:rPr>
              <a:t>p </a:t>
            </a:r>
            <a:r>
              <a:rPr lang="en-IN" sz="2200" dirty="0">
                <a:effectLst/>
                <a:latin typeface="Minion"/>
              </a:rPr>
              <a:t>is the distance, </a:t>
            </a:r>
            <a:r>
              <a:rPr lang="el-GR" sz="2200" dirty="0">
                <a:effectLst/>
                <a:latin typeface="RMTMI"/>
              </a:rPr>
              <a:t>ε</a:t>
            </a:r>
            <a:r>
              <a:rPr lang="el-GR" sz="2200" dirty="0">
                <a:effectLst/>
                <a:latin typeface="MTSY"/>
              </a:rPr>
              <a:t>′</a:t>
            </a:r>
            <a:r>
              <a:rPr lang="el-GR" sz="2200" dirty="0">
                <a:effectLst/>
                <a:latin typeface="Minion"/>
              </a:rPr>
              <a:t>, </a:t>
            </a:r>
            <a:r>
              <a:rPr lang="en-IN" sz="2200" dirty="0">
                <a:effectLst/>
                <a:latin typeface="Minion"/>
              </a:rPr>
              <a:t>between </a:t>
            </a:r>
            <a:r>
              <a:rPr lang="en-IN" sz="2200" b="1" i="1" dirty="0">
                <a:effectLst/>
                <a:latin typeface="Minion"/>
              </a:rPr>
              <a:t>p </a:t>
            </a:r>
            <a:r>
              <a:rPr lang="en-IN" sz="2200" dirty="0">
                <a:effectLst/>
                <a:latin typeface="Minion"/>
              </a:rPr>
              <a:t>and the fourth closest data object from </a:t>
            </a:r>
            <a:r>
              <a:rPr lang="en-IN" sz="2200" b="1" i="1" dirty="0">
                <a:effectLst/>
                <a:latin typeface="Minion"/>
              </a:rPr>
              <a:t>p</a:t>
            </a:r>
            <a:r>
              <a:rPr lang="en-IN" sz="2200" dirty="0">
                <a:effectLst/>
                <a:latin typeface="Minion"/>
              </a:rPr>
              <a:t>. The reachability-distance of </a:t>
            </a:r>
            <a:r>
              <a:rPr lang="en-IN" sz="2200" b="1" i="1" dirty="0">
                <a:effectLst/>
                <a:latin typeface="Minion"/>
              </a:rPr>
              <a:t>q</a:t>
            </a:r>
            <a:r>
              <a:rPr lang="en-IN" sz="2200" b="1" dirty="0">
                <a:effectLst/>
                <a:latin typeface="Minion"/>
              </a:rPr>
              <a:t>1 </a:t>
            </a:r>
            <a:r>
              <a:rPr lang="en-IN" sz="2200" dirty="0">
                <a:effectLst/>
                <a:latin typeface="Minion"/>
              </a:rPr>
              <a:t>from </a:t>
            </a:r>
            <a:r>
              <a:rPr lang="en-IN" sz="2200" b="1" i="1" dirty="0">
                <a:effectLst/>
                <a:latin typeface="Minion"/>
              </a:rPr>
              <a:t>p </a:t>
            </a:r>
            <a:r>
              <a:rPr lang="en-IN" sz="2200" dirty="0">
                <a:effectLst/>
                <a:latin typeface="Minion"/>
              </a:rPr>
              <a:t>is the core-distance of </a:t>
            </a:r>
            <a:r>
              <a:rPr lang="en-IN" sz="2200" b="1" i="1" dirty="0">
                <a:effectLst/>
                <a:latin typeface="Minion"/>
              </a:rPr>
              <a:t>p </a:t>
            </a:r>
            <a:r>
              <a:rPr lang="en-IN" sz="2200" dirty="0">
                <a:effectLst/>
                <a:latin typeface="Minion"/>
              </a:rPr>
              <a:t>(i.e., </a:t>
            </a:r>
            <a:r>
              <a:rPr lang="el-GR" sz="2200" dirty="0">
                <a:effectLst/>
                <a:latin typeface="RMTMI"/>
              </a:rPr>
              <a:t>ε</a:t>
            </a:r>
            <a:r>
              <a:rPr lang="el-GR" sz="2200" dirty="0">
                <a:effectLst/>
                <a:latin typeface="MTSY"/>
              </a:rPr>
              <a:t>′ = </a:t>
            </a:r>
            <a:r>
              <a:rPr lang="el-GR" sz="2200" dirty="0">
                <a:effectLst/>
                <a:latin typeface="Minion"/>
              </a:rPr>
              <a:t>3</a:t>
            </a:r>
            <a:r>
              <a:rPr lang="en-IN" sz="2200" dirty="0">
                <a:effectLst/>
                <a:latin typeface="Minion"/>
              </a:rPr>
              <a:t>mm) because this is greater than the Euclidean distance from </a:t>
            </a:r>
            <a:r>
              <a:rPr lang="en-IN" sz="2200" b="1" i="1" dirty="0">
                <a:effectLst/>
                <a:latin typeface="Minion"/>
              </a:rPr>
              <a:t>p </a:t>
            </a:r>
            <a:r>
              <a:rPr lang="en-IN" sz="2200" dirty="0">
                <a:effectLst/>
                <a:latin typeface="Minion"/>
              </a:rPr>
              <a:t>to </a:t>
            </a:r>
            <a:r>
              <a:rPr lang="en-IN" sz="2200" b="1" i="1" dirty="0">
                <a:effectLst/>
                <a:latin typeface="Minion"/>
              </a:rPr>
              <a:t>q</a:t>
            </a:r>
            <a:r>
              <a:rPr lang="en-IN" sz="2200" b="1" dirty="0">
                <a:effectLst/>
                <a:latin typeface="Minion"/>
              </a:rPr>
              <a:t>1</a:t>
            </a:r>
            <a:r>
              <a:rPr lang="en-IN" sz="2200" dirty="0">
                <a:effectLst/>
                <a:latin typeface="Minion"/>
              </a:rPr>
              <a:t>. The reachability-distance of </a:t>
            </a:r>
            <a:r>
              <a:rPr lang="en-IN" sz="2200" b="1" i="1" dirty="0">
                <a:effectLst/>
                <a:latin typeface="Minion"/>
              </a:rPr>
              <a:t>q</a:t>
            </a:r>
            <a:r>
              <a:rPr lang="en-IN" sz="2200" b="1" dirty="0">
                <a:effectLst/>
                <a:latin typeface="Minion"/>
              </a:rPr>
              <a:t>2 </a:t>
            </a:r>
            <a:r>
              <a:rPr lang="en-IN" sz="2200" dirty="0">
                <a:effectLst/>
                <a:latin typeface="Minion"/>
              </a:rPr>
              <a:t>with respect to </a:t>
            </a:r>
            <a:r>
              <a:rPr lang="en-IN" sz="2200" b="1" i="1" dirty="0">
                <a:effectLst/>
                <a:latin typeface="Minion"/>
              </a:rPr>
              <a:t>p </a:t>
            </a:r>
            <a:r>
              <a:rPr lang="en-IN" sz="2200" dirty="0">
                <a:effectLst/>
                <a:latin typeface="Minion"/>
              </a:rPr>
              <a:t>is the Euclidean distance from </a:t>
            </a:r>
            <a:r>
              <a:rPr lang="en-IN" sz="2200" b="1" i="1" dirty="0">
                <a:effectLst/>
                <a:latin typeface="Minion"/>
              </a:rPr>
              <a:t>p </a:t>
            </a:r>
            <a:r>
              <a:rPr lang="en-IN" sz="2200" dirty="0">
                <a:effectLst/>
                <a:latin typeface="Minion"/>
              </a:rPr>
              <a:t>to </a:t>
            </a:r>
            <a:r>
              <a:rPr lang="en-IN" sz="2200" b="1" i="1" dirty="0">
                <a:effectLst/>
                <a:latin typeface="Minion"/>
              </a:rPr>
              <a:t>q</a:t>
            </a:r>
            <a:r>
              <a:rPr lang="en-IN" sz="2200" b="1" dirty="0">
                <a:effectLst/>
                <a:latin typeface="Minion"/>
              </a:rPr>
              <a:t>2 </a:t>
            </a:r>
            <a:r>
              <a:rPr lang="en-IN" sz="2200" dirty="0">
                <a:effectLst/>
                <a:latin typeface="Minion"/>
              </a:rPr>
              <a:t>because this is greater than the core-distance of </a:t>
            </a:r>
            <a:r>
              <a:rPr lang="en-IN" sz="2200" b="1" i="1" dirty="0">
                <a:effectLst/>
                <a:latin typeface="Minion"/>
              </a:rPr>
              <a:t>p</a:t>
            </a:r>
            <a:r>
              <a:rPr lang="en-IN" sz="2200" dirty="0">
                <a:effectLst/>
                <a:latin typeface="Minion"/>
              </a:rPr>
              <a:t>. </a:t>
            </a:r>
            <a:endParaRPr lang="en-IN" sz="2200" dirty="0"/>
          </a:p>
          <a:p>
            <a:pPr algn="just"/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7F99499-8463-A3AF-77EA-CF7D0AF95B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65" t="12354" r="54902" b="60980"/>
          <a:stretch/>
        </p:blipFill>
        <p:spPr>
          <a:xfrm>
            <a:off x="1600200" y="3657600"/>
            <a:ext cx="59436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489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D5DE035-2848-0BC6-CCC1-02FFAE982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>
                <a:effectLst/>
                <a:latin typeface="Minion"/>
              </a:rPr>
              <a:t>OPTICS computes an ordering of all objects in a given database and, for each object in the database, stores the core-distance and a suitable reachability-distance. OPTICS maintains a list called </a:t>
            </a:r>
            <a:r>
              <a:rPr lang="en-IN" sz="1800" dirty="0" err="1">
                <a:effectLst/>
                <a:latin typeface="Minion"/>
              </a:rPr>
              <a:t>OrderSeeds</a:t>
            </a:r>
            <a:r>
              <a:rPr lang="en-IN" sz="1800" dirty="0">
                <a:effectLst/>
                <a:latin typeface="Minion"/>
              </a:rPr>
              <a:t> to generate the output ordering. Objects in Order- Seeds are sorted by the reachability-distance from their respective closest core objects, that is, by the smallest reachability-distance of each object. </a:t>
            </a:r>
            <a:endParaRPr lang="en-IN" dirty="0"/>
          </a:p>
          <a:p>
            <a:r>
              <a:rPr lang="en-IN" sz="1800" dirty="0">
                <a:effectLst/>
                <a:latin typeface="Minion"/>
              </a:rPr>
              <a:t>OPTICS begins with an arbitrary object from the input database as the current object, </a:t>
            </a:r>
            <a:r>
              <a:rPr lang="en-IN" sz="1800" b="1" i="1" dirty="0">
                <a:effectLst/>
                <a:latin typeface="Minion"/>
              </a:rPr>
              <a:t>p</a:t>
            </a:r>
            <a:r>
              <a:rPr lang="en-IN" sz="1800" dirty="0">
                <a:effectLst/>
                <a:latin typeface="Minion"/>
              </a:rPr>
              <a:t>. It retrieves the </a:t>
            </a:r>
            <a:r>
              <a:rPr lang="el-GR" sz="1800" dirty="0">
                <a:effectLst/>
                <a:latin typeface="RMTMI"/>
              </a:rPr>
              <a:t>ε</a:t>
            </a:r>
            <a:r>
              <a:rPr lang="el-GR" sz="1800" dirty="0">
                <a:effectLst/>
                <a:latin typeface="Minion"/>
              </a:rPr>
              <a:t>-</a:t>
            </a:r>
            <a:r>
              <a:rPr lang="en-IN" sz="1800" dirty="0" err="1">
                <a:effectLst/>
                <a:latin typeface="Minion"/>
              </a:rPr>
              <a:t>neighborhood</a:t>
            </a:r>
            <a:r>
              <a:rPr lang="en-IN" sz="1800" dirty="0">
                <a:effectLst/>
                <a:latin typeface="Minion"/>
              </a:rPr>
              <a:t> of </a:t>
            </a:r>
            <a:r>
              <a:rPr lang="en-IN" sz="1800" b="1" i="1" dirty="0">
                <a:effectLst/>
                <a:latin typeface="Minion"/>
              </a:rPr>
              <a:t>p</a:t>
            </a:r>
            <a:r>
              <a:rPr lang="en-IN" sz="1800" dirty="0">
                <a:effectLst/>
                <a:latin typeface="Minion"/>
              </a:rPr>
              <a:t>, determines the core-distance, and sets the reachability-distance to </a:t>
            </a:r>
            <a:r>
              <a:rPr lang="en-IN" sz="1800" i="1" dirty="0">
                <a:effectLst/>
                <a:latin typeface="Minion"/>
              </a:rPr>
              <a:t>undefined</a:t>
            </a:r>
            <a:r>
              <a:rPr lang="en-IN" sz="1800" dirty="0">
                <a:effectLst/>
                <a:latin typeface="Minion"/>
              </a:rPr>
              <a:t>. The current object, </a:t>
            </a:r>
            <a:r>
              <a:rPr lang="en-IN" sz="1800" b="1" i="1" dirty="0">
                <a:effectLst/>
                <a:latin typeface="Minion"/>
              </a:rPr>
              <a:t>p</a:t>
            </a:r>
            <a:r>
              <a:rPr lang="en-IN" sz="1800" dirty="0">
                <a:effectLst/>
                <a:latin typeface="Minion"/>
              </a:rPr>
              <a:t>, is then written to output. 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496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E5EBF0-2C2D-4D76-30BE-9A5F03AF0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in.coursera.org</a:t>
            </a:r>
            <a:r>
              <a:rPr lang="en-US" dirty="0"/>
              <a:t>/lecture/cluster-analysis/5-3-optics-ordering-points-to-identify-clustering-structure-JiYeI</a:t>
            </a:r>
          </a:p>
        </p:txBody>
      </p:sp>
    </p:spTree>
    <p:extLst>
      <p:ext uri="{BB962C8B-B14F-4D97-AF65-F5344CB8AC3E}">
        <p14:creationId xmlns:p14="http://schemas.microsoft.com/office/powerpoint/2010/main" val="1093319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BD5A224905B34196C5C872560CE977" ma:contentTypeVersion="5" ma:contentTypeDescription="Create a new document." ma:contentTypeScope="" ma:versionID="13de268a65433674b014f099dec85178">
  <xsd:schema xmlns:xsd="http://www.w3.org/2001/XMLSchema" xmlns:xs="http://www.w3.org/2001/XMLSchema" xmlns:p="http://schemas.microsoft.com/office/2006/metadata/properties" xmlns:ns2="4eef6f31-7617-4889-8d39-a9ac36c690dc" targetNamespace="http://schemas.microsoft.com/office/2006/metadata/properties" ma:root="true" ma:fieldsID="0b93d5231c568789c4a9c766c8fffe7c" ns2:_="">
    <xsd:import namespace="4eef6f31-7617-4889-8d39-a9ac36c690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f6f31-7617-4889-8d39-a9ac36c690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6FDC23E-D6FE-4502-930E-E40A3740CCC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3E7ABCF-95DD-40D2-B0A9-882C8240001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23DC1E-7132-463B-AB87-CD3736D11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ef6f31-7617-4889-8d39-a9ac36c690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3218</TotalTime>
  <Words>695</Words>
  <Application>Microsoft Office PowerPoint</Application>
  <PresentationFormat>On-screen Show (4:3)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GillSans</vt:lpstr>
      <vt:lpstr>Minion</vt:lpstr>
      <vt:lpstr>MTSY</vt:lpstr>
      <vt:lpstr>RMTMI</vt:lpstr>
      <vt:lpstr>source-serif-pro</vt:lpstr>
      <vt:lpstr>urw-din</vt:lpstr>
      <vt:lpstr>Office Theme</vt:lpstr>
      <vt:lpstr>Clustering</vt:lpstr>
      <vt:lpstr>PowerPoint Presentation</vt:lpstr>
      <vt:lpstr>Density Based Methods </vt:lpstr>
      <vt:lpstr>DBSCAN: Density-Based Spatial Clustering of Applications with Noise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Clustering</dc:title>
  <dc:creator>Rose, John R</dc:creator>
  <cp:lastModifiedBy>Microsoft account</cp:lastModifiedBy>
  <cp:revision>84</cp:revision>
  <dcterms:created xsi:type="dcterms:W3CDTF">2015-02-02T18:43:07Z</dcterms:created>
  <dcterms:modified xsi:type="dcterms:W3CDTF">2025-02-25T06:56:26Z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0x01010056BD5A224905B34196C5C872560CE977</vt:lpwstr>
  </property>
</Properties>
</file>