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1"/>
  </p:notesMasterIdLst>
  <p:sldIdLst>
    <p:sldId id="378" r:id="rId2"/>
    <p:sldId id="370" r:id="rId3"/>
    <p:sldId id="343" r:id="rId4"/>
    <p:sldId id="349" r:id="rId5"/>
    <p:sldId id="399" r:id="rId6"/>
    <p:sldId id="388" r:id="rId7"/>
    <p:sldId id="380" r:id="rId8"/>
    <p:sldId id="389" r:id="rId9"/>
    <p:sldId id="390" r:id="rId10"/>
    <p:sldId id="400" r:id="rId11"/>
    <p:sldId id="401" r:id="rId12"/>
    <p:sldId id="402" r:id="rId13"/>
    <p:sldId id="403" r:id="rId14"/>
    <p:sldId id="404" r:id="rId15"/>
    <p:sldId id="405" r:id="rId16"/>
    <p:sldId id="406" r:id="rId17"/>
    <p:sldId id="407" r:id="rId18"/>
    <p:sldId id="408" r:id="rId19"/>
    <p:sldId id="409"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8" autoAdjust="0"/>
    <p:restoredTop sz="94800" autoAdjust="0"/>
  </p:normalViewPr>
  <p:slideViewPr>
    <p:cSldViewPr>
      <p:cViewPr varScale="1">
        <p:scale>
          <a:sx n="81" d="100"/>
          <a:sy n="81" d="100"/>
        </p:scale>
        <p:origin x="1498" y="53"/>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67" d="100"/>
          <a:sy n="67" d="100"/>
        </p:scale>
        <p:origin x="-3154" y="-7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E113BE-3C8C-4774-98F2-7343BB3D1BDE}" type="datetimeFigureOut">
              <a:rPr lang="en-US" smtClean="0"/>
              <a:t>2/25/2025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043CDA-3097-4E2E-BD0B-D0C657BB452D}" type="slidenum">
              <a:rPr lang="en-US" smtClean="0"/>
              <a:t>‹#›</a:t>
            </a:fld>
            <a:endParaRPr lang="en-US"/>
          </a:p>
        </p:txBody>
      </p:sp>
    </p:spTree>
    <p:extLst>
      <p:ext uri="{BB962C8B-B14F-4D97-AF65-F5344CB8AC3E}">
        <p14:creationId xmlns:p14="http://schemas.microsoft.com/office/powerpoint/2010/main" val="3197489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https://docs.oracle.com/javase/tutorial/java/IandI/createinterface.html</a:t>
            </a:r>
          </a:p>
        </p:txBody>
      </p:sp>
      <p:sp>
        <p:nvSpPr>
          <p:cNvPr id="4" name="Slide Number Placeholder 3"/>
          <p:cNvSpPr>
            <a:spLocks noGrp="1"/>
          </p:cNvSpPr>
          <p:nvPr>
            <p:ph type="sldNum" sz="quarter" idx="10"/>
          </p:nvPr>
        </p:nvSpPr>
        <p:spPr/>
        <p:txBody>
          <a:bodyPr/>
          <a:lstStyle/>
          <a:p>
            <a:fld id="{6C043CDA-3097-4E2E-BD0B-D0C657BB452D}" type="slidenum">
              <a:rPr lang="en-US" smtClean="0"/>
              <a:t>6</a:t>
            </a:fld>
            <a:endParaRPr lang="en-US"/>
          </a:p>
        </p:txBody>
      </p:sp>
    </p:spTree>
    <p:extLst>
      <p:ext uri="{BB962C8B-B14F-4D97-AF65-F5344CB8AC3E}">
        <p14:creationId xmlns:p14="http://schemas.microsoft.com/office/powerpoint/2010/main" val="4032970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C043CDA-3097-4E2E-BD0B-D0C657BB452D}" type="slidenum">
              <a:rPr lang="en-US" smtClean="0"/>
              <a:t>9</a:t>
            </a:fld>
            <a:endParaRPr lang="en-US"/>
          </a:p>
        </p:txBody>
      </p:sp>
    </p:spTree>
    <p:extLst>
      <p:ext uri="{BB962C8B-B14F-4D97-AF65-F5344CB8AC3E}">
        <p14:creationId xmlns:p14="http://schemas.microsoft.com/office/powerpoint/2010/main" val="9564018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4D3633-CF8E-4930-B9D8-5F1EB9DA1940}" type="datetime1">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DD72AB-36A5-4126-9530-DA8CA6890A71}" type="slidenum">
              <a:rPr lang="en-US" smtClean="0"/>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pic>
        <p:nvPicPr>
          <p:cNvPr id="307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62575" y="5648325"/>
            <a:ext cx="3781425" cy="1209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79788-2440-4722-84BE-053CF3516AB2}" type="datetime1">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DD72AB-36A5-4126-9530-DA8CA6890A7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13A4E1-5434-4E47-84B2-402A5895C202}" type="datetime1">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DD72AB-36A5-4126-9530-DA8CA6890A71}"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1C3847-468A-4F5F-86FD-03062AC4DC63}" type="datetime1">
              <a:rPr lang="en-US" smtClean="0"/>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DD72AB-36A5-4126-9530-DA8CA6890A7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B509D6-59CE-4E9C-8203-6CBEFF834425}" type="datetime1">
              <a:rPr lang="en-US" smtClean="0"/>
              <a:t>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5DD72AB-36A5-4126-9530-DA8CA6890A71}"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A59D3B3-57FA-4815-A553-9C78056592E0}" type="datetime1">
              <a:rPr lang="en-US" smtClean="0"/>
              <a:t>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5DD72AB-36A5-4126-9530-DA8CA6890A7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8273DB-1C85-40DE-8FB5-C4DA7BD6F063}" type="datetime1">
              <a:rPr lang="en-US" smtClean="0"/>
              <a:t>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5DD72AB-36A5-4126-9530-DA8CA6890A7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A94C94-6C87-4F8B-8A18-47285812AAE6}" type="datetime1">
              <a:rPr lang="en-US" smtClean="0"/>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DD72AB-36A5-4126-9530-DA8CA6890A71}"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6A34C8-6778-42F1-8AD6-3DAE50BE8544}" type="datetime1">
              <a:rPr lang="en-US" smtClean="0"/>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DD72AB-36A5-4126-9530-DA8CA6890A7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104B97-E140-49FC-A0C1-198A96143596}" type="datetime1">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DD72AB-36A5-4126-9530-DA8CA6890A7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741F6F-0111-4EEA-A657-C1DA39B88BBF}" type="datetime1">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DD72AB-36A5-4126-9530-DA8CA6890A7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221BA5C0-87F9-443C-8061-411B1C6DC2D3}" type="datetime1">
              <a:rPr lang="en-US" smtClean="0"/>
              <a:t>2/25/2025</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F5DD72AB-36A5-4126-9530-DA8CA6890A71}" type="slidenum">
              <a:rPr lang="en-US" smtClean="0"/>
              <a:t>‹#›</a:t>
            </a:fld>
            <a:endParaRPr lang="en-US"/>
          </a:p>
        </p:txBody>
      </p:sp>
      <p:sp>
        <p:nvSpPr>
          <p:cNvPr id="11" name="Slide Number Placeholder 4"/>
          <p:cNvSpPr txBox="1">
            <a:spLocks/>
          </p:cNvSpPr>
          <p:nvPr/>
        </p:nvSpPr>
        <p:spPr>
          <a:xfrm>
            <a:off x="15240" y="6528816"/>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oracle.com/javase/8/docs/api/java/util/Arrays.html" TargetMode="External"/><Relationship Id="rId2" Type="http://schemas.openxmlformats.org/officeDocument/2006/relationships/hyperlink" Target="https://docs.oracle.com/javase/8/docs/api/java/lang/reflect/Array.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docs.oracle.com/en/java/javase/17/docs/api/java.base/java/util/ArrayList.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docs.oracle.com/javase/8/docs/api/java/util/Vector.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9144000" cy="6477000"/>
          </a:xfrm>
        </p:spPr>
        <p:txBody>
          <a:bodyPr/>
          <a:lstStyle/>
          <a:p>
            <a:endParaRPr lang="en-US" dirty="0"/>
          </a:p>
        </p:txBody>
      </p:sp>
      <p:sp>
        <p:nvSpPr>
          <p:cNvPr id="3" name="Slide Number Placeholder 2"/>
          <p:cNvSpPr>
            <a:spLocks noGrp="1"/>
          </p:cNvSpPr>
          <p:nvPr>
            <p:ph type="sldNum" sz="quarter" idx="12"/>
          </p:nvPr>
        </p:nvSpPr>
        <p:spPr/>
        <p:txBody>
          <a:bodyPr/>
          <a:lstStyle/>
          <a:p>
            <a:fld id="{F5DD72AB-36A5-4126-9530-DA8CA6890A71}" type="slidenum">
              <a:rPr lang="en-US" smtClean="0"/>
              <a:t>1</a:t>
            </a:fld>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9144000" cy="6477000"/>
          </a:xfrm>
          <a:prstGeom prst="rect">
            <a:avLst/>
          </a:prstGeom>
        </p:spPr>
      </p:pic>
    </p:spTree>
    <p:extLst>
      <p:ext uri="{BB962C8B-B14F-4D97-AF65-F5344CB8AC3E}">
        <p14:creationId xmlns:p14="http://schemas.microsoft.com/office/powerpoint/2010/main" val="1296567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Unit II: Inheritance, Abstract Class, Interfaces and Packages</a:t>
            </a:r>
          </a:p>
        </p:txBody>
      </p:sp>
      <p:sp>
        <p:nvSpPr>
          <p:cNvPr id="3" name="Content Placeholder 2"/>
          <p:cNvSpPr>
            <a:spLocks noGrp="1"/>
          </p:cNvSpPr>
          <p:nvPr>
            <p:ph idx="1"/>
          </p:nvPr>
        </p:nvSpPr>
        <p:spPr/>
        <p:txBody>
          <a:bodyPr>
            <a:normAutofit/>
          </a:bodyPr>
          <a:lstStyle/>
          <a:p>
            <a:r>
              <a:rPr lang="en-IN" dirty="0"/>
              <a:t>Inheritance, types: single, multi-level, hierarchical inheritance, use of this and super keyword, super constructor, final variables, final methods and classes, Abstract keyword, abstract methods and classes, method overloading, method overriding. Dynamic Method Dispatch, Interfaces, implementing and extending and accessing interface variables. Java packages, importing packages, access control and modifiers. Arrays, </a:t>
            </a:r>
            <a:r>
              <a:rPr lang="en-IN" dirty="0" err="1"/>
              <a:t>Arraylist</a:t>
            </a:r>
            <a:r>
              <a:rPr lang="en-IN" dirty="0"/>
              <a:t>, vector, garbage collector, java miscellaneous: String, String Buffer class, String Tokenizer</a:t>
            </a:r>
            <a:endParaRPr lang="en-US" dirty="0"/>
          </a:p>
        </p:txBody>
      </p:sp>
      <p:sp>
        <p:nvSpPr>
          <p:cNvPr id="4" name="Slide Number Placeholder 3"/>
          <p:cNvSpPr>
            <a:spLocks noGrp="1"/>
          </p:cNvSpPr>
          <p:nvPr>
            <p:ph type="sldNum" sz="quarter" idx="12"/>
          </p:nvPr>
        </p:nvSpPr>
        <p:spPr/>
        <p:txBody>
          <a:bodyPr/>
          <a:lstStyle/>
          <a:p>
            <a:fld id="{F5DD72AB-36A5-4126-9530-DA8CA6890A71}" type="slidenum">
              <a:rPr lang="en-US" smtClean="0"/>
              <a:t>2</a:t>
            </a:fld>
            <a:endParaRPr lang="en-US"/>
          </a:p>
        </p:txBody>
      </p:sp>
    </p:spTree>
    <p:extLst>
      <p:ext uri="{BB962C8B-B14F-4D97-AF65-F5344CB8AC3E}">
        <p14:creationId xmlns:p14="http://schemas.microsoft.com/office/powerpoint/2010/main" val="3973092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 Types</a:t>
            </a:r>
          </a:p>
        </p:txBody>
      </p:sp>
      <p:sp>
        <p:nvSpPr>
          <p:cNvPr id="4" name="Slide Number Placeholder 3"/>
          <p:cNvSpPr>
            <a:spLocks noGrp="1"/>
          </p:cNvSpPr>
          <p:nvPr>
            <p:ph type="sldNum" sz="quarter" idx="12"/>
          </p:nvPr>
        </p:nvSpPr>
        <p:spPr/>
        <p:txBody>
          <a:bodyPr/>
          <a:lstStyle/>
          <a:p>
            <a:fld id="{F5DD72AB-36A5-4126-9530-DA8CA6890A71}" type="slidenum">
              <a:rPr lang="en-US" smtClean="0"/>
              <a:t>3</a:t>
            </a:fld>
            <a:endParaRPr lang="en-US"/>
          </a:p>
        </p:txBody>
      </p:sp>
      <p:pic>
        <p:nvPicPr>
          <p:cNvPr id="1026" name="Picture 2" descr="Types of inheritance in Java">
            <a:extLst>
              <a:ext uri="{FF2B5EF4-FFF2-40B4-BE49-F238E27FC236}">
                <a16:creationId xmlns:a16="http://schemas.microsoft.com/office/drawing/2014/main" id="{958AC0F5-D8FE-D17B-F242-A3D42ADF2C4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0125" y="2143125"/>
            <a:ext cx="7143750" cy="3790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447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Inheritance Types</a:t>
            </a:r>
          </a:p>
        </p:txBody>
      </p:sp>
      <p:sp>
        <p:nvSpPr>
          <p:cNvPr id="4" name="Slide Number Placeholder 3"/>
          <p:cNvSpPr>
            <a:spLocks noGrp="1"/>
          </p:cNvSpPr>
          <p:nvPr>
            <p:ph type="sldNum" sz="quarter" idx="12"/>
          </p:nvPr>
        </p:nvSpPr>
        <p:spPr/>
        <p:txBody>
          <a:bodyPr/>
          <a:lstStyle/>
          <a:p>
            <a:fld id="{F5DD72AB-36A5-4126-9530-DA8CA6890A71}" type="slidenum">
              <a:rPr lang="en-US" smtClean="0"/>
              <a:t>4</a:t>
            </a:fld>
            <a:endParaRPr lang="en-US"/>
          </a:p>
        </p:txBody>
      </p:sp>
      <p:cxnSp>
        <p:nvCxnSpPr>
          <p:cNvPr id="10" name="Straight Connector 9"/>
          <p:cNvCxnSpPr>
            <a:cxnSpLocks/>
          </p:cNvCxnSpPr>
          <p:nvPr/>
        </p:nvCxnSpPr>
        <p:spPr>
          <a:xfrm>
            <a:off x="4572000" y="2743200"/>
            <a:ext cx="0" cy="304800"/>
          </a:xfrm>
          <a:prstGeom prst="line">
            <a:avLst/>
          </a:prstGeom>
          <a:ln/>
        </p:spPr>
        <p:style>
          <a:lnRef idx="1">
            <a:schemeClr val="dk1"/>
          </a:lnRef>
          <a:fillRef idx="0">
            <a:schemeClr val="dk1"/>
          </a:fillRef>
          <a:effectRef idx="0">
            <a:schemeClr val="dk1"/>
          </a:effectRef>
          <a:fontRef idx="minor">
            <a:schemeClr val="tx1"/>
          </a:fontRef>
        </p:style>
      </p:cxnSp>
      <p:pic>
        <p:nvPicPr>
          <p:cNvPr id="2050" name="Picture 2" descr="Multiple inheritance in Java">
            <a:extLst>
              <a:ext uri="{FF2B5EF4-FFF2-40B4-BE49-F238E27FC236}">
                <a16:creationId xmlns:a16="http://schemas.microsoft.com/office/drawing/2014/main" id="{3F0E333A-7D36-77C0-B498-5868835BEC8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6325" y="2076450"/>
            <a:ext cx="6991350" cy="392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392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1F9B4-4914-9E41-7623-0CE38232390B}"/>
              </a:ext>
            </a:extLst>
          </p:cNvPr>
          <p:cNvSpPr>
            <a:spLocks noGrp="1"/>
          </p:cNvSpPr>
          <p:nvPr>
            <p:ph type="title"/>
          </p:nvPr>
        </p:nvSpPr>
        <p:spPr/>
        <p:txBody>
          <a:bodyPr/>
          <a:lstStyle/>
          <a:p>
            <a:r>
              <a:rPr lang="en-US" dirty="0"/>
              <a:t>Inheritance in Java</a:t>
            </a:r>
            <a:endParaRPr lang="en-IN" dirty="0"/>
          </a:p>
        </p:txBody>
      </p:sp>
      <p:sp>
        <p:nvSpPr>
          <p:cNvPr id="3" name="Content Placeholder 2">
            <a:extLst>
              <a:ext uri="{FF2B5EF4-FFF2-40B4-BE49-F238E27FC236}">
                <a16:creationId xmlns:a16="http://schemas.microsoft.com/office/drawing/2014/main" id="{71EDDE70-90FF-724A-CB90-0663200C52A0}"/>
              </a:ext>
            </a:extLst>
          </p:cNvPr>
          <p:cNvSpPr>
            <a:spLocks noGrp="1"/>
          </p:cNvSpPr>
          <p:nvPr>
            <p:ph idx="1"/>
          </p:nvPr>
        </p:nvSpPr>
        <p:spPr/>
        <p:txBody>
          <a:bodyPr/>
          <a:lstStyle/>
          <a:p>
            <a:r>
              <a:rPr lang="en-US" dirty="0"/>
              <a:t>Java supports:</a:t>
            </a:r>
          </a:p>
          <a:p>
            <a:pPr lvl="1"/>
            <a:r>
              <a:rPr lang="en-US" dirty="0"/>
              <a:t>Single inheritance</a:t>
            </a:r>
          </a:p>
          <a:p>
            <a:pPr lvl="1"/>
            <a:r>
              <a:rPr lang="en-US" dirty="0"/>
              <a:t>Multilevel inheritance</a:t>
            </a:r>
          </a:p>
          <a:p>
            <a:pPr lvl="1"/>
            <a:r>
              <a:rPr lang="en-US" dirty="0"/>
              <a:t>Hierarchical inheritance</a:t>
            </a:r>
          </a:p>
          <a:p>
            <a:r>
              <a:rPr lang="en-US" dirty="0"/>
              <a:t>Multiple inheritance can be achieved with the help of interfaces.</a:t>
            </a:r>
          </a:p>
          <a:p>
            <a:pPr lvl="1"/>
            <a:endParaRPr lang="en-IN" dirty="0"/>
          </a:p>
        </p:txBody>
      </p:sp>
      <p:sp>
        <p:nvSpPr>
          <p:cNvPr id="4" name="Slide Number Placeholder 3">
            <a:extLst>
              <a:ext uri="{FF2B5EF4-FFF2-40B4-BE49-F238E27FC236}">
                <a16:creationId xmlns:a16="http://schemas.microsoft.com/office/drawing/2014/main" id="{5D06B99A-6A89-4B92-2778-BEFF73E9CB67}"/>
              </a:ext>
            </a:extLst>
          </p:cNvPr>
          <p:cNvSpPr>
            <a:spLocks noGrp="1"/>
          </p:cNvSpPr>
          <p:nvPr>
            <p:ph type="sldNum" sz="quarter" idx="12"/>
          </p:nvPr>
        </p:nvSpPr>
        <p:spPr/>
        <p:txBody>
          <a:bodyPr/>
          <a:lstStyle/>
          <a:p>
            <a:fld id="{F5DD72AB-36A5-4126-9530-DA8CA6890A71}" type="slidenum">
              <a:rPr lang="en-US" smtClean="0"/>
              <a:t>5</a:t>
            </a:fld>
            <a:endParaRPr lang="en-US"/>
          </a:p>
        </p:txBody>
      </p:sp>
    </p:spTree>
    <p:extLst>
      <p:ext uri="{BB962C8B-B14F-4D97-AF65-F5344CB8AC3E}">
        <p14:creationId xmlns:p14="http://schemas.microsoft.com/office/powerpoint/2010/main" val="2852419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Interfaces</a:t>
            </a:r>
          </a:p>
        </p:txBody>
      </p:sp>
      <p:sp>
        <p:nvSpPr>
          <p:cNvPr id="3" name="Content Placeholder 2"/>
          <p:cNvSpPr>
            <a:spLocks noGrp="1"/>
          </p:cNvSpPr>
          <p:nvPr>
            <p:ph idx="1"/>
          </p:nvPr>
        </p:nvSpPr>
        <p:spPr/>
        <p:txBody>
          <a:bodyPr>
            <a:normAutofit fontScale="92500" lnSpcReduction="20000"/>
          </a:bodyPr>
          <a:lstStyle/>
          <a:p>
            <a:r>
              <a:rPr lang="en-US" dirty="0"/>
              <a:t>An interface is a contract of a class with outside world.</a:t>
            </a:r>
          </a:p>
          <a:p>
            <a:pPr marL="274320" lvl="1" indent="0">
              <a:buNone/>
            </a:pPr>
            <a:r>
              <a:rPr lang="en-US" dirty="0"/>
              <a:t>E.g. the buttons on TV set are the interfaces of humans to the TV wiring and circuitry.</a:t>
            </a:r>
          </a:p>
          <a:p>
            <a:r>
              <a:rPr lang="en-US" dirty="0"/>
              <a:t>In Java, an interface provides a way to implement multiple inheritance.</a:t>
            </a:r>
          </a:p>
          <a:p>
            <a:r>
              <a:rPr lang="en-US" dirty="0"/>
              <a:t>A class “implements” one or more interfaces and provides specific behavior using implementations of methods inside the interfaces.</a:t>
            </a:r>
          </a:p>
          <a:p>
            <a:pPr marL="274320" lvl="1" indent="0">
              <a:buNone/>
            </a:pPr>
            <a:r>
              <a:rPr lang="en-US" sz="1700" dirty="0"/>
              <a:t>E.g. interface </a:t>
            </a:r>
            <a:r>
              <a:rPr lang="en-US" sz="1700" dirty="0" err="1"/>
              <a:t>Drawable</a:t>
            </a:r>
            <a:r>
              <a:rPr lang="en-US" sz="1700" dirty="0"/>
              <a:t> {</a:t>
            </a:r>
          </a:p>
          <a:p>
            <a:pPr marL="274320" lvl="1" indent="0">
              <a:buNone/>
            </a:pPr>
            <a:r>
              <a:rPr lang="en-US" sz="1700" dirty="0"/>
              <a:t>	public void draw();</a:t>
            </a:r>
          </a:p>
          <a:p>
            <a:pPr marL="274320" lvl="1" indent="0">
              <a:buNone/>
            </a:pPr>
            <a:r>
              <a:rPr lang="en-US" sz="1700" dirty="0"/>
              <a:t>}</a:t>
            </a:r>
          </a:p>
          <a:p>
            <a:pPr marL="274320" lvl="1" indent="0">
              <a:buNone/>
            </a:pPr>
            <a:r>
              <a:rPr lang="en-US" sz="1700" dirty="0"/>
              <a:t>class Shape implements </a:t>
            </a:r>
            <a:r>
              <a:rPr lang="en-US" sz="1700" dirty="0" err="1"/>
              <a:t>Drawable</a:t>
            </a:r>
            <a:r>
              <a:rPr lang="en-US" sz="1700" dirty="0"/>
              <a:t>{</a:t>
            </a:r>
          </a:p>
          <a:p>
            <a:pPr marL="274320" lvl="1" indent="0">
              <a:buNone/>
            </a:pPr>
            <a:r>
              <a:rPr lang="en-US" sz="1700" dirty="0"/>
              <a:t>	public void Draw() { </a:t>
            </a:r>
            <a:r>
              <a:rPr lang="en-US" sz="1700" dirty="0" err="1"/>
              <a:t>System.out.println</a:t>
            </a:r>
            <a:r>
              <a:rPr lang="en-US" sz="1700" dirty="0"/>
              <a:t>(“I’m drawing a shape.”); }</a:t>
            </a:r>
          </a:p>
          <a:p>
            <a:pPr marL="274320" lvl="1" indent="0">
              <a:buNone/>
            </a:pPr>
            <a:r>
              <a:rPr lang="en-US" sz="1700" dirty="0"/>
              <a:t>}</a:t>
            </a:r>
          </a:p>
          <a:p>
            <a:r>
              <a:rPr lang="en-US" dirty="0"/>
              <a:t>In Java, an interface contains abstract, default and static methods, and constants.</a:t>
            </a:r>
          </a:p>
        </p:txBody>
      </p:sp>
      <p:sp>
        <p:nvSpPr>
          <p:cNvPr id="4" name="Slide Number Placeholder 3"/>
          <p:cNvSpPr>
            <a:spLocks noGrp="1"/>
          </p:cNvSpPr>
          <p:nvPr>
            <p:ph type="sldNum" sz="quarter" idx="12"/>
          </p:nvPr>
        </p:nvSpPr>
        <p:spPr/>
        <p:txBody>
          <a:bodyPr/>
          <a:lstStyle/>
          <a:p>
            <a:fld id="{F5DD72AB-36A5-4126-9530-DA8CA6890A71}" type="slidenum">
              <a:rPr lang="en-US" smtClean="0"/>
              <a:t>6</a:t>
            </a:fld>
            <a:endParaRPr lang="en-US"/>
          </a:p>
        </p:txBody>
      </p:sp>
    </p:spTree>
    <p:extLst>
      <p:ext uri="{BB962C8B-B14F-4D97-AF65-F5344CB8AC3E}">
        <p14:creationId xmlns:p14="http://schemas.microsoft.com/office/powerpoint/2010/main" val="3647153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Interfaces</a:t>
            </a:r>
          </a:p>
        </p:txBody>
      </p:sp>
      <p:sp>
        <p:nvSpPr>
          <p:cNvPr id="3" name="Content Placeholder 2"/>
          <p:cNvSpPr>
            <a:spLocks noGrp="1"/>
          </p:cNvSpPr>
          <p:nvPr>
            <p:ph idx="1"/>
          </p:nvPr>
        </p:nvSpPr>
        <p:spPr/>
        <p:txBody>
          <a:bodyPr>
            <a:normAutofit fontScale="92500" lnSpcReduction="20000"/>
          </a:bodyPr>
          <a:lstStyle/>
          <a:p>
            <a:r>
              <a:rPr lang="en-US" sz="2800" dirty="0"/>
              <a:t>Similar to abstract classes, interfaces contain abstract methods too.</a:t>
            </a:r>
          </a:p>
          <a:p>
            <a:r>
              <a:rPr lang="en-US" sz="2800" dirty="0"/>
              <a:t>A class can implement multiple interfaces allowing multiple inheritance.</a:t>
            </a:r>
          </a:p>
          <a:p>
            <a:r>
              <a:rPr lang="en-US" sz="2800" dirty="0"/>
              <a:t>An interface defines default and static methods.</a:t>
            </a:r>
          </a:p>
          <a:p>
            <a:pPr lvl="1"/>
            <a:r>
              <a:rPr lang="en-US" sz="2400" dirty="0"/>
              <a:t>A default method can be overridden by the implementing class.</a:t>
            </a:r>
          </a:p>
          <a:p>
            <a:pPr lvl="1"/>
            <a:r>
              <a:rPr lang="en-US" sz="2400" dirty="0"/>
              <a:t>A static method cannot be overridden.</a:t>
            </a:r>
          </a:p>
          <a:p>
            <a:r>
              <a:rPr lang="en-US" sz="2800" dirty="0"/>
              <a:t>An interface cannot have regular(instance) data members; only static, final, public members can be defined.</a:t>
            </a:r>
          </a:p>
          <a:p>
            <a:r>
              <a:rPr lang="en-US" sz="2800" dirty="0"/>
              <a:t>All interface methods are public and abstract by default.</a:t>
            </a:r>
          </a:p>
          <a:p>
            <a:endParaRPr lang="en-US" sz="2800" dirty="0"/>
          </a:p>
        </p:txBody>
      </p:sp>
      <p:sp>
        <p:nvSpPr>
          <p:cNvPr id="4" name="Slide Number Placeholder 3"/>
          <p:cNvSpPr>
            <a:spLocks noGrp="1"/>
          </p:cNvSpPr>
          <p:nvPr>
            <p:ph type="sldNum" sz="quarter" idx="12"/>
          </p:nvPr>
        </p:nvSpPr>
        <p:spPr/>
        <p:txBody>
          <a:bodyPr/>
          <a:lstStyle/>
          <a:p>
            <a:fld id="{F5DD72AB-36A5-4126-9530-DA8CA6890A71}" type="slidenum">
              <a:rPr lang="en-US" smtClean="0"/>
              <a:t>7</a:t>
            </a:fld>
            <a:endParaRPr lang="en-US"/>
          </a:p>
        </p:txBody>
      </p:sp>
    </p:spTree>
    <p:extLst>
      <p:ext uri="{BB962C8B-B14F-4D97-AF65-F5344CB8AC3E}">
        <p14:creationId xmlns:p14="http://schemas.microsoft.com/office/powerpoint/2010/main" val="2624626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a:t>
            </a:r>
          </a:p>
        </p:txBody>
      </p:sp>
      <p:sp>
        <p:nvSpPr>
          <p:cNvPr id="3" name="Content Placeholder 2"/>
          <p:cNvSpPr>
            <a:spLocks noGrp="1"/>
          </p:cNvSpPr>
          <p:nvPr>
            <p:ph idx="1"/>
          </p:nvPr>
        </p:nvSpPr>
        <p:spPr/>
        <p:txBody>
          <a:bodyPr/>
          <a:lstStyle/>
          <a:p>
            <a:r>
              <a:rPr lang="en-US" dirty="0"/>
              <a:t>Packages are namespaces used to organize related classes and interfaces.</a:t>
            </a:r>
          </a:p>
          <a:p>
            <a:r>
              <a:rPr lang="en-US" dirty="0"/>
              <a:t>Similar to folders on a disk.</a:t>
            </a:r>
          </a:p>
          <a:p>
            <a:r>
              <a:rPr lang="en-US" dirty="0"/>
              <a:t>Java class library provides hundreds of packages and classes to make the programmer’s life easy. They are called “Application Programming Interfaces”(APIs).</a:t>
            </a:r>
          </a:p>
          <a:p>
            <a:pPr lvl="1"/>
            <a:r>
              <a:rPr lang="en-US" dirty="0"/>
              <a:t>E.g. String, File, Socket, </a:t>
            </a:r>
            <a:r>
              <a:rPr lang="en-US" dirty="0" err="1"/>
              <a:t>IOStream</a:t>
            </a:r>
            <a:r>
              <a:rPr lang="en-US"/>
              <a:t> etc</a:t>
            </a:r>
            <a:r>
              <a:rPr lang="en-US" dirty="0"/>
              <a:t>.</a:t>
            </a:r>
          </a:p>
        </p:txBody>
      </p:sp>
      <p:sp>
        <p:nvSpPr>
          <p:cNvPr id="4" name="Slide Number Placeholder 3"/>
          <p:cNvSpPr>
            <a:spLocks noGrp="1"/>
          </p:cNvSpPr>
          <p:nvPr>
            <p:ph type="sldNum" sz="quarter" idx="12"/>
          </p:nvPr>
        </p:nvSpPr>
        <p:spPr/>
        <p:txBody>
          <a:bodyPr/>
          <a:lstStyle/>
          <a:p>
            <a:fld id="{F5DD72AB-36A5-4126-9530-DA8CA6890A71}" type="slidenum">
              <a:rPr lang="en-US" smtClean="0"/>
              <a:t>8</a:t>
            </a:fld>
            <a:endParaRPr lang="en-US"/>
          </a:p>
        </p:txBody>
      </p:sp>
    </p:spTree>
    <p:extLst>
      <p:ext uri="{BB962C8B-B14F-4D97-AF65-F5344CB8AC3E}">
        <p14:creationId xmlns:p14="http://schemas.microsoft.com/office/powerpoint/2010/main" val="2063236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this, static and super keywords</a:t>
            </a:r>
          </a:p>
        </p:txBody>
      </p:sp>
      <p:sp>
        <p:nvSpPr>
          <p:cNvPr id="3" name="Content Placeholder 2"/>
          <p:cNvSpPr>
            <a:spLocks noGrp="1"/>
          </p:cNvSpPr>
          <p:nvPr>
            <p:ph idx="1"/>
          </p:nvPr>
        </p:nvSpPr>
        <p:spPr/>
        <p:txBody>
          <a:bodyPr/>
          <a:lstStyle/>
          <a:p>
            <a:r>
              <a:rPr lang="en-US" dirty="0"/>
              <a:t>“this” keyword is used when JRE may get confused between variable names and class member names.</a:t>
            </a:r>
          </a:p>
          <a:p>
            <a:r>
              <a:rPr lang="en-US" dirty="0"/>
              <a:t>“static” keyword is used when a variable or method needs to be referenced without the class instance.</a:t>
            </a:r>
          </a:p>
          <a:p>
            <a:r>
              <a:rPr lang="en-US" dirty="0"/>
              <a:t>“super” keyword is used to refer to a parent class constructor, method or member variable.</a:t>
            </a:r>
          </a:p>
          <a:p>
            <a:r>
              <a:rPr lang="en-US" dirty="0"/>
              <a:t>In the child class constructor, “super” should be the first keyword before other statements are written.</a:t>
            </a:r>
          </a:p>
          <a:p>
            <a:r>
              <a:rPr lang="en-US" dirty="0"/>
              <a:t>“super” keyword cannot be used in a static method or for a static </a:t>
            </a:r>
            <a:r>
              <a:rPr lang="en-US"/>
              <a:t>member initialization.</a:t>
            </a: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F5DD72AB-36A5-4126-9530-DA8CA6890A71}" type="slidenum">
              <a:rPr lang="en-US" smtClean="0"/>
              <a:t>9</a:t>
            </a:fld>
            <a:endParaRPr lang="en-US"/>
          </a:p>
        </p:txBody>
      </p:sp>
    </p:spTree>
    <p:extLst>
      <p:ext uri="{BB962C8B-B14F-4D97-AF65-F5344CB8AC3E}">
        <p14:creationId xmlns:p14="http://schemas.microsoft.com/office/powerpoint/2010/main" val="3599415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23597-00D4-9C8D-082A-330F6B8F7BA0}"/>
              </a:ext>
            </a:extLst>
          </p:cNvPr>
          <p:cNvSpPr>
            <a:spLocks noGrp="1"/>
          </p:cNvSpPr>
          <p:nvPr>
            <p:ph type="title"/>
          </p:nvPr>
        </p:nvSpPr>
        <p:spPr/>
        <p:txBody>
          <a:bodyPr/>
          <a:lstStyle/>
          <a:p>
            <a:r>
              <a:rPr lang="en-US" dirty="0"/>
              <a:t>Final methods and Classes </a:t>
            </a:r>
            <a:endParaRPr lang="en-IN" dirty="0"/>
          </a:p>
        </p:txBody>
      </p:sp>
      <p:sp>
        <p:nvSpPr>
          <p:cNvPr id="3" name="Content Placeholder 2">
            <a:extLst>
              <a:ext uri="{FF2B5EF4-FFF2-40B4-BE49-F238E27FC236}">
                <a16:creationId xmlns:a16="http://schemas.microsoft.com/office/drawing/2014/main" id="{08AC743A-E9D0-8BC6-9848-D41B144DD12F}"/>
              </a:ext>
            </a:extLst>
          </p:cNvPr>
          <p:cNvSpPr>
            <a:spLocks noGrp="1"/>
          </p:cNvSpPr>
          <p:nvPr>
            <p:ph idx="1"/>
          </p:nvPr>
        </p:nvSpPr>
        <p:spPr/>
        <p:txBody>
          <a:bodyPr/>
          <a:lstStyle/>
          <a:p>
            <a:r>
              <a:rPr lang="en-US" dirty="0"/>
              <a:t>The keyword “final” is used to create constants in Java.</a:t>
            </a:r>
          </a:p>
          <a:p>
            <a:r>
              <a:rPr lang="en-US" dirty="0"/>
              <a:t>A “final” class is the class which cannot be derived.</a:t>
            </a:r>
          </a:p>
          <a:p>
            <a:r>
              <a:rPr lang="en-US" dirty="0"/>
              <a:t>A final method is the method which cannot be overridden in child class.</a:t>
            </a:r>
          </a:p>
          <a:p>
            <a:r>
              <a:rPr lang="en-US" dirty="0"/>
              <a:t>Let’s take a look at both the examples.</a:t>
            </a:r>
          </a:p>
          <a:p>
            <a:r>
              <a:rPr lang="en-US" dirty="0"/>
              <a:t>From JDK API, you will find a number of classes declared as “public final”. E.g. public final class Integer</a:t>
            </a:r>
          </a:p>
          <a:p>
            <a:r>
              <a:rPr lang="en-US" dirty="0"/>
              <a:t>Final method example: eat(), sleep(), walk() etc. could be  final methods in “Person” class which cannot be overridden in Employee or Student class since their implementation does not change from Employee to Student.</a:t>
            </a:r>
            <a:endParaRPr lang="en-IN" dirty="0"/>
          </a:p>
        </p:txBody>
      </p:sp>
      <p:sp>
        <p:nvSpPr>
          <p:cNvPr id="4" name="Slide Number Placeholder 3">
            <a:extLst>
              <a:ext uri="{FF2B5EF4-FFF2-40B4-BE49-F238E27FC236}">
                <a16:creationId xmlns:a16="http://schemas.microsoft.com/office/drawing/2014/main" id="{B4E5A385-568C-9F88-D17B-D6FD2E7C2E6F}"/>
              </a:ext>
            </a:extLst>
          </p:cNvPr>
          <p:cNvSpPr>
            <a:spLocks noGrp="1"/>
          </p:cNvSpPr>
          <p:nvPr>
            <p:ph type="sldNum" sz="quarter" idx="12"/>
          </p:nvPr>
        </p:nvSpPr>
        <p:spPr/>
        <p:txBody>
          <a:bodyPr/>
          <a:lstStyle/>
          <a:p>
            <a:fld id="{F5DD72AB-36A5-4126-9530-DA8CA6890A71}" type="slidenum">
              <a:rPr lang="en-US" smtClean="0"/>
              <a:t>10</a:t>
            </a:fld>
            <a:endParaRPr lang="en-US"/>
          </a:p>
        </p:txBody>
      </p:sp>
    </p:spTree>
    <p:extLst>
      <p:ext uri="{BB962C8B-B14F-4D97-AF65-F5344CB8AC3E}">
        <p14:creationId xmlns:p14="http://schemas.microsoft.com/office/powerpoint/2010/main" val="664859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BF646-AFDD-A8AD-D406-C4E070AFF680}"/>
              </a:ext>
            </a:extLst>
          </p:cNvPr>
          <p:cNvSpPr>
            <a:spLocks noGrp="1"/>
          </p:cNvSpPr>
          <p:nvPr>
            <p:ph type="title"/>
          </p:nvPr>
        </p:nvSpPr>
        <p:spPr/>
        <p:txBody>
          <a:bodyPr/>
          <a:lstStyle/>
          <a:p>
            <a:r>
              <a:rPr lang="en-US" dirty="0"/>
              <a:t>Dynamic Method Dispatch</a:t>
            </a:r>
            <a:endParaRPr lang="en-IN" dirty="0"/>
          </a:p>
        </p:txBody>
      </p:sp>
      <p:sp>
        <p:nvSpPr>
          <p:cNvPr id="3" name="Content Placeholder 2">
            <a:extLst>
              <a:ext uri="{FF2B5EF4-FFF2-40B4-BE49-F238E27FC236}">
                <a16:creationId xmlns:a16="http://schemas.microsoft.com/office/drawing/2014/main" id="{6BF6A62D-3923-D807-9E9D-1D1EA29F26C2}"/>
              </a:ext>
            </a:extLst>
          </p:cNvPr>
          <p:cNvSpPr>
            <a:spLocks noGrp="1"/>
          </p:cNvSpPr>
          <p:nvPr>
            <p:ph idx="1"/>
          </p:nvPr>
        </p:nvSpPr>
        <p:spPr/>
        <p:txBody>
          <a:bodyPr/>
          <a:lstStyle/>
          <a:p>
            <a:r>
              <a:rPr lang="en-US" dirty="0"/>
              <a:t>When you override a method in child class, the method call to parent or child class method is decided at runtime based on the type of the object. This is called as Dynamic Method Dispatch.</a:t>
            </a:r>
          </a:p>
          <a:p>
            <a:r>
              <a:rPr lang="en-US" dirty="0"/>
              <a:t>E.g. in the </a:t>
            </a:r>
            <a:r>
              <a:rPr lang="en-US" dirty="0" err="1"/>
              <a:t>EntertainmentSrc</a:t>
            </a:r>
            <a:r>
              <a:rPr lang="en-US" dirty="0"/>
              <a:t>-&gt;Game-&gt;Toy hierarchy, the “play()” method is overridden from Game to Toy class.</a:t>
            </a:r>
          </a:p>
          <a:p>
            <a:r>
              <a:rPr lang="en-US" dirty="0"/>
              <a:t>So, if you create a Game class object, Game class method is called in the main method.</a:t>
            </a:r>
          </a:p>
          <a:p>
            <a:r>
              <a:rPr lang="en-US" dirty="0"/>
              <a:t>If you create a Toy class object, Toy class method is called.</a:t>
            </a:r>
            <a:endParaRPr lang="en-IN" dirty="0"/>
          </a:p>
        </p:txBody>
      </p:sp>
      <p:sp>
        <p:nvSpPr>
          <p:cNvPr id="4" name="Slide Number Placeholder 3">
            <a:extLst>
              <a:ext uri="{FF2B5EF4-FFF2-40B4-BE49-F238E27FC236}">
                <a16:creationId xmlns:a16="http://schemas.microsoft.com/office/drawing/2014/main" id="{9C534F12-A034-42F9-C469-46C14E909A8C}"/>
              </a:ext>
            </a:extLst>
          </p:cNvPr>
          <p:cNvSpPr>
            <a:spLocks noGrp="1"/>
          </p:cNvSpPr>
          <p:nvPr>
            <p:ph type="sldNum" sz="quarter" idx="12"/>
          </p:nvPr>
        </p:nvSpPr>
        <p:spPr/>
        <p:txBody>
          <a:bodyPr/>
          <a:lstStyle/>
          <a:p>
            <a:fld id="{F5DD72AB-36A5-4126-9530-DA8CA6890A71}" type="slidenum">
              <a:rPr lang="en-US" smtClean="0"/>
              <a:t>11</a:t>
            </a:fld>
            <a:endParaRPr lang="en-US"/>
          </a:p>
        </p:txBody>
      </p:sp>
    </p:spTree>
    <p:extLst>
      <p:ext uri="{BB962C8B-B14F-4D97-AF65-F5344CB8AC3E}">
        <p14:creationId xmlns:p14="http://schemas.microsoft.com/office/powerpoint/2010/main" val="2270314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BFBA6-968D-BC64-4F0C-134BEE953C6D}"/>
              </a:ext>
            </a:extLst>
          </p:cNvPr>
          <p:cNvSpPr>
            <a:spLocks noGrp="1"/>
          </p:cNvSpPr>
          <p:nvPr>
            <p:ph type="title"/>
          </p:nvPr>
        </p:nvSpPr>
        <p:spPr/>
        <p:txBody>
          <a:bodyPr/>
          <a:lstStyle/>
          <a:p>
            <a:r>
              <a:rPr lang="en-US" dirty="0"/>
              <a:t>Abstract Classes and Methods</a:t>
            </a:r>
            <a:endParaRPr lang="en-IN" dirty="0"/>
          </a:p>
        </p:txBody>
      </p:sp>
      <p:sp>
        <p:nvSpPr>
          <p:cNvPr id="3" name="Content Placeholder 2">
            <a:extLst>
              <a:ext uri="{FF2B5EF4-FFF2-40B4-BE49-F238E27FC236}">
                <a16:creationId xmlns:a16="http://schemas.microsoft.com/office/drawing/2014/main" id="{67BB38E8-FA66-8A1C-90BC-0F80C4ED3C60}"/>
              </a:ext>
            </a:extLst>
          </p:cNvPr>
          <p:cNvSpPr>
            <a:spLocks noGrp="1"/>
          </p:cNvSpPr>
          <p:nvPr>
            <p:ph idx="1"/>
          </p:nvPr>
        </p:nvSpPr>
        <p:spPr/>
        <p:txBody>
          <a:bodyPr>
            <a:normAutofit lnSpcReduction="10000"/>
          </a:bodyPr>
          <a:lstStyle/>
          <a:p>
            <a:r>
              <a:rPr lang="en-US" dirty="0"/>
              <a:t>Abstract classes are a generic representation of the real-world entities.</a:t>
            </a:r>
          </a:p>
          <a:p>
            <a:r>
              <a:rPr lang="en-US" dirty="0"/>
              <a:t>They contain data members, member methods and at least one abstract method.</a:t>
            </a:r>
          </a:p>
          <a:p>
            <a:r>
              <a:rPr lang="en-US" dirty="0"/>
              <a:t>Abstract method is a method which is declared in a parent class and is implemented in all child classes as per their intended behavior.</a:t>
            </a:r>
          </a:p>
          <a:p>
            <a:pPr marL="274320" lvl="1" indent="0">
              <a:buNone/>
            </a:pPr>
            <a:r>
              <a:rPr lang="en-US" dirty="0"/>
              <a:t>E.g. public abstract class Vehicle{</a:t>
            </a:r>
          </a:p>
          <a:p>
            <a:pPr marL="274320" lvl="1" indent="0">
              <a:buNone/>
            </a:pPr>
            <a:r>
              <a:rPr lang="en-US" dirty="0"/>
              <a:t>	abstract public void drive();</a:t>
            </a:r>
          </a:p>
          <a:p>
            <a:pPr marL="274320" lvl="1" indent="0">
              <a:buNone/>
            </a:pPr>
            <a:r>
              <a:rPr lang="en-US" dirty="0"/>
              <a:t>}</a:t>
            </a:r>
          </a:p>
          <a:p>
            <a:pPr marL="274320" lvl="1" indent="0">
              <a:buNone/>
            </a:pPr>
            <a:r>
              <a:rPr lang="en-US" dirty="0"/>
              <a:t>Class Car extends Vehicle{</a:t>
            </a:r>
          </a:p>
          <a:p>
            <a:pPr marL="274320" lvl="1" indent="0">
              <a:buNone/>
            </a:pPr>
            <a:r>
              <a:rPr lang="en-US" dirty="0"/>
              <a:t>	public void drive(){ </a:t>
            </a:r>
            <a:r>
              <a:rPr lang="en-US" dirty="0" err="1"/>
              <a:t>System.out.println</a:t>
            </a:r>
            <a:r>
              <a:rPr lang="en-US" dirty="0"/>
              <a:t>(“I’m driving a car.”);}</a:t>
            </a:r>
          </a:p>
          <a:p>
            <a:pPr marL="274320" lvl="1" indent="0">
              <a:buNone/>
            </a:pPr>
            <a:r>
              <a:rPr lang="en-US" dirty="0"/>
              <a:t>}</a:t>
            </a:r>
            <a:endParaRPr lang="en-IN" dirty="0"/>
          </a:p>
        </p:txBody>
      </p:sp>
      <p:sp>
        <p:nvSpPr>
          <p:cNvPr id="4" name="Slide Number Placeholder 3">
            <a:extLst>
              <a:ext uri="{FF2B5EF4-FFF2-40B4-BE49-F238E27FC236}">
                <a16:creationId xmlns:a16="http://schemas.microsoft.com/office/drawing/2014/main" id="{8FC96BE6-58FF-9CA1-1319-88F4FEF0777E}"/>
              </a:ext>
            </a:extLst>
          </p:cNvPr>
          <p:cNvSpPr>
            <a:spLocks noGrp="1"/>
          </p:cNvSpPr>
          <p:nvPr>
            <p:ph type="sldNum" sz="quarter" idx="12"/>
          </p:nvPr>
        </p:nvSpPr>
        <p:spPr/>
        <p:txBody>
          <a:bodyPr/>
          <a:lstStyle/>
          <a:p>
            <a:fld id="{F5DD72AB-36A5-4126-9530-DA8CA6890A71}" type="slidenum">
              <a:rPr lang="en-US" smtClean="0"/>
              <a:t>12</a:t>
            </a:fld>
            <a:endParaRPr lang="en-US"/>
          </a:p>
        </p:txBody>
      </p:sp>
    </p:spTree>
    <p:extLst>
      <p:ext uri="{BB962C8B-B14F-4D97-AF65-F5344CB8AC3E}">
        <p14:creationId xmlns:p14="http://schemas.microsoft.com/office/powerpoint/2010/main" val="3142422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50BA6-668F-D44A-43DB-8DF227BF2680}"/>
              </a:ext>
            </a:extLst>
          </p:cNvPr>
          <p:cNvSpPr>
            <a:spLocks noGrp="1"/>
          </p:cNvSpPr>
          <p:nvPr>
            <p:ph type="title"/>
          </p:nvPr>
        </p:nvSpPr>
        <p:spPr/>
        <p:txBody>
          <a:bodyPr/>
          <a:lstStyle/>
          <a:p>
            <a:r>
              <a:rPr lang="en-US" dirty="0"/>
              <a:t>Java Arrays</a:t>
            </a:r>
            <a:endParaRPr lang="en-IN" dirty="0"/>
          </a:p>
        </p:txBody>
      </p:sp>
      <p:sp>
        <p:nvSpPr>
          <p:cNvPr id="3" name="Content Placeholder 2">
            <a:extLst>
              <a:ext uri="{FF2B5EF4-FFF2-40B4-BE49-F238E27FC236}">
                <a16:creationId xmlns:a16="http://schemas.microsoft.com/office/drawing/2014/main" id="{383B4620-54C3-D9E6-E2BF-FEF4C47D74CE}"/>
              </a:ext>
            </a:extLst>
          </p:cNvPr>
          <p:cNvSpPr>
            <a:spLocks noGrp="1"/>
          </p:cNvSpPr>
          <p:nvPr>
            <p:ph idx="1"/>
          </p:nvPr>
        </p:nvSpPr>
        <p:spPr/>
        <p:txBody>
          <a:bodyPr/>
          <a:lstStyle/>
          <a:p>
            <a:r>
              <a:rPr lang="en-US" dirty="0"/>
              <a:t>Java arrays store multiple values of the same type in a single variable.</a:t>
            </a:r>
          </a:p>
          <a:p>
            <a:r>
              <a:rPr lang="en-US" dirty="0"/>
              <a:t>Important classes:</a:t>
            </a:r>
          </a:p>
          <a:p>
            <a:pPr lvl="1"/>
            <a:r>
              <a:rPr lang="en-US" dirty="0" err="1"/>
              <a:t>java.lang.reflect.Array</a:t>
            </a:r>
            <a:endParaRPr lang="en-US" dirty="0"/>
          </a:p>
          <a:p>
            <a:pPr lvl="1"/>
            <a:r>
              <a:rPr lang="en-US" dirty="0" err="1"/>
              <a:t>java.util.Arrays</a:t>
            </a:r>
            <a:endParaRPr lang="en-US" dirty="0"/>
          </a:p>
          <a:p>
            <a:r>
              <a:rPr lang="en-US" dirty="0"/>
              <a:t>Refer to the official documentation of both the class libraries here:</a:t>
            </a:r>
          </a:p>
          <a:p>
            <a:pPr lvl="1"/>
            <a:r>
              <a:rPr lang="en-IN" dirty="0">
                <a:hlinkClick r:id="rId2"/>
              </a:rPr>
              <a:t>https://docs.oracle.com/javase/8/docs/api/java/lang/reflect/Array.html</a:t>
            </a:r>
            <a:endParaRPr lang="en-US" dirty="0"/>
          </a:p>
          <a:p>
            <a:pPr lvl="1"/>
            <a:r>
              <a:rPr lang="en-IN" dirty="0">
                <a:hlinkClick r:id="rId3"/>
              </a:rPr>
              <a:t>https://docs.oracle.com/javase/8/docs/api/java/util/Arrays.html</a:t>
            </a:r>
            <a:endParaRPr lang="en-US" dirty="0"/>
          </a:p>
        </p:txBody>
      </p:sp>
      <p:sp>
        <p:nvSpPr>
          <p:cNvPr id="4" name="Slide Number Placeholder 3">
            <a:extLst>
              <a:ext uri="{FF2B5EF4-FFF2-40B4-BE49-F238E27FC236}">
                <a16:creationId xmlns:a16="http://schemas.microsoft.com/office/drawing/2014/main" id="{F387799D-B7EF-5F63-A078-483B5F2A0514}"/>
              </a:ext>
            </a:extLst>
          </p:cNvPr>
          <p:cNvSpPr>
            <a:spLocks noGrp="1"/>
          </p:cNvSpPr>
          <p:nvPr>
            <p:ph type="sldNum" sz="quarter" idx="12"/>
          </p:nvPr>
        </p:nvSpPr>
        <p:spPr/>
        <p:txBody>
          <a:bodyPr/>
          <a:lstStyle/>
          <a:p>
            <a:fld id="{F5DD72AB-36A5-4126-9530-DA8CA6890A71}" type="slidenum">
              <a:rPr lang="en-US" smtClean="0"/>
              <a:t>13</a:t>
            </a:fld>
            <a:endParaRPr lang="en-US"/>
          </a:p>
        </p:txBody>
      </p:sp>
    </p:spTree>
    <p:extLst>
      <p:ext uri="{BB962C8B-B14F-4D97-AF65-F5344CB8AC3E}">
        <p14:creationId xmlns:p14="http://schemas.microsoft.com/office/powerpoint/2010/main" val="31271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C4E0D-50D9-08D9-DB58-1CE9F94D0191}"/>
              </a:ext>
            </a:extLst>
          </p:cNvPr>
          <p:cNvSpPr>
            <a:spLocks noGrp="1"/>
          </p:cNvSpPr>
          <p:nvPr>
            <p:ph type="title"/>
          </p:nvPr>
        </p:nvSpPr>
        <p:spPr/>
        <p:txBody>
          <a:bodyPr/>
          <a:lstStyle/>
          <a:p>
            <a:r>
              <a:rPr lang="en-US" dirty="0"/>
              <a:t>Java </a:t>
            </a:r>
            <a:r>
              <a:rPr lang="en-US" dirty="0" err="1"/>
              <a:t>ArrayList</a:t>
            </a:r>
            <a:endParaRPr lang="en-IN" dirty="0"/>
          </a:p>
        </p:txBody>
      </p:sp>
      <p:sp>
        <p:nvSpPr>
          <p:cNvPr id="3" name="Content Placeholder 2">
            <a:extLst>
              <a:ext uri="{FF2B5EF4-FFF2-40B4-BE49-F238E27FC236}">
                <a16:creationId xmlns:a16="http://schemas.microsoft.com/office/drawing/2014/main" id="{B68D0569-8FE9-B25C-1F91-1A3B395F99A3}"/>
              </a:ext>
            </a:extLst>
          </p:cNvPr>
          <p:cNvSpPr>
            <a:spLocks noGrp="1"/>
          </p:cNvSpPr>
          <p:nvPr>
            <p:ph idx="1"/>
          </p:nvPr>
        </p:nvSpPr>
        <p:spPr/>
        <p:txBody>
          <a:bodyPr/>
          <a:lstStyle/>
          <a:p>
            <a:r>
              <a:rPr lang="en-US" dirty="0"/>
              <a:t>Resizable array implementation of the “List” interface.</a:t>
            </a:r>
          </a:p>
          <a:p>
            <a:r>
              <a:rPr lang="en-US" dirty="0"/>
              <a:t>Collection class that provides flexibility as compared to the traditional array.</a:t>
            </a:r>
          </a:p>
          <a:p>
            <a:r>
              <a:rPr lang="en-US" dirty="0"/>
              <a:t>Refer to the official documentation here:</a:t>
            </a:r>
          </a:p>
          <a:p>
            <a:pPr lvl="1"/>
            <a:r>
              <a:rPr lang="en-IN" dirty="0">
                <a:hlinkClick r:id="rId2"/>
              </a:rPr>
              <a:t>https://docs.oracle.com/en/java/javase/17/docs/api/java.base/java/util/ArrayList.html</a:t>
            </a:r>
            <a:endParaRPr lang="en-IN" dirty="0"/>
          </a:p>
          <a:p>
            <a:r>
              <a:rPr lang="en-IN" dirty="0" err="1"/>
              <a:t>ArrayLists</a:t>
            </a:r>
            <a:r>
              <a:rPr lang="en-IN" dirty="0"/>
              <a:t> can be used to store standard Wrapper class objects as well as user defined class objects.</a:t>
            </a:r>
          </a:p>
        </p:txBody>
      </p:sp>
      <p:sp>
        <p:nvSpPr>
          <p:cNvPr id="4" name="Slide Number Placeholder 3">
            <a:extLst>
              <a:ext uri="{FF2B5EF4-FFF2-40B4-BE49-F238E27FC236}">
                <a16:creationId xmlns:a16="http://schemas.microsoft.com/office/drawing/2014/main" id="{53D1844D-C24D-4B26-56EE-D2FE519BE5B0}"/>
              </a:ext>
            </a:extLst>
          </p:cNvPr>
          <p:cNvSpPr>
            <a:spLocks noGrp="1"/>
          </p:cNvSpPr>
          <p:nvPr>
            <p:ph type="sldNum" sz="quarter" idx="12"/>
          </p:nvPr>
        </p:nvSpPr>
        <p:spPr/>
        <p:txBody>
          <a:bodyPr/>
          <a:lstStyle/>
          <a:p>
            <a:fld id="{F5DD72AB-36A5-4126-9530-DA8CA6890A71}" type="slidenum">
              <a:rPr lang="en-US" smtClean="0"/>
              <a:t>14</a:t>
            </a:fld>
            <a:endParaRPr lang="en-US"/>
          </a:p>
        </p:txBody>
      </p:sp>
    </p:spTree>
    <p:extLst>
      <p:ext uri="{BB962C8B-B14F-4D97-AF65-F5344CB8AC3E}">
        <p14:creationId xmlns:p14="http://schemas.microsoft.com/office/powerpoint/2010/main" val="3486982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FF6D0-6FCD-2423-1E2E-B2E1D7888C81}"/>
              </a:ext>
            </a:extLst>
          </p:cNvPr>
          <p:cNvSpPr>
            <a:spLocks noGrp="1"/>
          </p:cNvSpPr>
          <p:nvPr>
            <p:ph type="title"/>
          </p:nvPr>
        </p:nvSpPr>
        <p:spPr/>
        <p:txBody>
          <a:bodyPr/>
          <a:lstStyle/>
          <a:p>
            <a:r>
              <a:rPr lang="en-US" dirty="0"/>
              <a:t>Vectors</a:t>
            </a:r>
            <a:endParaRPr lang="en-IN" dirty="0"/>
          </a:p>
        </p:txBody>
      </p:sp>
      <p:sp>
        <p:nvSpPr>
          <p:cNvPr id="3" name="Content Placeholder 2">
            <a:extLst>
              <a:ext uri="{FF2B5EF4-FFF2-40B4-BE49-F238E27FC236}">
                <a16:creationId xmlns:a16="http://schemas.microsoft.com/office/drawing/2014/main" id="{6CFF3D95-92F6-BE82-9C7E-0DD32069E02D}"/>
              </a:ext>
            </a:extLst>
          </p:cNvPr>
          <p:cNvSpPr>
            <a:spLocks noGrp="1"/>
          </p:cNvSpPr>
          <p:nvPr>
            <p:ph idx="1"/>
          </p:nvPr>
        </p:nvSpPr>
        <p:spPr/>
        <p:txBody>
          <a:bodyPr>
            <a:normAutofit fontScale="92500"/>
          </a:bodyPr>
          <a:lstStyle/>
          <a:p>
            <a:r>
              <a:rPr lang="en-US" dirty="0"/>
              <a:t>Similar to array, but growable and shrinkable in size</a:t>
            </a:r>
          </a:p>
          <a:p>
            <a:r>
              <a:rPr lang="en-US" dirty="0"/>
              <a:t>Holds objects that can be accessed using integer indices</a:t>
            </a:r>
          </a:p>
          <a:p>
            <a:r>
              <a:rPr lang="en-US" dirty="0"/>
              <a:t>Extends </a:t>
            </a:r>
            <a:r>
              <a:rPr lang="en-US" dirty="0" err="1"/>
              <a:t>AbstractList</a:t>
            </a:r>
            <a:r>
              <a:rPr lang="en-US" dirty="0"/>
              <a:t> and implements List interface.</a:t>
            </a:r>
          </a:p>
          <a:p>
            <a:r>
              <a:rPr lang="en-US" dirty="0"/>
              <a:t>Constructors:</a:t>
            </a:r>
          </a:p>
          <a:p>
            <a:pPr lvl="1"/>
            <a:r>
              <a:rPr lang="en-US" dirty="0"/>
              <a:t>Vector()</a:t>
            </a:r>
          </a:p>
          <a:p>
            <a:pPr lvl="1"/>
            <a:r>
              <a:rPr lang="en-US" dirty="0"/>
              <a:t>Vector(Collection c)</a:t>
            </a:r>
          </a:p>
          <a:p>
            <a:pPr lvl="1"/>
            <a:r>
              <a:rPr lang="en-US" dirty="0"/>
              <a:t>Vector(int </a:t>
            </a:r>
            <a:r>
              <a:rPr lang="en-US" dirty="0" err="1"/>
              <a:t>initialCapacity</a:t>
            </a:r>
            <a:r>
              <a:rPr lang="en-US" dirty="0"/>
              <a:t>)</a:t>
            </a:r>
          </a:p>
          <a:p>
            <a:pPr lvl="1"/>
            <a:r>
              <a:rPr lang="en-US" dirty="0"/>
              <a:t>Vector(int </a:t>
            </a:r>
            <a:r>
              <a:rPr lang="en-US" dirty="0" err="1"/>
              <a:t>initialCapacity</a:t>
            </a:r>
            <a:r>
              <a:rPr lang="en-US" dirty="0"/>
              <a:t>, int </a:t>
            </a:r>
            <a:r>
              <a:rPr lang="en-US" dirty="0" err="1"/>
              <a:t>incr</a:t>
            </a:r>
            <a:r>
              <a:rPr lang="en-US" dirty="0"/>
              <a:t>)</a:t>
            </a:r>
          </a:p>
          <a:p>
            <a:r>
              <a:rPr lang="en-US" dirty="0"/>
              <a:t>Vectors have similar methods as </a:t>
            </a:r>
            <a:r>
              <a:rPr lang="en-US" dirty="0" err="1"/>
              <a:t>ArrayList</a:t>
            </a:r>
            <a:r>
              <a:rPr lang="en-US" dirty="0"/>
              <a:t>:</a:t>
            </a:r>
          </a:p>
          <a:p>
            <a:pPr lvl="1"/>
            <a:r>
              <a:rPr lang="en-US" dirty="0"/>
              <a:t>add(), </a:t>
            </a:r>
            <a:r>
              <a:rPr lang="en-US" dirty="0" err="1"/>
              <a:t>addAll</a:t>
            </a:r>
            <a:r>
              <a:rPr lang="en-US" dirty="0"/>
              <a:t>(), capacity(), contains(), </a:t>
            </a:r>
            <a:r>
              <a:rPr lang="en-US" dirty="0" err="1"/>
              <a:t>firstElement</a:t>
            </a:r>
            <a:r>
              <a:rPr lang="en-US" dirty="0"/>
              <a:t>(), </a:t>
            </a:r>
            <a:r>
              <a:rPr lang="en-US" dirty="0" err="1"/>
              <a:t>lastElement</a:t>
            </a:r>
            <a:r>
              <a:rPr lang="en-US" dirty="0"/>
              <a:t>() etc.</a:t>
            </a:r>
          </a:p>
          <a:p>
            <a:r>
              <a:rPr lang="en-US" dirty="0"/>
              <a:t>For a </a:t>
            </a:r>
            <a:r>
              <a:rPr lang="en-US"/>
              <a:t>complete list of methods, refer to: </a:t>
            </a:r>
            <a:r>
              <a:rPr lang="en-US">
                <a:hlinkClick r:id="rId2"/>
              </a:rPr>
              <a:t>https://docs.oracle.com/javase/8/docs/api/java/util/Vector.html</a:t>
            </a:r>
            <a:endParaRPr lang="en-US"/>
          </a:p>
          <a:p>
            <a:endParaRPr lang="en-US" dirty="0"/>
          </a:p>
          <a:p>
            <a:endParaRPr lang="en-US" dirty="0"/>
          </a:p>
          <a:p>
            <a:endParaRPr lang="en-IN" dirty="0"/>
          </a:p>
        </p:txBody>
      </p:sp>
      <p:sp>
        <p:nvSpPr>
          <p:cNvPr id="4" name="Slide Number Placeholder 3">
            <a:extLst>
              <a:ext uri="{FF2B5EF4-FFF2-40B4-BE49-F238E27FC236}">
                <a16:creationId xmlns:a16="http://schemas.microsoft.com/office/drawing/2014/main" id="{DC5E17B9-ECE5-1F41-7D0E-16E20BD5165C}"/>
              </a:ext>
            </a:extLst>
          </p:cNvPr>
          <p:cNvSpPr>
            <a:spLocks noGrp="1"/>
          </p:cNvSpPr>
          <p:nvPr>
            <p:ph type="sldNum" sz="quarter" idx="12"/>
          </p:nvPr>
        </p:nvSpPr>
        <p:spPr/>
        <p:txBody>
          <a:bodyPr/>
          <a:lstStyle/>
          <a:p>
            <a:fld id="{F5DD72AB-36A5-4126-9530-DA8CA6890A71}" type="slidenum">
              <a:rPr lang="en-US" smtClean="0"/>
              <a:t>15</a:t>
            </a:fld>
            <a:endParaRPr lang="en-US"/>
          </a:p>
        </p:txBody>
      </p:sp>
    </p:spTree>
    <p:extLst>
      <p:ext uri="{BB962C8B-B14F-4D97-AF65-F5344CB8AC3E}">
        <p14:creationId xmlns:p14="http://schemas.microsoft.com/office/powerpoint/2010/main" val="346913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7C28-A2D0-152D-09DD-924482DD1D86}"/>
              </a:ext>
            </a:extLst>
          </p:cNvPr>
          <p:cNvSpPr>
            <a:spLocks noGrp="1"/>
          </p:cNvSpPr>
          <p:nvPr>
            <p:ph type="title"/>
          </p:nvPr>
        </p:nvSpPr>
        <p:spPr/>
        <p:txBody>
          <a:bodyPr/>
          <a:lstStyle/>
          <a:p>
            <a:r>
              <a:rPr lang="en-US" dirty="0"/>
              <a:t>Garbage Collection</a:t>
            </a:r>
            <a:endParaRPr lang="en-IN" dirty="0"/>
          </a:p>
        </p:txBody>
      </p:sp>
      <p:sp>
        <p:nvSpPr>
          <p:cNvPr id="3" name="Content Placeholder 2">
            <a:extLst>
              <a:ext uri="{FF2B5EF4-FFF2-40B4-BE49-F238E27FC236}">
                <a16:creationId xmlns:a16="http://schemas.microsoft.com/office/drawing/2014/main" id="{3CF2B488-16C1-6372-6529-70FA672DA8EE}"/>
              </a:ext>
            </a:extLst>
          </p:cNvPr>
          <p:cNvSpPr>
            <a:spLocks noGrp="1"/>
          </p:cNvSpPr>
          <p:nvPr>
            <p:ph idx="1"/>
          </p:nvPr>
        </p:nvSpPr>
        <p:spPr/>
        <p:txBody>
          <a:bodyPr/>
          <a:lstStyle/>
          <a:p>
            <a:r>
              <a:rPr lang="en-US" dirty="0"/>
              <a:t>In Java, objects which are not in use or “unreferenced” are destroyed automatically.</a:t>
            </a:r>
          </a:p>
          <a:p>
            <a:r>
              <a:rPr lang="en-US" dirty="0"/>
              <a:t>Method objects are destroyed easily because they are out of scope as soon as method execution is over.</a:t>
            </a:r>
          </a:p>
          <a:p>
            <a:r>
              <a:rPr lang="en-US" dirty="0"/>
              <a:t>You can make an object eligible for garbage collection by:</a:t>
            </a:r>
          </a:p>
          <a:p>
            <a:pPr lvl="1"/>
            <a:r>
              <a:rPr lang="en-US" dirty="0"/>
              <a:t>Assigning the object to null</a:t>
            </a:r>
          </a:p>
          <a:p>
            <a:pPr lvl="1"/>
            <a:r>
              <a:rPr lang="en-IN" dirty="0"/>
              <a:t>Reassigning the reference variable</a:t>
            </a:r>
          </a:p>
          <a:p>
            <a:pPr lvl="1"/>
            <a:r>
              <a:rPr lang="en-IN" dirty="0"/>
              <a:t>Creating an “island of isolation” i.e. creating objects that are isolated or not reachable by other objects.</a:t>
            </a:r>
          </a:p>
          <a:p>
            <a:r>
              <a:rPr lang="en-IN" dirty="0"/>
              <a:t>You can request JVM to collect garbage by using:</a:t>
            </a:r>
          </a:p>
          <a:p>
            <a:pPr lvl="1"/>
            <a:r>
              <a:rPr lang="en-IN" dirty="0" err="1"/>
              <a:t>System.gc</a:t>
            </a:r>
            <a:r>
              <a:rPr lang="en-IN" dirty="0"/>
              <a:t>()</a:t>
            </a:r>
          </a:p>
          <a:p>
            <a:pPr lvl="1"/>
            <a:r>
              <a:rPr lang="en-IN" dirty="0" err="1"/>
              <a:t>Runtime.getRuntime.gc</a:t>
            </a:r>
            <a:r>
              <a:rPr lang="en-IN" dirty="0"/>
              <a:t>()</a:t>
            </a:r>
          </a:p>
        </p:txBody>
      </p:sp>
      <p:sp>
        <p:nvSpPr>
          <p:cNvPr id="4" name="Slide Number Placeholder 3">
            <a:extLst>
              <a:ext uri="{FF2B5EF4-FFF2-40B4-BE49-F238E27FC236}">
                <a16:creationId xmlns:a16="http://schemas.microsoft.com/office/drawing/2014/main" id="{226E26A2-9D90-BD57-A9FB-152229C5F73C}"/>
              </a:ext>
            </a:extLst>
          </p:cNvPr>
          <p:cNvSpPr>
            <a:spLocks noGrp="1"/>
          </p:cNvSpPr>
          <p:nvPr>
            <p:ph type="sldNum" sz="quarter" idx="12"/>
          </p:nvPr>
        </p:nvSpPr>
        <p:spPr/>
        <p:txBody>
          <a:bodyPr/>
          <a:lstStyle/>
          <a:p>
            <a:fld id="{F5DD72AB-36A5-4126-9530-DA8CA6890A71}" type="slidenum">
              <a:rPr lang="en-US" smtClean="0"/>
              <a:t>16</a:t>
            </a:fld>
            <a:endParaRPr lang="en-US"/>
          </a:p>
        </p:txBody>
      </p:sp>
    </p:spTree>
    <p:extLst>
      <p:ext uri="{BB962C8B-B14F-4D97-AF65-F5344CB8AC3E}">
        <p14:creationId xmlns:p14="http://schemas.microsoft.com/office/powerpoint/2010/main" val="371043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C4541-55A2-4162-3502-76A9428CDCF8}"/>
              </a:ext>
            </a:extLst>
          </p:cNvPr>
          <p:cNvSpPr>
            <a:spLocks noGrp="1"/>
          </p:cNvSpPr>
          <p:nvPr>
            <p:ph type="title"/>
          </p:nvPr>
        </p:nvSpPr>
        <p:spPr/>
        <p:txBody>
          <a:bodyPr/>
          <a:lstStyle/>
          <a:p>
            <a:r>
              <a:rPr lang="en-US" dirty="0"/>
              <a:t>Java Miscellaneous Classes</a:t>
            </a:r>
            <a:endParaRPr lang="en-IN" dirty="0"/>
          </a:p>
        </p:txBody>
      </p:sp>
      <p:sp>
        <p:nvSpPr>
          <p:cNvPr id="3" name="Content Placeholder 2">
            <a:extLst>
              <a:ext uri="{FF2B5EF4-FFF2-40B4-BE49-F238E27FC236}">
                <a16:creationId xmlns:a16="http://schemas.microsoft.com/office/drawing/2014/main" id="{274B10BC-A3CE-430D-8766-EBBC9E19547E}"/>
              </a:ext>
            </a:extLst>
          </p:cNvPr>
          <p:cNvSpPr>
            <a:spLocks noGrp="1"/>
          </p:cNvSpPr>
          <p:nvPr>
            <p:ph idx="1"/>
          </p:nvPr>
        </p:nvSpPr>
        <p:spPr/>
        <p:txBody>
          <a:bodyPr/>
          <a:lstStyle/>
          <a:p>
            <a:r>
              <a:rPr lang="en-US" dirty="0"/>
              <a:t>String class: final class that extends Object class</a:t>
            </a:r>
          </a:p>
          <a:p>
            <a:r>
              <a:rPr lang="en-US" dirty="0"/>
              <a:t>A number of String constructors are defined to create strings from all types of data, with different charsets, bytes etc.</a:t>
            </a:r>
          </a:p>
          <a:p>
            <a:r>
              <a:rPr lang="en-US" dirty="0"/>
              <a:t>A number of String methods are defined in JRE.</a:t>
            </a:r>
          </a:p>
          <a:p>
            <a:r>
              <a:rPr lang="en-US" dirty="0"/>
              <a:t>For complete reference, refer to:</a:t>
            </a:r>
          </a:p>
          <a:p>
            <a:pPr marL="0" indent="0">
              <a:buNone/>
            </a:pPr>
            <a:r>
              <a:rPr lang="en-IN" dirty="0"/>
              <a:t>https://docs.oracle.com/javase/8/docs/api/java/lang/String.html</a:t>
            </a:r>
          </a:p>
        </p:txBody>
      </p:sp>
      <p:sp>
        <p:nvSpPr>
          <p:cNvPr id="4" name="Slide Number Placeholder 3">
            <a:extLst>
              <a:ext uri="{FF2B5EF4-FFF2-40B4-BE49-F238E27FC236}">
                <a16:creationId xmlns:a16="http://schemas.microsoft.com/office/drawing/2014/main" id="{7FCD697B-0937-3233-FC46-1F47E8081A2E}"/>
              </a:ext>
            </a:extLst>
          </p:cNvPr>
          <p:cNvSpPr>
            <a:spLocks noGrp="1"/>
          </p:cNvSpPr>
          <p:nvPr>
            <p:ph type="sldNum" sz="quarter" idx="12"/>
          </p:nvPr>
        </p:nvSpPr>
        <p:spPr/>
        <p:txBody>
          <a:bodyPr/>
          <a:lstStyle/>
          <a:p>
            <a:fld id="{F5DD72AB-36A5-4126-9530-DA8CA6890A71}" type="slidenum">
              <a:rPr lang="en-US" smtClean="0"/>
              <a:t>17</a:t>
            </a:fld>
            <a:endParaRPr lang="en-US"/>
          </a:p>
        </p:txBody>
      </p:sp>
    </p:spTree>
    <p:extLst>
      <p:ext uri="{BB962C8B-B14F-4D97-AF65-F5344CB8AC3E}">
        <p14:creationId xmlns:p14="http://schemas.microsoft.com/office/powerpoint/2010/main" val="3526623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7ACCA-B4F0-C651-0872-AD3A77DBCE4B}"/>
              </a:ext>
            </a:extLst>
          </p:cNvPr>
          <p:cNvSpPr>
            <a:spLocks noGrp="1"/>
          </p:cNvSpPr>
          <p:nvPr>
            <p:ph type="title"/>
          </p:nvPr>
        </p:nvSpPr>
        <p:spPr/>
        <p:txBody>
          <a:bodyPr/>
          <a:lstStyle/>
          <a:p>
            <a:r>
              <a:rPr lang="en-US" dirty="0"/>
              <a:t>Java Miscellaneous Classes</a:t>
            </a:r>
            <a:endParaRPr lang="en-IN" dirty="0"/>
          </a:p>
        </p:txBody>
      </p:sp>
      <p:sp>
        <p:nvSpPr>
          <p:cNvPr id="3" name="Content Placeholder 2">
            <a:extLst>
              <a:ext uri="{FF2B5EF4-FFF2-40B4-BE49-F238E27FC236}">
                <a16:creationId xmlns:a16="http://schemas.microsoft.com/office/drawing/2014/main" id="{AA16DF0D-EE75-11FB-F7EE-EA021D67B5D9}"/>
              </a:ext>
            </a:extLst>
          </p:cNvPr>
          <p:cNvSpPr>
            <a:spLocks noGrp="1"/>
          </p:cNvSpPr>
          <p:nvPr>
            <p:ph idx="1"/>
          </p:nvPr>
        </p:nvSpPr>
        <p:spPr/>
        <p:txBody>
          <a:bodyPr/>
          <a:lstStyle/>
          <a:p>
            <a:r>
              <a:rPr lang="en-US" dirty="0" err="1"/>
              <a:t>StringBuffer</a:t>
            </a:r>
            <a:r>
              <a:rPr lang="en-US" dirty="0"/>
              <a:t> class: Like a string, but can be modified.</a:t>
            </a:r>
          </a:p>
          <a:p>
            <a:r>
              <a:rPr lang="en-US" dirty="0"/>
              <a:t>Mutable sequence of characters</a:t>
            </a:r>
          </a:p>
          <a:p>
            <a:r>
              <a:rPr lang="en-US" dirty="0"/>
              <a:t>Primary methods are append() and insert()</a:t>
            </a:r>
          </a:p>
          <a:p>
            <a:r>
              <a:rPr lang="en-US" dirty="0"/>
              <a:t>For a complete reference, refer to: https://docs.oracle.com/javase/8/docs/api/java/lang/StringBuffer.html</a:t>
            </a:r>
            <a:endParaRPr lang="en-IN" dirty="0"/>
          </a:p>
        </p:txBody>
      </p:sp>
      <p:sp>
        <p:nvSpPr>
          <p:cNvPr id="4" name="Slide Number Placeholder 3">
            <a:extLst>
              <a:ext uri="{FF2B5EF4-FFF2-40B4-BE49-F238E27FC236}">
                <a16:creationId xmlns:a16="http://schemas.microsoft.com/office/drawing/2014/main" id="{E7CF8633-AC65-43A5-97E2-C80E7829B4F9}"/>
              </a:ext>
            </a:extLst>
          </p:cNvPr>
          <p:cNvSpPr>
            <a:spLocks noGrp="1"/>
          </p:cNvSpPr>
          <p:nvPr>
            <p:ph type="sldNum" sz="quarter" idx="12"/>
          </p:nvPr>
        </p:nvSpPr>
        <p:spPr/>
        <p:txBody>
          <a:bodyPr/>
          <a:lstStyle/>
          <a:p>
            <a:fld id="{F5DD72AB-36A5-4126-9530-DA8CA6890A71}" type="slidenum">
              <a:rPr lang="en-US" smtClean="0"/>
              <a:t>18</a:t>
            </a:fld>
            <a:endParaRPr lang="en-US"/>
          </a:p>
        </p:txBody>
      </p:sp>
    </p:spTree>
    <p:extLst>
      <p:ext uri="{BB962C8B-B14F-4D97-AF65-F5344CB8AC3E}">
        <p14:creationId xmlns:p14="http://schemas.microsoft.com/office/powerpoint/2010/main" val="4084771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A4275-6623-A998-6120-D071DB74C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F7F5B-FE16-7ECF-F31B-3DF4F022C615}"/>
              </a:ext>
            </a:extLst>
          </p:cNvPr>
          <p:cNvSpPr>
            <a:spLocks noGrp="1"/>
          </p:cNvSpPr>
          <p:nvPr>
            <p:ph type="title"/>
          </p:nvPr>
        </p:nvSpPr>
        <p:spPr/>
        <p:txBody>
          <a:bodyPr/>
          <a:lstStyle/>
          <a:p>
            <a:r>
              <a:rPr lang="en-US" dirty="0"/>
              <a:t>Java Miscellaneous Classes</a:t>
            </a:r>
            <a:endParaRPr lang="en-IN" dirty="0"/>
          </a:p>
        </p:txBody>
      </p:sp>
      <p:sp>
        <p:nvSpPr>
          <p:cNvPr id="3" name="Content Placeholder 2">
            <a:extLst>
              <a:ext uri="{FF2B5EF4-FFF2-40B4-BE49-F238E27FC236}">
                <a16:creationId xmlns:a16="http://schemas.microsoft.com/office/drawing/2014/main" id="{32A4C4F4-D6AE-D535-A2B3-7C64D935F0D2}"/>
              </a:ext>
            </a:extLst>
          </p:cNvPr>
          <p:cNvSpPr>
            <a:spLocks noGrp="1"/>
          </p:cNvSpPr>
          <p:nvPr>
            <p:ph idx="1"/>
          </p:nvPr>
        </p:nvSpPr>
        <p:spPr/>
        <p:txBody>
          <a:bodyPr/>
          <a:lstStyle/>
          <a:p>
            <a:r>
              <a:rPr lang="en-US" dirty="0" err="1"/>
              <a:t>StringTokenizer</a:t>
            </a:r>
            <a:r>
              <a:rPr lang="en-US" dirty="0"/>
              <a:t> Class: Allows an application to break a string into tokens (or words).</a:t>
            </a:r>
          </a:p>
          <a:p>
            <a:r>
              <a:rPr lang="en-US" dirty="0"/>
              <a:t>The tokens are created using a “delimiter” character as the separator between two tokens.</a:t>
            </a:r>
          </a:p>
          <a:p>
            <a:r>
              <a:rPr lang="en-US" dirty="0"/>
              <a:t>Default delimiter is a space (‘ ‘) character.</a:t>
            </a:r>
          </a:p>
          <a:p>
            <a:r>
              <a:rPr lang="en-US" dirty="0"/>
              <a:t>For a complete list of methods and constructors, refer to:</a:t>
            </a:r>
          </a:p>
          <a:p>
            <a:pPr marL="0" indent="0">
              <a:buNone/>
            </a:pPr>
            <a:r>
              <a:rPr lang="en-IN"/>
              <a:t>https://docs.oracle.com/javase/8/docs/api/java/util/StringTokenizer.html</a:t>
            </a:r>
            <a:endParaRPr lang="en-IN" dirty="0"/>
          </a:p>
        </p:txBody>
      </p:sp>
      <p:sp>
        <p:nvSpPr>
          <p:cNvPr id="4" name="Slide Number Placeholder 3">
            <a:extLst>
              <a:ext uri="{FF2B5EF4-FFF2-40B4-BE49-F238E27FC236}">
                <a16:creationId xmlns:a16="http://schemas.microsoft.com/office/drawing/2014/main" id="{CC5CBD9C-CA4A-91F1-CDD5-4C704D94FB0D}"/>
              </a:ext>
            </a:extLst>
          </p:cNvPr>
          <p:cNvSpPr>
            <a:spLocks noGrp="1"/>
          </p:cNvSpPr>
          <p:nvPr>
            <p:ph type="sldNum" sz="quarter" idx="12"/>
          </p:nvPr>
        </p:nvSpPr>
        <p:spPr/>
        <p:txBody>
          <a:bodyPr/>
          <a:lstStyle/>
          <a:p>
            <a:fld id="{F5DD72AB-36A5-4126-9530-DA8CA6890A71}" type="slidenum">
              <a:rPr lang="en-US" smtClean="0"/>
              <a:t>19</a:t>
            </a:fld>
            <a:endParaRPr lang="en-US"/>
          </a:p>
        </p:txBody>
      </p:sp>
    </p:spTree>
    <p:extLst>
      <p:ext uri="{BB962C8B-B14F-4D97-AF65-F5344CB8AC3E}">
        <p14:creationId xmlns:p14="http://schemas.microsoft.com/office/powerpoint/2010/main" val="25618424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63647</TotalTime>
  <Words>1427</Words>
  <Application>Microsoft Office PowerPoint</Application>
  <PresentationFormat>On-screen Show (4:3)</PresentationFormat>
  <Paragraphs>139</Paragraphs>
  <Slides>19</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Clarity</vt:lpstr>
      <vt:lpstr>PowerPoint Presentation</vt:lpstr>
      <vt:lpstr>Unit II: Inheritance, Abstract Class, Interfaces and Packages</vt:lpstr>
      <vt:lpstr>Inheritance Types</vt:lpstr>
      <vt:lpstr>Inheritance Types</vt:lpstr>
      <vt:lpstr>Inheritance in Java</vt:lpstr>
      <vt:lpstr>Interfaces</vt:lpstr>
      <vt:lpstr>Interfaces</vt:lpstr>
      <vt:lpstr>Packages</vt:lpstr>
      <vt:lpstr>this, static and super keywords</vt:lpstr>
      <vt:lpstr>Final methods and Classes </vt:lpstr>
      <vt:lpstr>Dynamic Method Dispatch</vt:lpstr>
      <vt:lpstr>Abstract Classes and Methods</vt:lpstr>
      <vt:lpstr>Java Arrays</vt:lpstr>
      <vt:lpstr>Java ArrayList</vt:lpstr>
      <vt:lpstr>Vectors</vt:lpstr>
      <vt:lpstr>Garbage Collection</vt:lpstr>
      <vt:lpstr>Java Miscellaneous Classes</vt:lpstr>
      <vt:lpstr>Java Miscellaneous Classes</vt:lpstr>
      <vt:lpstr>Java Miscellaneous Classes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TOOL</dc:title>
  <dc:creator>Pratima</dc:creator>
  <cp:lastModifiedBy>Omkar Joshi</cp:lastModifiedBy>
  <cp:revision>598</cp:revision>
  <dcterms:created xsi:type="dcterms:W3CDTF">2016-02-24T12:57:14Z</dcterms:created>
  <dcterms:modified xsi:type="dcterms:W3CDTF">2025-02-25T15:43:27Z</dcterms:modified>
</cp:coreProperties>
</file>