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sldIdLst>
    <p:sldId id="378" r:id="rId2"/>
    <p:sldId id="370" r:id="rId3"/>
    <p:sldId id="386" r:id="rId4"/>
    <p:sldId id="391" r:id="rId5"/>
    <p:sldId id="387" r:id="rId6"/>
    <p:sldId id="388" r:id="rId7"/>
    <p:sldId id="389" r:id="rId8"/>
    <p:sldId id="390" r:id="rId9"/>
    <p:sldId id="392" r:id="rId10"/>
    <p:sldId id="39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CD46BC-AC2C-42DB-BBEC-F23FB2005468}">
          <p14:sldIdLst>
            <p14:sldId id="378"/>
            <p14:sldId id="370"/>
            <p14:sldId id="386"/>
            <p14:sldId id="391"/>
            <p14:sldId id="387"/>
            <p14:sldId id="388"/>
            <p14:sldId id="389"/>
            <p14:sldId id="390"/>
            <p14:sldId id="392"/>
            <p14:sldId id="3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 autoAdjust="0"/>
    <p:restoredTop sz="94800" autoAdjust="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3154" y="-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113BE-3C8C-4774-98F2-7343BB3D1BDE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43CDA-3097-4E2E-BD0B-D0C657BB4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89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https://docs.oracle.com/javase/tutorial/essential/exceptions/index.html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043CDA-3097-4E2E-BD0B-D0C657BB452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36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3633-CF8E-4930-B9D8-5F1EB9DA1940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575" y="5648325"/>
            <a:ext cx="3781425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9788-2440-4722-84BE-053CF3516AB2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3A4E1-5434-4E47-84B2-402A5895C202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3847-468A-4F5F-86FD-03062AC4DC63}" type="datetime1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09D6-59CE-4E9C-8203-6CBEFF834425}" type="datetime1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D3B3-57FA-4815-A553-9C78056592E0}" type="datetime1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273DB-1C85-40DE-8FB5-C4DA7BD6F063}" type="datetime1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94C94-6C87-4F8B-8A18-47285812AAE6}" type="datetime1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A34C8-6778-42F1-8AD6-3DAE50BE8544}" type="datetime1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04B97-E140-49FC-A0C1-198A96143596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41F6F-0111-4EEA-A657-C1DA39B88BBF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21BA5C0-87F9-443C-8061-411B1C6DC2D3}" type="datetime1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F5DD72AB-36A5-4126-9530-DA8CA6890A7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Slide Number Placeholder 4"/>
          <p:cNvSpPr txBox="1">
            <a:spLocks/>
          </p:cNvSpPr>
          <p:nvPr/>
        </p:nvSpPr>
        <p:spPr>
          <a:xfrm>
            <a:off x="15240" y="6528816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6477000"/>
          </a:xfrm>
        </p:spPr>
        <p:txBody>
          <a:bodyPr/>
          <a:lstStyle/>
          <a:p>
            <a:r>
              <a:rPr lang="en-US" dirty="0"/>
              <a:t>333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67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 III: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Exception handling, need for exception handling, exception types, using try-catch, multiple catch, nested try, finally, throw, throws, user defined exceptions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92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event in program that disrupts normal flow of execution.</a:t>
            </a:r>
          </a:p>
          <a:p>
            <a:pPr lvl="1"/>
            <a:r>
              <a:rPr lang="en-US" dirty="0"/>
              <a:t>Trying to add elements to an array that is already full.</a:t>
            </a:r>
          </a:p>
          <a:p>
            <a:pPr lvl="1"/>
            <a:r>
              <a:rPr lang="en-US" dirty="0"/>
              <a:t>Trying to close a file that is not open.</a:t>
            </a:r>
          </a:p>
          <a:p>
            <a:pPr lvl="1"/>
            <a:r>
              <a:rPr lang="en-US" dirty="0"/>
              <a:t>Trying to access memory location that does not exist or is out of bounds.</a:t>
            </a:r>
          </a:p>
          <a:p>
            <a:r>
              <a:rPr lang="en-US" dirty="0"/>
              <a:t>Throwing an exception means:</a:t>
            </a:r>
          </a:p>
          <a:p>
            <a:pPr lvl="1"/>
            <a:r>
              <a:rPr lang="en-US" dirty="0"/>
              <a:t>Identify error in the method</a:t>
            </a:r>
          </a:p>
          <a:p>
            <a:pPr lvl="1"/>
            <a:r>
              <a:rPr lang="en-US" dirty="0"/>
              <a:t>Method creates an error object and hands it over to Java Runtime</a:t>
            </a:r>
          </a:p>
          <a:p>
            <a:pPr lvl="1"/>
            <a:r>
              <a:rPr lang="en-US" dirty="0"/>
              <a:t>Object contains information about the error, its type and state of the program when error occurred.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8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 between Error and Exception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1131073"/>
              </p:ext>
            </p:extLst>
          </p:nvPr>
        </p:nvGraphicFramePr>
        <p:xfrm>
          <a:off x="457200" y="1600200"/>
          <a:ext cx="8229600" cy="40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Occurs due</a:t>
                      </a:r>
                      <a:r>
                        <a:rPr lang="en-US" baseline="0" dirty="0"/>
                        <a:t> to lack of system resources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Occurs due to programming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Irrecoverable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Recoverable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Cannot be handled programmatically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be handled using “try-catch” construct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Program terminates abnormally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 may display</a:t>
                      </a:r>
                      <a:r>
                        <a:rPr lang="en-US" baseline="0" dirty="0"/>
                        <a:t> an appropriate message and continue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Classified as “unchecked”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Classified as “unchecked” or “checked”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Package: </a:t>
                      </a:r>
                      <a:r>
                        <a:rPr lang="en-US" dirty="0" err="1"/>
                        <a:t>java.lang.Error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Package: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java.lang.Exception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22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Runtime attempts to find the ordered list of called methods to handle the “thrown” exception or error.</a:t>
            </a:r>
          </a:p>
          <a:p>
            <a:r>
              <a:rPr lang="en-US" dirty="0"/>
              <a:t>The list is called “call stack”.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3048000"/>
            <a:ext cx="3733800" cy="2209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048000"/>
            <a:ext cx="36576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73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“try-catch”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provides the “try-catch” construct to catch exceptions in any piece of code.</a:t>
            </a:r>
          </a:p>
          <a:p>
            <a:r>
              <a:rPr lang="en-US" dirty="0"/>
              <a:t>Syntax:</a:t>
            </a:r>
          </a:p>
          <a:p>
            <a:pPr marL="274320" lvl="1" indent="0">
              <a:buNone/>
            </a:pPr>
            <a:r>
              <a:rPr lang="en-US" dirty="0"/>
              <a:t>try{</a:t>
            </a:r>
          </a:p>
          <a:p>
            <a:pPr marL="274320" lvl="1" indent="0">
              <a:buNone/>
            </a:pPr>
            <a:r>
              <a:rPr lang="en-US" dirty="0"/>
              <a:t>//statements that may create an exception or error condition.</a:t>
            </a:r>
          </a:p>
          <a:p>
            <a:pPr marL="274320" lvl="1" indent="0">
              <a:buNone/>
            </a:pPr>
            <a:r>
              <a:rPr lang="en-US" dirty="0"/>
              <a:t>}</a:t>
            </a:r>
          </a:p>
          <a:p>
            <a:pPr marL="274320" lvl="1" indent="0">
              <a:buNone/>
            </a:pPr>
            <a:r>
              <a:rPr lang="en-US" dirty="0"/>
              <a:t>catch(&lt;</a:t>
            </a:r>
            <a:r>
              <a:rPr lang="en-US" dirty="0" err="1"/>
              <a:t>ExceptionName</a:t>
            </a:r>
            <a:r>
              <a:rPr lang="en-US" dirty="0"/>
              <a:t> e&gt;)</a:t>
            </a:r>
          </a:p>
          <a:p>
            <a:pPr marL="274320" lvl="1" indent="0">
              <a:buNone/>
            </a:pPr>
            <a:r>
              <a:rPr lang="en-US" dirty="0"/>
              <a:t>{</a:t>
            </a:r>
          </a:p>
          <a:p>
            <a:pPr marL="274320" lvl="1" indent="0">
              <a:buNone/>
            </a:pPr>
            <a:r>
              <a:rPr lang="en-US" dirty="0"/>
              <a:t>//Error messages and other statements to control the “damage”.</a:t>
            </a:r>
          </a:p>
          <a:p>
            <a:pPr marL="274320" lvl="1" indent="0">
              <a:buNone/>
            </a:pPr>
            <a:r>
              <a:rPr lang="en-US" dirty="0"/>
              <a:t>}</a:t>
            </a:r>
          </a:p>
          <a:p>
            <a:r>
              <a:rPr lang="en-US" dirty="0"/>
              <a:t>One “try” may accompany one or more “catches”.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09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“finally”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“finally” block is executed no matter whether an exception occurs.</a:t>
            </a:r>
          </a:p>
          <a:p>
            <a:r>
              <a:rPr lang="en-US" dirty="0"/>
              <a:t>For each “try” block there can be only one “finally” block.</a:t>
            </a:r>
          </a:p>
          <a:p>
            <a:r>
              <a:rPr lang="en-US" dirty="0"/>
              <a:t>Normally utilized to release system resources.</a:t>
            </a:r>
          </a:p>
          <a:p>
            <a:pPr marL="274320" lvl="1" indent="0">
              <a:buNone/>
            </a:pPr>
            <a:r>
              <a:rPr lang="en-US" dirty="0"/>
              <a:t>try{</a:t>
            </a:r>
          </a:p>
          <a:p>
            <a:pPr marL="274320" lvl="1" indent="0">
              <a:buNone/>
            </a:pPr>
            <a:r>
              <a:rPr lang="en-US" dirty="0"/>
              <a:t>...</a:t>
            </a:r>
          </a:p>
          <a:p>
            <a:pPr marL="274320" lvl="1" indent="0">
              <a:buNone/>
            </a:pPr>
            <a:r>
              <a:rPr lang="en-US" dirty="0"/>
              <a:t>...</a:t>
            </a:r>
          </a:p>
          <a:p>
            <a:pPr marL="274320" lvl="1" indent="0">
              <a:buNone/>
            </a:pPr>
            <a:r>
              <a:rPr lang="en-US" dirty="0"/>
              <a:t>}</a:t>
            </a:r>
          </a:p>
          <a:p>
            <a:pPr marL="274320" lvl="1" indent="0">
              <a:buNone/>
            </a:pPr>
            <a:r>
              <a:rPr lang="en-US" dirty="0"/>
              <a:t>catch{  //optional</a:t>
            </a:r>
          </a:p>
          <a:p>
            <a:pPr marL="274320" lvl="1" indent="0">
              <a:buNone/>
            </a:pPr>
            <a:r>
              <a:rPr lang="en-US" dirty="0"/>
              <a:t>...</a:t>
            </a:r>
          </a:p>
          <a:p>
            <a:pPr marL="274320" lvl="1" indent="0">
              <a:buNone/>
            </a:pPr>
            <a:r>
              <a:rPr lang="en-US" dirty="0"/>
              <a:t>...}</a:t>
            </a:r>
          </a:p>
          <a:p>
            <a:pPr marL="274320" lvl="1" indent="0">
              <a:buNone/>
            </a:pPr>
            <a:r>
              <a:rPr lang="en-US" dirty="0"/>
              <a:t>finally{ </a:t>
            </a:r>
            <a:r>
              <a:rPr lang="en-US"/>
              <a:t>//optional</a:t>
            </a:r>
            <a:endParaRPr lang="en-US" dirty="0"/>
          </a:p>
          <a:p>
            <a:pPr marL="274320" lvl="1" indent="0">
              <a:buNone/>
            </a:pPr>
            <a:r>
              <a:rPr lang="en-US" dirty="0"/>
              <a:t>...}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28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Class Hierarchy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47800"/>
            <a:ext cx="7467600" cy="53340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17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89394-BBF8-4ABE-BAB9-999914AF8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new Exception 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86CC4-4CEB-271A-F207-EC2233AB9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 fontAlgn="base"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Create a class that inherits from Exception. E.g. </a:t>
            </a:r>
            <a:r>
              <a:rPr lang="en-US" sz="2000" b="0" i="0" u="none" strike="noStrike" dirty="0" err="1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InvalidDepartmentException</a:t>
            </a:r>
            <a:endParaRPr lang="en-US" sz="1700" b="0" i="0" u="none" strike="noStrike" dirty="0">
              <a:solidFill>
                <a:srgbClr val="93A299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370"/>
              </a:spcBef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Add the required constructor:</a:t>
            </a:r>
            <a:endParaRPr lang="en-US" sz="1700" b="0" i="0" u="none" strike="noStrike" dirty="0">
              <a:solidFill>
                <a:srgbClr val="93A299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spcBef>
                <a:spcPts val="296"/>
              </a:spcBef>
              <a:buFont typeface="+mj-lt"/>
              <a:buAutoNum type="arabicPeriod"/>
            </a:pPr>
            <a:r>
              <a:rPr lang="en-US" sz="1600" b="0" i="0" u="none" strike="noStrike" dirty="0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public </a:t>
            </a:r>
            <a:r>
              <a:rPr lang="en-US" sz="1600" b="0" i="0" u="none" strike="noStrike" dirty="0" err="1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InvalidDepartmentException</a:t>
            </a:r>
            <a:r>
              <a:rPr lang="en-US" sz="1600" b="0" i="0" u="none" strike="noStrike" dirty="0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(string message)</a:t>
            </a:r>
            <a:endParaRPr lang="en-US" sz="1360" b="0" i="0" u="none" strike="noStrike" dirty="0">
              <a:solidFill>
                <a:srgbClr val="93A299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370"/>
              </a:spcBef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Create new exception messages.</a:t>
            </a:r>
          </a:p>
          <a:p>
            <a:pPr rtl="0" fontAlgn="base">
              <a:spcBef>
                <a:spcPts val="37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292934"/>
                </a:solidFill>
                <a:latin typeface="Arial" panose="020B0604020202020204" pitchFamily="34" charset="0"/>
              </a:rPr>
              <a:t>Create appropriate classes, constructors and properties. E.g. an Employee class with </a:t>
            </a:r>
            <a:r>
              <a:rPr lang="en-US" sz="2000" dirty="0" err="1">
                <a:solidFill>
                  <a:srgbClr val="292934"/>
                </a:solidFill>
                <a:latin typeface="Arial" panose="020B0604020202020204" pitchFamily="34" charset="0"/>
              </a:rPr>
              <a:t>empID</a:t>
            </a:r>
            <a:r>
              <a:rPr lang="en-US" sz="2000" dirty="0">
                <a:solidFill>
                  <a:srgbClr val="292934"/>
                </a:solidFill>
                <a:latin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rgbClr val="292934"/>
                </a:solidFill>
                <a:latin typeface="Arial" panose="020B0604020202020204" pitchFamily="34" charset="0"/>
              </a:rPr>
              <a:t>deptID</a:t>
            </a:r>
            <a:r>
              <a:rPr lang="en-US" sz="2000" dirty="0">
                <a:solidFill>
                  <a:srgbClr val="292934"/>
                </a:solidFill>
                <a:latin typeface="Arial" panose="020B0604020202020204" pitchFamily="34" charset="0"/>
              </a:rPr>
              <a:t> and salary properties. </a:t>
            </a:r>
            <a:endParaRPr lang="en-US" sz="1700" b="0" i="0" u="none" strike="noStrike" dirty="0">
              <a:solidFill>
                <a:srgbClr val="93A299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370"/>
              </a:spcBef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Throw the exception when appropriate. E.g. while defining an Employee class constructor that uses a property </a:t>
            </a:r>
            <a:r>
              <a:rPr lang="en-US" sz="2000" dirty="0" err="1">
                <a:solidFill>
                  <a:srgbClr val="292934"/>
                </a:solidFill>
                <a:latin typeface="Arial" panose="020B0604020202020204" pitchFamily="34" charset="0"/>
              </a:rPr>
              <a:t>d</a:t>
            </a:r>
            <a:r>
              <a:rPr lang="en-US" sz="2000" b="0" i="0" u="none" strike="noStrike" dirty="0" err="1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eptID</a:t>
            </a:r>
            <a:r>
              <a:rPr lang="en-US" sz="2000" dirty="0">
                <a:solidFill>
                  <a:srgbClr val="292934"/>
                </a:solidFill>
                <a:latin typeface="Arial" panose="020B0604020202020204" pitchFamily="34" charset="0"/>
              </a:rPr>
              <a:t>, </a:t>
            </a:r>
            <a:r>
              <a:rPr lang="en-US" sz="2000" b="0" i="0" u="none" strike="noStrike" dirty="0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the constructor checks for valid </a:t>
            </a:r>
            <a:r>
              <a:rPr lang="en-US" sz="2000" dirty="0" err="1">
                <a:solidFill>
                  <a:srgbClr val="292934"/>
                </a:solidFill>
                <a:latin typeface="Arial" panose="020B0604020202020204" pitchFamily="34" charset="0"/>
              </a:rPr>
              <a:t>d</a:t>
            </a:r>
            <a:r>
              <a:rPr lang="en-US" sz="2000" b="0" i="0" u="none" strike="noStrike" dirty="0" err="1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eptID</a:t>
            </a:r>
            <a:r>
              <a:rPr lang="en-US" sz="2000" b="0" i="0" u="none" strike="noStrike" dirty="0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 and throws the </a:t>
            </a:r>
            <a:r>
              <a:rPr lang="en-US" sz="2000" b="0" i="0" u="none" strike="noStrike" dirty="0" err="1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InvalidDepartmentException</a:t>
            </a:r>
            <a:r>
              <a:rPr lang="en-US" sz="2000" b="0" i="0" u="none" strike="noStrike" dirty="0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 if </a:t>
            </a:r>
            <a:r>
              <a:rPr lang="en-US" sz="2000" b="0" i="0" u="none" strike="noStrike" dirty="0" err="1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deptID</a:t>
            </a:r>
            <a:r>
              <a:rPr lang="en-US" sz="2000" b="0" i="0" u="none" strike="noStrike" dirty="0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 is invalid.</a:t>
            </a:r>
            <a:endParaRPr lang="en-US" sz="1700" b="0" i="0" u="none" strike="noStrike" dirty="0">
              <a:solidFill>
                <a:srgbClr val="93A299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370"/>
              </a:spcBef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Catch the exception in calling method. E.g. in Main program while creating an Employee object.</a:t>
            </a:r>
            <a:endParaRPr lang="en-US" sz="1700" b="0" i="0" u="none" strike="noStrike" dirty="0">
              <a:solidFill>
                <a:srgbClr val="93A299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B21E1-7026-E6B7-A642-7C5209F1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28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2CE8C-F86E-673E-BEAD-7AB11D10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Defined Exceptions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83BA8-D2FF-7D36-BD7B-727B91915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2 important keywords to use:</a:t>
            </a:r>
          </a:p>
          <a:p>
            <a:pPr lvl="1"/>
            <a:r>
              <a:rPr lang="en-US" dirty="0"/>
              <a:t>throw: The user defined exception is thrown when a certain condition fails.</a:t>
            </a:r>
          </a:p>
          <a:p>
            <a:pPr marL="274320" lvl="1" indent="0">
              <a:buNone/>
            </a:pPr>
            <a:r>
              <a:rPr lang="en-US" dirty="0"/>
              <a:t>E.g. if (</a:t>
            </a:r>
            <a:r>
              <a:rPr lang="en-US" dirty="0" err="1"/>
              <a:t>deptID</a:t>
            </a:r>
            <a:r>
              <a:rPr lang="en-US" dirty="0"/>
              <a:t> &gt;= 5)</a:t>
            </a:r>
          </a:p>
          <a:p>
            <a:pPr marL="274320" lvl="1" indent="0">
              <a:buNone/>
            </a:pPr>
            <a:r>
              <a:rPr lang="en-US" dirty="0"/>
              <a:t>	</a:t>
            </a:r>
            <a:r>
              <a:rPr lang="en-US" b="1" dirty="0"/>
              <a:t>throw</a:t>
            </a:r>
            <a:r>
              <a:rPr lang="en-US" dirty="0"/>
              <a:t> new </a:t>
            </a:r>
            <a:r>
              <a:rPr lang="en-US" dirty="0" err="1"/>
              <a:t>InvalidDepartmentException</a:t>
            </a:r>
            <a:r>
              <a:rPr lang="en-US" dirty="0"/>
              <a:t>(“Department ID should be less than 5”)</a:t>
            </a:r>
          </a:p>
          <a:p>
            <a:pPr lvl="1"/>
            <a:r>
              <a:rPr lang="en-US" dirty="0"/>
              <a:t>throws: A method or a constructor of a class “throws” the user defined exception. While defining the method or constructor, the “throws &lt;exception&gt;” clause needs to be added.</a:t>
            </a:r>
          </a:p>
          <a:p>
            <a:pPr marL="274320" lvl="1" indent="0">
              <a:buNone/>
            </a:pPr>
            <a:r>
              <a:rPr lang="en-US" dirty="0"/>
              <a:t>E.g. public Employee() </a:t>
            </a:r>
            <a:r>
              <a:rPr lang="en-US" b="1" dirty="0"/>
              <a:t>throws</a:t>
            </a:r>
            <a:r>
              <a:rPr lang="en-US" dirty="0"/>
              <a:t> </a:t>
            </a:r>
            <a:r>
              <a:rPr lang="en-US" dirty="0" err="1"/>
              <a:t>InvalidDepartmentException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5D3DB-8E85-062C-A99F-5323072C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D72AB-36A5-4126-9530-DA8CA6890A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772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77664</TotalTime>
  <Words>595</Words>
  <Application>Microsoft Office PowerPoint</Application>
  <PresentationFormat>On-screen Show (4:3)</PresentationFormat>
  <Paragraphs>82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Clarity</vt:lpstr>
      <vt:lpstr>333</vt:lpstr>
      <vt:lpstr>Unit III: Exceptions</vt:lpstr>
      <vt:lpstr>Java Exceptions</vt:lpstr>
      <vt:lpstr>Difference between Error and Exception</vt:lpstr>
      <vt:lpstr>Exception Handling</vt:lpstr>
      <vt:lpstr>The “try-catch” block</vt:lpstr>
      <vt:lpstr>The “finally” block</vt:lpstr>
      <vt:lpstr>Exception Class Hierarchy</vt:lpstr>
      <vt:lpstr>Defining a new Exception Class</vt:lpstr>
      <vt:lpstr>User Defined Exceptions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TOOL</dc:title>
  <dc:creator>Pratima</dc:creator>
  <cp:lastModifiedBy>Omkar Joshi</cp:lastModifiedBy>
  <cp:revision>668</cp:revision>
  <dcterms:created xsi:type="dcterms:W3CDTF">2016-02-24T12:57:14Z</dcterms:created>
  <dcterms:modified xsi:type="dcterms:W3CDTF">2025-03-12T05:36:59Z</dcterms:modified>
</cp:coreProperties>
</file>