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Arial Black"/>
      <p:regular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hk2iIZvYaT11xlrpjRuQzygS0n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ArialBlack-regular.fntdata"/><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 name="Shape 10"/>
        <p:cNvGrpSpPr/>
        <p:nvPr/>
      </p:nvGrpSpPr>
      <p:grpSpPr>
        <a:xfrm>
          <a:off x="0" y="0"/>
          <a:ext cx="0" cy="0"/>
          <a:chOff x="0" y="0"/>
          <a:chExt cx="0" cy="0"/>
        </a:xfrm>
      </p:grpSpPr>
      <p:sp>
        <p:nvSpPr>
          <p:cNvPr id="11" name="Google Shape;11;p12"/>
          <p:cNvSpPr txBox="1"/>
          <p:nvPr>
            <p:ph type="title"/>
          </p:nvPr>
        </p:nvSpPr>
        <p:spPr>
          <a:xfrm>
            <a:off x="432000" y="432000"/>
            <a:ext cx="11340000" cy="540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12"/>
          <p:cNvSpPr txBox="1"/>
          <p:nvPr>
            <p:ph idx="11" type="ftr"/>
          </p:nvPr>
        </p:nvSpPr>
        <p:spPr>
          <a:xfrm>
            <a:off x="431999" y="6356350"/>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p:nvPr>
            <p:ph idx="12" type="sldNum"/>
          </p:nvPr>
        </p:nvSpPr>
        <p:spPr>
          <a:xfrm>
            <a:off x="9028798"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32000" y="432000"/>
            <a:ext cx="11340000" cy="54000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3200"/>
              <a:buFont typeface="Trebuchet MS"/>
              <a:buNone/>
              <a:defRPr b="0" i="0" sz="3200" u="none" cap="none" strike="noStrik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31999" y="1224000"/>
            <a:ext cx="11339999" cy="485874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8" name="Google Shape;8;p11"/>
          <p:cNvSpPr txBox="1"/>
          <p:nvPr>
            <p:ph idx="11" type="ftr"/>
          </p:nvPr>
        </p:nvSpPr>
        <p:spPr>
          <a:xfrm>
            <a:off x="431999" y="6356350"/>
            <a:ext cx="411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9" name="Google Shape;9;p11"/>
          <p:cNvSpPr txBox="1"/>
          <p:nvPr>
            <p:ph idx="12" type="sldNum"/>
          </p:nvPr>
        </p:nvSpPr>
        <p:spPr>
          <a:xfrm>
            <a:off x="9028798"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Trebuchet MS"/>
                <a:ea typeface="Trebuchet MS"/>
                <a:cs typeface="Trebuchet MS"/>
                <a:sym typeface="Trebuchet MS"/>
              </a:defRPr>
            </a:lvl1pPr>
            <a:lvl2pPr indent="0" lvl="1" marL="0" marR="0" rtl="0" algn="r">
              <a:spcBef>
                <a:spcPts val="0"/>
              </a:spcBef>
              <a:buNone/>
              <a:defRPr b="0" i="0" sz="1200" u="none" cap="none" strike="noStrike">
                <a:solidFill>
                  <a:srgbClr val="888888"/>
                </a:solidFill>
                <a:latin typeface="Trebuchet MS"/>
                <a:ea typeface="Trebuchet MS"/>
                <a:cs typeface="Trebuchet MS"/>
                <a:sym typeface="Trebuchet MS"/>
              </a:defRPr>
            </a:lvl2pPr>
            <a:lvl3pPr indent="0" lvl="2" marL="0" marR="0" rtl="0" algn="r">
              <a:spcBef>
                <a:spcPts val="0"/>
              </a:spcBef>
              <a:buNone/>
              <a:defRPr b="0" i="0" sz="1200" u="none" cap="none" strike="noStrike">
                <a:solidFill>
                  <a:srgbClr val="888888"/>
                </a:solidFill>
                <a:latin typeface="Trebuchet MS"/>
                <a:ea typeface="Trebuchet MS"/>
                <a:cs typeface="Trebuchet MS"/>
                <a:sym typeface="Trebuchet MS"/>
              </a:defRPr>
            </a:lvl3pPr>
            <a:lvl4pPr indent="0" lvl="3" marL="0" marR="0" rtl="0" algn="r">
              <a:spcBef>
                <a:spcPts val="0"/>
              </a:spcBef>
              <a:buNone/>
              <a:defRPr b="0" i="0" sz="1200" u="none" cap="none" strike="noStrike">
                <a:solidFill>
                  <a:srgbClr val="888888"/>
                </a:solidFill>
                <a:latin typeface="Trebuchet MS"/>
                <a:ea typeface="Trebuchet MS"/>
                <a:cs typeface="Trebuchet MS"/>
                <a:sym typeface="Trebuchet MS"/>
              </a:defRPr>
            </a:lvl4pPr>
            <a:lvl5pPr indent="0" lvl="4" marL="0" marR="0" rtl="0" algn="r">
              <a:spcBef>
                <a:spcPts val="0"/>
              </a:spcBef>
              <a:buNone/>
              <a:defRPr b="0" i="0" sz="1200" u="none" cap="none" strike="noStrike">
                <a:solidFill>
                  <a:srgbClr val="888888"/>
                </a:solidFill>
                <a:latin typeface="Trebuchet MS"/>
                <a:ea typeface="Trebuchet MS"/>
                <a:cs typeface="Trebuchet MS"/>
                <a:sym typeface="Trebuchet MS"/>
              </a:defRPr>
            </a:lvl5pPr>
            <a:lvl6pPr indent="0" lvl="5" marL="0" marR="0" rtl="0" algn="r">
              <a:spcBef>
                <a:spcPts val="0"/>
              </a:spcBef>
              <a:buNone/>
              <a:defRPr b="0" i="0" sz="1200" u="none" cap="none" strike="noStrike">
                <a:solidFill>
                  <a:srgbClr val="888888"/>
                </a:solidFill>
                <a:latin typeface="Trebuchet MS"/>
                <a:ea typeface="Trebuchet MS"/>
                <a:cs typeface="Trebuchet MS"/>
                <a:sym typeface="Trebuchet MS"/>
              </a:defRPr>
            </a:lvl6pPr>
            <a:lvl7pPr indent="0" lvl="6" marL="0" marR="0" rtl="0" algn="r">
              <a:spcBef>
                <a:spcPts val="0"/>
              </a:spcBef>
              <a:buNone/>
              <a:defRPr b="0" i="0" sz="1200" u="none" cap="none" strike="noStrike">
                <a:solidFill>
                  <a:srgbClr val="888888"/>
                </a:solidFill>
                <a:latin typeface="Trebuchet MS"/>
                <a:ea typeface="Trebuchet MS"/>
                <a:cs typeface="Trebuchet MS"/>
                <a:sym typeface="Trebuchet MS"/>
              </a:defRPr>
            </a:lvl7pPr>
            <a:lvl8pPr indent="0" lvl="7" marL="0" marR="0" rtl="0" algn="r">
              <a:spcBef>
                <a:spcPts val="0"/>
              </a:spcBef>
              <a:buNone/>
              <a:defRPr b="0" i="0" sz="1200" u="none" cap="none" strike="noStrike">
                <a:solidFill>
                  <a:srgbClr val="888888"/>
                </a:solidFill>
                <a:latin typeface="Trebuchet MS"/>
                <a:ea typeface="Trebuchet MS"/>
                <a:cs typeface="Trebuchet MS"/>
                <a:sym typeface="Trebuchet MS"/>
              </a:defRPr>
            </a:lvl8pPr>
            <a:lvl9pPr indent="0" lvl="8" marL="0" marR="0" rtl="0" algn="r">
              <a:spcBef>
                <a:spcPts val="0"/>
              </a:spcBef>
              <a:buNone/>
              <a:defRPr b="0" i="0" sz="1200" u="none" cap="none" strike="noStrike">
                <a:solidFill>
                  <a:srgbClr val="888888"/>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 name="Shape 17"/>
        <p:cNvGrpSpPr/>
        <p:nvPr/>
      </p:nvGrpSpPr>
      <p:grpSpPr>
        <a:xfrm>
          <a:off x="0" y="0"/>
          <a:ext cx="0" cy="0"/>
          <a:chOff x="0" y="0"/>
          <a:chExt cx="0" cy="0"/>
        </a:xfrm>
      </p:grpSpPr>
      <p:sp>
        <p:nvSpPr>
          <p:cNvPr id="18" name="Google Shape;18;p1"/>
          <p:cNvSpPr txBox="1"/>
          <p:nvPr>
            <p:ph type="title"/>
          </p:nvPr>
        </p:nvSpPr>
        <p:spPr>
          <a:xfrm>
            <a:off x="432000" y="432000"/>
            <a:ext cx="11340000" cy="540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3200"/>
              <a:buFont typeface="Trebuchet MS"/>
              <a:buNone/>
            </a:pPr>
            <a:r>
              <a:rPr lang="en-US"/>
              <a:t> </a:t>
            </a:r>
            <a:r>
              <a:rPr lang="en-US" sz="2700">
                <a:latin typeface="Arial Black"/>
                <a:ea typeface="Arial Black"/>
                <a:cs typeface="Arial Black"/>
                <a:sym typeface="Arial Black"/>
              </a:rPr>
              <a:t>Production Process : Behaviour of Profit Maximizing Firms</a:t>
            </a:r>
            <a:endParaRPr/>
          </a:p>
        </p:txBody>
      </p:sp>
      <p:grpSp>
        <p:nvGrpSpPr>
          <p:cNvPr id="19" name="Google Shape;19;p1" title="Timeline"/>
          <p:cNvGrpSpPr/>
          <p:nvPr/>
        </p:nvGrpSpPr>
        <p:grpSpPr>
          <a:xfrm>
            <a:off x="418011" y="3346265"/>
            <a:ext cx="11214665" cy="165471"/>
            <a:chOff x="418011" y="3346265"/>
            <a:chExt cx="11214665" cy="165471"/>
          </a:xfrm>
        </p:grpSpPr>
        <p:cxnSp>
          <p:nvCxnSpPr>
            <p:cNvPr id="20" name="Google Shape;20;p1"/>
            <p:cNvCxnSpPr/>
            <p:nvPr/>
          </p:nvCxnSpPr>
          <p:spPr>
            <a:xfrm>
              <a:off x="418011" y="3429000"/>
              <a:ext cx="11214665" cy="0"/>
            </a:xfrm>
            <a:prstGeom prst="straightConnector1">
              <a:avLst/>
            </a:prstGeom>
            <a:noFill/>
            <a:ln cap="flat" cmpd="sng" w="9525">
              <a:solidFill>
                <a:srgbClr val="BFBFBF"/>
              </a:solidFill>
              <a:prstDash val="solid"/>
              <a:miter lim="800000"/>
              <a:headEnd len="sm" w="sm" type="none"/>
              <a:tailEnd len="med" w="med" type="triangle"/>
            </a:ln>
          </p:spPr>
        </p:cxnSp>
        <p:cxnSp>
          <p:nvCxnSpPr>
            <p:cNvPr id="21" name="Google Shape;21;p1"/>
            <p:cNvCxnSpPr/>
            <p:nvPr/>
          </p:nvCxnSpPr>
          <p:spPr>
            <a:xfrm>
              <a:off x="1067476"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22" name="Google Shape;22;p1"/>
            <p:cNvCxnSpPr/>
            <p:nvPr/>
          </p:nvCxnSpPr>
          <p:spPr>
            <a:xfrm>
              <a:off x="1714868"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23" name="Google Shape;23;p1"/>
            <p:cNvCxnSpPr/>
            <p:nvPr/>
          </p:nvCxnSpPr>
          <p:spPr>
            <a:xfrm>
              <a:off x="2362260"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24" name="Google Shape;24;p1"/>
            <p:cNvCxnSpPr/>
            <p:nvPr/>
          </p:nvCxnSpPr>
          <p:spPr>
            <a:xfrm>
              <a:off x="3009652"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25" name="Google Shape;25;p1"/>
            <p:cNvCxnSpPr/>
            <p:nvPr/>
          </p:nvCxnSpPr>
          <p:spPr>
            <a:xfrm>
              <a:off x="3657044"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26" name="Google Shape;26;p1"/>
            <p:cNvCxnSpPr/>
            <p:nvPr/>
          </p:nvCxnSpPr>
          <p:spPr>
            <a:xfrm>
              <a:off x="4304436"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27" name="Google Shape;27;p1"/>
            <p:cNvCxnSpPr/>
            <p:nvPr/>
          </p:nvCxnSpPr>
          <p:spPr>
            <a:xfrm>
              <a:off x="4951828"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28" name="Google Shape;28;p1"/>
            <p:cNvCxnSpPr/>
            <p:nvPr/>
          </p:nvCxnSpPr>
          <p:spPr>
            <a:xfrm>
              <a:off x="5599220"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29" name="Google Shape;29;p1"/>
            <p:cNvCxnSpPr/>
            <p:nvPr/>
          </p:nvCxnSpPr>
          <p:spPr>
            <a:xfrm>
              <a:off x="6246612"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30" name="Google Shape;30;p1"/>
            <p:cNvCxnSpPr/>
            <p:nvPr/>
          </p:nvCxnSpPr>
          <p:spPr>
            <a:xfrm>
              <a:off x="6894004"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31" name="Google Shape;31;p1"/>
            <p:cNvCxnSpPr/>
            <p:nvPr/>
          </p:nvCxnSpPr>
          <p:spPr>
            <a:xfrm>
              <a:off x="7541396"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32" name="Google Shape;32;p1"/>
            <p:cNvCxnSpPr/>
            <p:nvPr/>
          </p:nvCxnSpPr>
          <p:spPr>
            <a:xfrm>
              <a:off x="8188788"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33" name="Google Shape;33;p1"/>
            <p:cNvCxnSpPr/>
            <p:nvPr/>
          </p:nvCxnSpPr>
          <p:spPr>
            <a:xfrm>
              <a:off x="8836180"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34" name="Google Shape;34;p1"/>
            <p:cNvCxnSpPr/>
            <p:nvPr/>
          </p:nvCxnSpPr>
          <p:spPr>
            <a:xfrm>
              <a:off x="9483572"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35" name="Google Shape;35;p1"/>
            <p:cNvCxnSpPr/>
            <p:nvPr/>
          </p:nvCxnSpPr>
          <p:spPr>
            <a:xfrm>
              <a:off x="10130964" y="3346265"/>
              <a:ext cx="0" cy="165471"/>
            </a:xfrm>
            <a:prstGeom prst="straightConnector1">
              <a:avLst/>
            </a:prstGeom>
            <a:noFill/>
            <a:ln cap="flat" cmpd="sng" w="9525">
              <a:solidFill>
                <a:srgbClr val="D8D8D8"/>
              </a:solidFill>
              <a:prstDash val="dash"/>
              <a:miter lim="800000"/>
              <a:headEnd len="sm" w="sm" type="none"/>
              <a:tailEnd len="sm" w="sm" type="none"/>
            </a:ln>
          </p:spPr>
        </p:cxnSp>
        <p:cxnSp>
          <p:nvCxnSpPr>
            <p:cNvPr id="36" name="Google Shape;36;p1"/>
            <p:cNvCxnSpPr/>
            <p:nvPr/>
          </p:nvCxnSpPr>
          <p:spPr>
            <a:xfrm>
              <a:off x="10778356" y="3346265"/>
              <a:ext cx="0" cy="165471"/>
            </a:xfrm>
            <a:prstGeom prst="straightConnector1">
              <a:avLst/>
            </a:prstGeom>
            <a:noFill/>
            <a:ln cap="flat" cmpd="sng" w="9525">
              <a:solidFill>
                <a:srgbClr val="D8D8D8"/>
              </a:solidFill>
              <a:prstDash val="dash"/>
              <a:miter lim="800000"/>
              <a:headEnd len="sm" w="sm" type="none"/>
              <a:tailEnd len="sm" w="sm" type="none"/>
            </a:ln>
          </p:spPr>
        </p:cxnSp>
      </p:grpSp>
      <p:sp>
        <p:nvSpPr>
          <p:cNvPr id="37" name="Google Shape;37;p1" title="Timeline Arrow"/>
          <p:cNvSpPr/>
          <p:nvPr/>
        </p:nvSpPr>
        <p:spPr>
          <a:xfrm>
            <a:off x="418011" y="2778033"/>
            <a:ext cx="2068014" cy="650967"/>
          </a:xfrm>
          <a:prstGeom prst="uturnArrow">
            <a:avLst>
              <a:gd fmla="val 37244" name="adj1"/>
              <a:gd fmla="val 18622" name="adj2"/>
              <a:gd fmla="val 20252" name="adj3"/>
              <a:gd fmla="val 52602" name="adj4"/>
              <a:gd fmla="val 96832" name="adj5"/>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sp>
        <p:nvSpPr>
          <p:cNvPr id="38" name="Google Shape;38;p1" title="Timeline Arrow"/>
          <p:cNvSpPr/>
          <p:nvPr/>
        </p:nvSpPr>
        <p:spPr>
          <a:xfrm flipH="1" rot="10800000">
            <a:off x="2242528" y="3428999"/>
            <a:ext cx="1536515" cy="650967"/>
          </a:xfrm>
          <a:prstGeom prst="uturnArrow">
            <a:avLst>
              <a:gd fmla="val 37244" name="adj1"/>
              <a:gd fmla="val 18622" name="adj2"/>
              <a:gd fmla="val 20252" name="adj3"/>
              <a:gd fmla="val 52602" name="adj4"/>
              <a:gd fmla="val 96832" name="adj5"/>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cxnSp>
        <p:nvCxnSpPr>
          <p:cNvPr id="39" name="Google Shape;39;p1" title="Connecter Line"/>
          <p:cNvCxnSpPr/>
          <p:nvPr/>
        </p:nvCxnSpPr>
        <p:spPr>
          <a:xfrm flipH="1">
            <a:off x="3010785" y="4422450"/>
            <a:ext cx="1" cy="361944"/>
          </a:xfrm>
          <a:prstGeom prst="straightConnector1">
            <a:avLst/>
          </a:prstGeom>
          <a:noFill/>
          <a:ln cap="flat" cmpd="sng" w="9525">
            <a:solidFill>
              <a:schemeClr val="accent1"/>
            </a:solidFill>
            <a:prstDash val="solid"/>
            <a:miter lim="800000"/>
            <a:headEnd len="med" w="med" type="oval"/>
            <a:tailEnd len="med" w="med" type="oval"/>
          </a:ln>
        </p:spPr>
      </p:cxnSp>
      <p:sp>
        <p:nvSpPr>
          <p:cNvPr id="40" name="Google Shape;40;p1"/>
          <p:cNvSpPr txBox="1"/>
          <p:nvPr/>
        </p:nvSpPr>
        <p:spPr>
          <a:xfrm>
            <a:off x="2128112" y="4930774"/>
            <a:ext cx="1767840"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Process</a:t>
            </a:r>
            <a:endParaRPr/>
          </a:p>
        </p:txBody>
      </p:sp>
      <p:sp>
        <p:nvSpPr>
          <p:cNvPr id="41" name="Google Shape;41;p1" title="Timeline Arrow"/>
          <p:cNvSpPr/>
          <p:nvPr/>
        </p:nvSpPr>
        <p:spPr>
          <a:xfrm>
            <a:off x="3531563" y="2193926"/>
            <a:ext cx="893303" cy="1235070"/>
          </a:xfrm>
          <a:prstGeom prst="uturnArrow">
            <a:avLst>
              <a:gd fmla="val 27292" name="adj1"/>
              <a:gd fmla="val 13691" name="adj2"/>
              <a:gd fmla="val 20519" name="adj3"/>
              <a:gd fmla="val 52602" name="adj4"/>
              <a:gd fmla="val 96832" name="adj5"/>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grpSp>
        <p:nvGrpSpPr>
          <p:cNvPr id="42" name="Google Shape;42;p1" title="Milestone Graphic"/>
          <p:cNvGrpSpPr/>
          <p:nvPr/>
        </p:nvGrpSpPr>
        <p:grpSpPr>
          <a:xfrm>
            <a:off x="3764706" y="2101552"/>
            <a:ext cx="464817" cy="464817"/>
            <a:chOff x="3764706" y="2101552"/>
            <a:chExt cx="464817" cy="464817"/>
          </a:xfrm>
        </p:grpSpPr>
        <p:sp>
          <p:nvSpPr>
            <p:cNvPr id="43" name="Google Shape;43;p1" title="Circle Background"/>
            <p:cNvSpPr/>
            <p:nvPr/>
          </p:nvSpPr>
          <p:spPr>
            <a:xfrm>
              <a:off x="3764706" y="2101552"/>
              <a:ext cx="464817" cy="464817"/>
            </a:xfrm>
            <a:prstGeom prst="ellipse">
              <a:avLst/>
            </a:prstGeom>
            <a:solidFill>
              <a:schemeClr val="dk1">
                <a:alpha val="6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pic>
          <p:nvPicPr>
            <p:cNvPr id="44" name="Google Shape;44;p1" title="Milestone Icon"/>
            <p:cNvPicPr preferRelativeResize="0"/>
            <p:nvPr/>
          </p:nvPicPr>
          <p:blipFill rotWithShape="1">
            <a:blip r:embed="rId3">
              <a:alphaModFix/>
            </a:blip>
            <a:srcRect b="0" l="0" r="0" t="0"/>
            <a:stretch/>
          </p:blipFill>
          <p:spPr>
            <a:xfrm>
              <a:off x="3918732" y="2154698"/>
              <a:ext cx="235505" cy="315487"/>
            </a:xfrm>
            <a:prstGeom prst="rect">
              <a:avLst/>
            </a:prstGeom>
            <a:noFill/>
            <a:ln>
              <a:noFill/>
            </a:ln>
          </p:spPr>
        </p:pic>
      </p:grpSp>
      <p:grpSp>
        <p:nvGrpSpPr>
          <p:cNvPr id="45" name="Google Shape;45;p1" title="Item Text"/>
          <p:cNvGrpSpPr/>
          <p:nvPr/>
        </p:nvGrpSpPr>
        <p:grpSpPr>
          <a:xfrm>
            <a:off x="3223280" y="1676829"/>
            <a:ext cx="1788389" cy="288293"/>
            <a:chOff x="3095088" y="1578997"/>
            <a:chExt cx="1788389" cy="288293"/>
          </a:xfrm>
        </p:grpSpPr>
        <p:sp>
          <p:nvSpPr>
            <p:cNvPr id="46" name="Google Shape;46;p1"/>
            <p:cNvSpPr txBox="1"/>
            <p:nvPr/>
          </p:nvSpPr>
          <p:spPr>
            <a:xfrm>
              <a:off x="3115637" y="1590291"/>
              <a:ext cx="1767840"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Milestone</a:t>
              </a:r>
              <a:endParaRPr/>
            </a:p>
          </p:txBody>
        </p:sp>
        <p:sp>
          <p:nvSpPr>
            <p:cNvPr id="47" name="Google Shape;47;p1"/>
            <p:cNvSpPr txBox="1"/>
            <p:nvPr/>
          </p:nvSpPr>
          <p:spPr>
            <a:xfrm>
              <a:off x="3095088" y="1578997"/>
              <a:ext cx="1767840"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b="0" i="0" sz="1000" u="none" cap="none" strike="noStrike">
                <a:solidFill>
                  <a:srgbClr val="3F3F3F"/>
                </a:solidFill>
                <a:latin typeface="Trebuchet MS"/>
                <a:ea typeface="Trebuchet MS"/>
                <a:cs typeface="Trebuchet MS"/>
                <a:sym typeface="Trebuchet MS"/>
              </a:endParaRPr>
            </a:p>
          </p:txBody>
        </p:sp>
      </p:grpSp>
      <p:sp>
        <p:nvSpPr>
          <p:cNvPr id="48" name="Google Shape;48;p1" title="Timeline Arrow"/>
          <p:cNvSpPr/>
          <p:nvPr/>
        </p:nvSpPr>
        <p:spPr>
          <a:xfrm flipH="1" rot="10800000">
            <a:off x="4184042" y="3428996"/>
            <a:ext cx="893303" cy="1235070"/>
          </a:xfrm>
          <a:prstGeom prst="uturnArrow">
            <a:avLst>
              <a:gd fmla="val 27292" name="adj1"/>
              <a:gd fmla="val 13691" name="adj2"/>
              <a:gd fmla="val 20519" name="adj3"/>
              <a:gd fmla="val 52602" name="adj4"/>
              <a:gd fmla="val 96832" name="adj5"/>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grpSp>
        <p:nvGrpSpPr>
          <p:cNvPr id="49" name="Google Shape;49;p1" title="Milestone Graphic"/>
          <p:cNvGrpSpPr/>
          <p:nvPr/>
        </p:nvGrpSpPr>
        <p:grpSpPr>
          <a:xfrm>
            <a:off x="4398285" y="4297293"/>
            <a:ext cx="464817" cy="464817"/>
            <a:chOff x="4398285" y="4297293"/>
            <a:chExt cx="464817" cy="464817"/>
          </a:xfrm>
        </p:grpSpPr>
        <p:sp>
          <p:nvSpPr>
            <p:cNvPr id="50" name="Google Shape;50;p1" title="Circle Background"/>
            <p:cNvSpPr/>
            <p:nvPr/>
          </p:nvSpPr>
          <p:spPr>
            <a:xfrm>
              <a:off x="4398285" y="4297293"/>
              <a:ext cx="464817" cy="464817"/>
            </a:xfrm>
            <a:prstGeom prst="ellipse">
              <a:avLst/>
            </a:prstGeom>
            <a:solidFill>
              <a:schemeClr val="dk1">
                <a:alpha val="6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pic>
          <p:nvPicPr>
            <p:cNvPr id="51" name="Google Shape;51;p1" title="Milestone Icon"/>
            <p:cNvPicPr preferRelativeResize="0"/>
            <p:nvPr/>
          </p:nvPicPr>
          <p:blipFill rotWithShape="1">
            <a:blip r:embed="rId3">
              <a:alphaModFix/>
            </a:blip>
            <a:srcRect b="0" l="0" r="0" t="0"/>
            <a:stretch/>
          </p:blipFill>
          <p:spPr>
            <a:xfrm>
              <a:off x="4531991" y="4382052"/>
              <a:ext cx="235505" cy="315487"/>
            </a:xfrm>
            <a:prstGeom prst="rect">
              <a:avLst/>
            </a:prstGeom>
            <a:noFill/>
            <a:ln>
              <a:noFill/>
            </a:ln>
          </p:spPr>
        </p:pic>
      </p:grpSp>
      <p:sp>
        <p:nvSpPr>
          <p:cNvPr id="52" name="Google Shape;52;p1"/>
          <p:cNvSpPr txBox="1"/>
          <p:nvPr/>
        </p:nvSpPr>
        <p:spPr>
          <a:xfrm>
            <a:off x="3764706" y="4930774"/>
            <a:ext cx="1767840"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Milestone</a:t>
            </a:r>
            <a:endParaRPr/>
          </a:p>
        </p:txBody>
      </p:sp>
      <p:sp>
        <p:nvSpPr>
          <p:cNvPr id="53" name="Google Shape;53;p1" title="Timeline Arrow"/>
          <p:cNvSpPr/>
          <p:nvPr/>
        </p:nvSpPr>
        <p:spPr>
          <a:xfrm>
            <a:off x="4826144" y="2778033"/>
            <a:ext cx="2841482" cy="650967"/>
          </a:xfrm>
          <a:prstGeom prst="uturnArrow">
            <a:avLst>
              <a:gd fmla="val 37244" name="adj1"/>
              <a:gd fmla="val 18622" name="adj2"/>
              <a:gd fmla="val 20252" name="adj3"/>
              <a:gd fmla="val 52602" name="adj4"/>
              <a:gd fmla="val 96832" name="adj5"/>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cxnSp>
        <p:nvCxnSpPr>
          <p:cNvPr id="54" name="Google Shape;54;p1" title="Connecter Line"/>
          <p:cNvCxnSpPr/>
          <p:nvPr/>
        </p:nvCxnSpPr>
        <p:spPr>
          <a:xfrm flipH="1">
            <a:off x="6246611" y="2124255"/>
            <a:ext cx="1" cy="361944"/>
          </a:xfrm>
          <a:prstGeom prst="straightConnector1">
            <a:avLst/>
          </a:prstGeom>
          <a:noFill/>
          <a:ln cap="flat" cmpd="sng" w="9525">
            <a:solidFill>
              <a:schemeClr val="accent1"/>
            </a:solidFill>
            <a:prstDash val="solid"/>
            <a:miter lim="800000"/>
            <a:headEnd len="med" w="med" type="oval"/>
            <a:tailEnd len="med" w="med" type="oval"/>
          </a:ln>
        </p:spPr>
      </p:cxnSp>
      <p:grpSp>
        <p:nvGrpSpPr>
          <p:cNvPr id="55" name="Google Shape;55;p1" title="Item Text"/>
          <p:cNvGrpSpPr/>
          <p:nvPr/>
        </p:nvGrpSpPr>
        <p:grpSpPr>
          <a:xfrm>
            <a:off x="5362965" y="1578997"/>
            <a:ext cx="1788389" cy="419055"/>
            <a:chOff x="5362965" y="1578997"/>
            <a:chExt cx="1788389" cy="419055"/>
          </a:xfrm>
        </p:grpSpPr>
        <p:sp>
          <p:nvSpPr>
            <p:cNvPr id="56" name="Google Shape;56;p1"/>
            <p:cNvSpPr txBox="1"/>
            <p:nvPr/>
          </p:nvSpPr>
          <p:spPr>
            <a:xfrm>
              <a:off x="5383514" y="1705998"/>
              <a:ext cx="1767840"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Process</a:t>
              </a:r>
              <a:endParaRPr/>
            </a:p>
          </p:txBody>
        </p:sp>
        <p:sp>
          <p:nvSpPr>
            <p:cNvPr id="57" name="Google Shape;57;p1"/>
            <p:cNvSpPr txBox="1"/>
            <p:nvPr/>
          </p:nvSpPr>
          <p:spPr>
            <a:xfrm>
              <a:off x="5362965" y="1578997"/>
              <a:ext cx="1767840"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b="0" i="0" sz="1000" u="none" cap="none" strike="noStrike">
                <a:solidFill>
                  <a:srgbClr val="3F3F3F"/>
                </a:solidFill>
                <a:latin typeface="Trebuchet MS"/>
                <a:ea typeface="Trebuchet MS"/>
                <a:cs typeface="Trebuchet MS"/>
                <a:sym typeface="Trebuchet MS"/>
              </a:endParaRPr>
            </a:p>
          </p:txBody>
        </p:sp>
        <p:sp>
          <p:nvSpPr>
            <p:cNvPr id="58" name="Google Shape;58;p1"/>
            <p:cNvSpPr txBox="1"/>
            <p:nvPr/>
          </p:nvSpPr>
          <p:spPr>
            <a:xfrm>
              <a:off x="5362966" y="1762315"/>
              <a:ext cx="1767839" cy="235737"/>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t/>
              </a:r>
              <a:endParaRPr b="0" i="0" sz="1000" u="none" cap="none" strike="noStrike">
                <a:solidFill>
                  <a:srgbClr val="3F3F3F"/>
                </a:solidFill>
                <a:latin typeface="Trebuchet MS"/>
                <a:ea typeface="Trebuchet MS"/>
                <a:cs typeface="Trebuchet MS"/>
                <a:sym typeface="Trebuchet MS"/>
              </a:endParaRPr>
            </a:p>
          </p:txBody>
        </p:sp>
      </p:grpSp>
      <p:sp>
        <p:nvSpPr>
          <p:cNvPr id="59" name="Google Shape;59;p1" title="Timeline Arrow"/>
          <p:cNvSpPr/>
          <p:nvPr/>
        </p:nvSpPr>
        <p:spPr>
          <a:xfrm flipH="1" rot="10800000">
            <a:off x="7420531" y="3428998"/>
            <a:ext cx="893304" cy="650967"/>
          </a:xfrm>
          <a:prstGeom prst="uturnArrow">
            <a:avLst>
              <a:gd fmla="val 37244" name="adj1"/>
              <a:gd fmla="val 18622" name="adj2"/>
              <a:gd fmla="val 20252" name="adj3"/>
              <a:gd fmla="val 52602" name="adj4"/>
              <a:gd fmla="val 96832" name="adj5"/>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grpSp>
        <p:nvGrpSpPr>
          <p:cNvPr id="60" name="Google Shape;60;p1" title="Short Milestone"/>
          <p:cNvGrpSpPr/>
          <p:nvPr/>
        </p:nvGrpSpPr>
        <p:grpSpPr>
          <a:xfrm>
            <a:off x="7634775" y="3713610"/>
            <a:ext cx="464817" cy="464817"/>
            <a:chOff x="7634775" y="3713610"/>
            <a:chExt cx="464817" cy="464817"/>
          </a:xfrm>
        </p:grpSpPr>
        <p:sp>
          <p:nvSpPr>
            <p:cNvPr id="61" name="Google Shape;61;p1" title="Circle Background"/>
            <p:cNvSpPr/>
            <p:nvPr/>
          </p:nvSpPr>
          <p:spPr>
            <a:xfrm>
              <a:off x="7634775" y="3713610"/>
              <a:ext cx="464817" cy="464817"/>
            </a:xfrm>
            <a:prstGeom prst="ellipse">
              <a:avLst/>
            </a:prstGeom>
            <a:solidFill>
              <a:schemeClr val="dk1">
                <a:alpha val="6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62" name="Google Shape;62;p1"/>
            <p:cNvSpPr txBox="1"/>
            <p:nvPr/>
          </p:nvSpPr>
          <p:spPr>
            <a:xfrm>
              <a:off x="7667326" y="3869424"/>
              <a:ext cx="399715"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00" u="none" cap="none" strike="noStrike">
                  <a:solidFill>
                    <a:schemeClr val="lt1"/>
                  </a:solidFill>
                  <a:latin typeface="Trebuchet MS"/>
                  <a:ea typeface="Trebuchet MS"/>
                  <a:cs typeface="Trebuchet MS"/>
                  <a:sym typeface="Trebuchet MS"/>
                </a:rPr>
                <a:t>01</a:t>
              </a:r>
              <a:endParaRPr/>
            </a:p>
          </p:txBody>
        </p:sp>
      </p:grpSp>
      <p:grpSp>
        <p:nvGrpSpPr>
          <p:cNvPr id="63" name="Google Shape;63;p1" title="Year Indicator"/>
          <p:cNvGrpSpPr/>
          <p:nvPr/>
        </p:nvGrpSpPr>
        <p:grpSpPr>
          <a:xfrm>
            <a:off x="8067631" y="1344708"/>
            <a:ext cx="893302" cy="2084288"/>
            <a:chOff x="8067631" y="1344708"/>
            <a:chExt cx="893302" cy="2084288"/>
          </a:xfrm>
        </p:grpSpPr>
        <p:cxnSp>
          <p:nvCxnSpPr>
            <p:cNvPr id="64" name="Google Shape;64;p1" title="Connecter Line"/>
            <p:cNvCxnSpPr/>
            <p:nvPr/>
          </p:nvCxnSpPr>
          <p:spPr>
            <a:xfrm rot="10800000">
              <a:off x="8512405" y="1705998"/>
              <a:ext cx="0" cy="1722998"/>
            </a:xfrm>
            <a:prstGeom prst="straightConnector1">
              <a:avLst/>
            </a:prstGeom>
            <a:noFill/>
            <a:ln cap="flat" cmpd="sng" w="9525">
              <a:solidFill>
                <a:srgbClr val="BFBFBF"/>
              </a:solidFill>
              <a:prstDash val="dash"/>
              <a:miter lim="800000"/>
              <a:headEnd len="med" w="med" type="oval"/>
              <a:tailEnd len="med" w="med" type="oval"/>
            </a:ln>
          </p:spPr>
        </p:cxnSp>
        <p:sp>
          <p:nvSpPr>
            <p:cNvPr id="65" name="Google Shape;65;p1"/>
            <p:cNvSpPr txBox="1"/>
            <p:nvPr/>
          </p:nvSpPr>
          <p:spPr>
            <a:xfrm>
              <a:off x="8067631" y="1344708"/>
              <a:ext cx="893302" cy="16158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b="1" i="0" sz="1050" u="none" cap="none" strike="noStrike">
                <a:solidFill>
                  <a:srgbClr val="3F3F3F"/>
                </a:solidFill>
                <a:latin typeface="Trebuchet MS"/>
                <a:ea typeface="Trebuchet MS"/>
                <a:cs typeface="Trebuchet MS"/>
                <a:sym typeface="Trebuchet MS"/>
              </a:endParaRPr>
            </a:p>
          </p:txBody>
        </p:sp>
      </p:grpSp>
      <p:sp>
        <p:nvSpPr>
          <p:cNvPr id="66" name="Google Shape;66;p1" title="Timeline Arrow"/>
          <p:cNvSpPr/>
          <p:nvPr/>
        </p:nvSpPr>
        <p:spPr>
          <a:xfrm>
            <a:off x="8067341" y="2778033"/>
            <a:ext cx="893882" cy="650967"/>
          </a:xfrm>
          <a:prstGeom prst="uturnArrow">
            <a:avLst>
              <a:gd fmla="val 37244" name="adj1"/>
              <a:gd fmla="val 18622" name="adj2"/>
              <a:gd fmla="val 20252" name="adj3"/>
              <a:gd fmla="val 52602" name="adj4"/>
              <a:gd fmla="val 96832" name="adj5"/>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grpSp>
        <p:nvGrpSpPr>
          <p:cNvPr id="67" name="Google Shape;67;p1" title="Short Milestone"/>
          <p:cNvGrpSpPr/>
          <p:nvPr/>
        </p:nvGrpSpPr>
        <p:grpSpPr>
          <a:xfrm>
            <a:off x="8281874" y="2663225"/>
            <a:ext cx="464817" cy="464817"/>
            <a:chOff x="8281874" y="2663225"/>
            <a:chExt cx="464817" cy="464817"/>
          </a:xfrm>
        </p:grpSpPr>
        <p:sp>
          <p:nvSpPr>
            <p:cNvPr id="68" name="Google Shape;68;p1" title="Circle Background"/>
            <p:cNvSpPr/>
            <p:nvPr/>
          </p:nvSpPr>
          <p:spPr>
            <a:xfrm>
              <a:off x="8281874" y="2663225"/>
              <a:ext cx="464817" cy="464817"/>
            </a:xfrm>
            <a:prstGeom prst="ellipse">
              <a:avLst/>
            </a:prstGeom>
            <a:solidFill>
              <a:schemeClr val="dk1">
                <a:alpha val="6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69" name="Google Shape;69;p1"/>
            <p:cNvSpPr txBox="1"/>
            <p:nvPr/>
          </p:nvSpPr>
          <p:spPr>
            <a:xfrm>
              <a:off x="8314425" y="2818690"/>
              <a:ext cx="399715"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00" u="none" cap="none" strike="noStrike">
                  <a:solidFill>
                    <a:schemeClr val="lt1"/>
                  </a:solidFill>
                  <a:latin typeface="Trebuchet MS"/>
                  <a:ea typeface="Trebuchet MS"/>
                  <a:cs typeface="Trebuchet MS"/>
                  <a:sym typeface="Trebuchet MS"/>
                </a:rPr>
                <a:t>02</a:t>
              </a:r>
              <a:endParaRPr/>
            </a:p>
          </p:txBody>
        </p:sp>
      </p:grpSp>
      <p:sp>
        <p:nvSpPr>
          <p:cNvPr id="70" name="Google Shape;70;p1" title="Timeline Arrow"/>
          <p:cNvSpPr/>
          <p:nvPr/>
        </p:nvSpPr>
        <p:spPr>
          <a:xfrm flipH="1" rot="10800000">
            <a:off x="8715310" y="3428998"/>
            <a:ext cx="893304" cy="650967"/>
          </a:xfrm>
          <a:prstGeom prst="uturnArrow">
            <a:avLst>
              <a:gd fmla="val 37244" name="adj1"/>
              <a:gd fmla="val 18622" name="adj2"/>
              <a:gd fmla="val 20252" name="adj3"/>
              <a:gd fmla="val 52602" name="adj4"/>
              <a:gd fmla="val 96832" name="adj5"/>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grpSp>
        <p:nvGrpSpPr>
          <p:cNvPr id="71" name="Google Shape;71;p1" title="Short Milestone"/>
          <p:cNvGrpSpPr/>
          <p:nvPr/>
        </p:nvGrpSpPr>
        <p:grpSpPr>
          <a:xfrm>
            <a:off x="8929554" y="3713610"/>
            <a:ext cx="464817" cy="464817"/>
            <a:chOff x="8929554" y="3713610"/>
            <a:chExt cx="464817" cy="464817"/>
          </a:xfrm>
        </p:grpSpPr>
        <p:sp>
          <p:nvSpPr>
            <p:cNvPr id="72" name="Google Shape;72;p1" title="Circle Background"/>
            <p:cNvSpPr/>
            <p:nvPr/>
          </p:nvSpPr>
          <p:spPr>
            <a:xfrm>
              <a:off x="8929554" y="3713610"/>
              <a:ext cx="464817" cy="464817"/>
            </a:xfrm>
            <a:prstGeom prst="ellipse">
              <a:avLst/>
            </a:prstGeom>
            <a:solidFill>
              <a:schemeClr val="dk1">
                <a:alpha val="6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73" name="Google Shape;73;p1"/>
            <p:cNvSpPr txBox="1"/>
            <p:nvPr/>
          </p:nvSpPr>
          <p:spPr>
            <a:xfrm>
              <a:off x="8962105" y="3869424"/>
              <a:ext cx="399715"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00" u="none" cap="none" strike="noStrike">
                  <a:solidFill>
                    <a:schemeClr val="lt1"/>
                  </a:solidFill>
                  <a:latin typeface="Trebuchet MS"/>
                  <a:ea typeface="Trebuchet MS"/>
                  <a:cs typeface="Trebuchet MS"/>
                  <a:sym typeface="Trebuchet MS"/>
                </a:rPr>
                <a:t>03</a:t>
              </a:r>
              <a:endParaRPr/>
            </a:p>
          </p:txBody>
        </p:sp>
      </p:grpSp>
      <p:sp>
        <p:nvSpPr>
          <p:cNvPr id="74" name="Google Shape;74;p1" title="Group Bracket"/>
          <p:cNvSpPr/>
          <p:nvPr/>
        </p:nvSpPr>
        <p:spPr>
          <a:xfrm rot="5400000">
            <a:off x="8285972" y="3322514"/>
            <a:ext cx="457201" cy="2188082"/>
          </a:xfrm>
          <a:prstGeom prst="rightBrace">
            <a:avLst>
              <a:gd fmla="val 44270" name="adj1"/>
              <a:gd fmla="val 50000" name="adj2"/>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sp>
        <p:nvSpPr>
          <p:cNvPr id="75" name="Google Shape;75;p1"/>
          <p:cNvSpPr txBox="1"/>
          <p:nvPr/>
        </p:nvSpPr>
        <p:spPr>
          <a:xfrm>
            <a:off x="7602524" y="4930774"/>
            <a:ext cx="1767840"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Group Items</a:t>
            </a:r>
            <a:endParaRPr/>
          </a:p>
        </p:txBody>
      </p:sp>
      <p:sp>
        <p:nvSpPr>
          <p:cNvPr id="76" name="Google Shape;76;p1" title="Timeline Arrow"/>
          <p:cNvSpPr/>
          <p:nvPr/>
        </p:nvSpPr>
        <p:spPr>
          <a:xfrm>
            <a:off x="9370364" y="2778033"/>
            <a:ext cx="2055383" cy="650967"/>
          </a:xfrm>
          <a:prstGeom prst="uturnArrow">
            <a:avLst>
              <a:gd fmla="val 37244" name="adj1"/>
              <a:gd fmla="val 18622" name="adj2"/>
              <a:gd fmla="val 20252" name="adj3"/>
              <a:gd fmla="val 52602" name="adj4"/>
              <a:gd fmla="val 96832" name="adj5"/>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cxnSp>
        <p:nvCxnSpPr>
          <p:cNvPr id="77" name="Google Shape;77;p1" title="Connecter Line"/>
          <p:cNvCxnSpPr/>
          <p:nvPr/>
        </p:nvCxnSpPr>
        <p:spPr>
          <a:xfrm flipH="1">
            <a:off x="10398055" y="2124255"/>
            <a:ext cx="1" cy="361944"/>
          </a:xfrm>
          <a:prstGeom prst="straightConnector1">
            <a:avLst/>
          </a:prstGeom>
          <a:noFill/>
          <a:ln cap="flat" cmpd="sng" w="9525">
            <a:solidFill>
              <a:srgbClr val="3F3F3F"/>
            </a:solidFill>
            <a:prstDash val="solid"/>
            <a:miter lim="800000"/>
            <a:headEnd len="med" w="med" type="oval"/>
            <a:tailEnd len="med" w="med" type="oval"/>
          </a:ln>
        </p:spPr>
      </p:cxnSp>
      <p:sp>
        <p:nvSpPr>
          <p:cNvPr id="78" name="Google Shape;78;p1"/>
          <p:cNvSpPr txBox="1"/>
          <p:nvPr/>
        </p:nvSpPr>
        <p:spPr>
          <a:xfrm>
            <a:off x="9361820" y="1270541"/>
            <a:ext cx="2076553"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 Testing</a:t>
            </a:r>
            <a:endParaRPr/>
          </a:p>
        </p:txBody>
      </p:sp>
      <p:cxnSp>
        <p:nvCxnSpPr>
          <p:cNvPr id="79" name="Google Shape;79;p1" title="Connecter Line"/>
          <p:cNvCxnSpPr>
            <a:endCxn id="80" idx="0"/>
          </p:cNvCxnSpPr>
          <p:nvPr/>
        </p:nvCxnSpPr>
        <p:spPr>
          <a:xfrm>
            <a:off x="11301571" y="3429127"/>
            <a:ext cx="0" cy="554400"/>
          </a:xfrm>
          <a:prstGeom prst="straightConnector1">
            <a:avLst/>
          </a:prstGeom>
          <a:noFill/>
          <a:ln cap="flat" cmpd="sng" w="9525">
            <a:solidFill>
              <a:srgbClr val="3F3F3F"/>
            </a:solidFill>
            <a:prstDash val="solid"/>
            <a:miter lim="800000"/>
            <a:headEnd len="med" w="med" type="oval"/>
            <a:tailEnd len="med" w="med" type="oval"/>
          </a:ln>
        </p:spPr>
      </p:cxnSp>
      <p:grpSp>
        <p:nvGrpSpPr>
          <p:cNvPr id="81" name="Google Shape;81;p1" title="Launch Graphic"/>
          <p:cNvGrpSpPr/>
          <p:nvPr/>
        </p:nvGrpSpPr>
        <p:grpSpPr>
          <a:xfrm>
            <a:off x="10961301" y="3983527"/>
            <a:ext cx="680539" cy="680539"/>
            <a:chOff x="10961301" y="3355525"/>
            <a:chExt cx="680539" cy="680539"/>
          </a:xfrm>
        </p:grpSpPr>
        <p:sp>
          <p:nvSpPr>
            <p:cNvPr id="80" name="Google Shape;80;p1" title="Launch Circle"/>
            <p:cNvSpPr/>
            <p:nvPr/>
          </p:nvSpPr>
          <p:spPr>
            <a:xfrm>
              <a:off x="10961301" y="3355525"/>
              <a:ext cx="680539" cy="680539"/>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pic>
          <p:nvPicPr>
            <p:cNvPr id="82" name="Google Shape;82;p1" title="Launch Icon"/>
            <p:cNvPicPr preferRelativeResize="0"/>
            <p:nvPr/>
          </p:nvPicPr>
          <p:blipFill rotWithShape="1">
            <a:blip r:embed="rId3">
              <a:alphaModFix/>
            </a:blip>
            <a:srcRect b="0" l="0" r="0" t="0"/>
            <a:stretch/>
          </p:blipFill>
          <p:spPr>
            <a:xfrm>
              <a:off x="11202868" y="3548145"/>
              <a:ext cx="235505" cy="315487"/>
            </a:xfrm>
            <a:prstGeom prst="rect">
              <a:avLst/>
            </a:prstGeom>
            <a:noFill/>
            <a:ln>
              <a:noFill/>
            </a:ln>
          </p:spPr>
        </p:pic>
      </p:grpSp>
      <p:sp>
        <p:nvSpPr>
          <p:cNvPr id="83" name="Google Shape;83;p1"/>
          <p:cNvSpPr txBox="1"/>
          <p:nvPr/>
        </p:nvSpPr>
        <p:spPr>
          <a:xfrm>
            <a:off x="10393870" y="4930774"/>
            <a:ext cx="1767840"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Launch</a:t>
            </a:r>
            <a:endParaRPr/>
          </a:p>
        </p:txBody>
      </p:sp>
      <p:pic>
        <p:nvPicPr>
          <p:cNvPr id="84" name="Google Shape;84;p1"/>
          <p:cNvPicPr preferRelativeResize="0"/>
          <p:nvPr/>
        </p:nvPicPr>
        <p:blipFill rotWithShape="1">
          <a:blip r:embed="rId4">
            <a:alphaModFix/>
          </a:blip>
          <a:srcRect b="0" l="0" r="0" t="0"/>
          <a:stretch/>
        </p:blipFill>
        <p:spPr>
          <a:xfrm>
            <a:off x="337354" y="5403460"/>
            <a:ext cx="11611987" cy="12524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432000" y="431999"/>
            <a:ext cx="11340000" cy="881895"/>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400"/>
              <a:buFont typeface="Arial Black"/>
              <a:buNone/>
            </a:pPr>
            <a:r>
              <a:rPr lang="en-US" sz="2400">
                <a:latin typeface="Arial Black"/>
                <a:ea typeface="Arial Black"/>
                <a:cs typeface="Arial Black"/>
                <a:sym typeface="Arial Black"/>
              </a:rPr>
              <a:t>       Production Process : Behaviour of Profit Maximizing Firms</a:t>
            </a:r>
            <a:endParaRPr sz="2400"/>
          </a:p>
        </p:txBody>
      </p:sp>
      <p:pic>
        <p:nvPicPr>
          <p:cNvPr id="90" name="Google Shape;90;p2"/>
          <p:cNvPicPr preferRelativeResize="0"/>
          <p:nvPr/>
        </p:nvPicPr>
        <p:blipFill rotWithShape="1">
          <a:blip r:embed="rId3">
            <a:alphaModFix/>
          </a:blip>
          <a:srcRect b="0" l="0" r="0" t="0"/>
          <a:stretch/>
        </p:blipFill>
        <p:spPr>
          <a:xfrm>
            <a:off x="6596108" y="1185584"/>
            <a:ext cx="4811697" cy="4513880"/>
          </a:xfrm>
          <a:prstGeom prst="rect">
            <a:avLst/>
          </a:prstGeom>
          <a:noFill/>
          <a:ln>
            <a:noFill/>
          </a:ln>
        </p:spPr>
      </p:pic>
      <p:pic>
        <p:nvPicPr>
          <p:cNvPr id="91" name="Google Shape;91;p2"/>
          <p:cNvPicPr preferRelativeResize="0"/>
          <p:nvPr/>
        </p:nvPicPr>
        <p:blipFill rotWithShape="1">
          <a:blip r:embed="rId4">
            <a:alphaModFix/>
          </a:blip>
          <a:srcRect b="0" l="0" r="0" t="0"/>
          <a:stretch/>
        </p:blipFill>
        <p:spPr>
          <a:xfrm>
            <a:off x="1376039" y="1313895"/>
            <a:ext cx="4625265" cy="438557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432000" y="432000"/>
            <a:ext cx="11340000" cy="540000"/>
          </a:xfrm>
          <a:prstGeom prst="rect">
            <a:avLst/>
          </a:prstGeom>
          <a:noFill/>
          <a:ln>
            <a:noFill/>
          </a:ln>
        </p:spPr>
        <p:txBody>
          <a:bodyPr anchorCtr="0" anchor="t" bIns="0" lIns="0" spcFirstLastPara="1" rIns="0" wrap="square" tIns="0">
            <a:normAutofit fontScale="90000"/>
          </a:bodyPr>
          <a:lstStyle/>
          <a:p>
            <a:pPr indent="0" lvl="0" marL="0" rtl="0" algn="l">
              <a:lnSpc>
                <a:spcPct val="90000"/>
              </a:lnSpc>
              <a:spcBef>
                <a:spcPts val="0"/>
              </a:spcBef>
              <a:spcAft>
                <a:spcPts val="0"/>
              </a:spcAft>
              <a:buClr>
                <a:schemeClr val="dk1"/>
              </a:buClr>
              <a:buSzPct val="100000"/>
              <a:buFont typeface="Trebuchet MS"/>
              <a:buNone/>
            </a:pPr>
            <a:r>
              <a:rPr b="1" lang="en-US" sz="4900"/>
              <a:t>               What is Production?</a:t>
            </a:r>
            <a:br>
              <a:rPr b="1" lang="en-US" sz="4900"/>
            </a:br>
            <a:r>
              <a:rPr b="1" lang="en-US" sz="4900"/>
              <a:t> </a:t>
            </a:r>
            <a:br>
              <a:rPr b="1" lang="en-US" sz="4900"/>
            </a:br>
            <a:r>
              <a:rPr lang="en-US">
                <a:latin typeface="Arial Black"/>
                <a:ea typeface="Arial Black"/>
                <a:cs typeface="Arial Black"/>
                <a:sym typeface="Arial Black"/>
              </a:rPr>
              <a:t>Production is a process by which inputs are combined and transformed into outputs of goods and services, for which there is demand.</a:t>
            </a:r>
            <a:br>
              <a:rPr lang="en-US">
                <a:latin typeface="Arial Black"/>
                <a:ea typeface="Arial Black"/>
                <a:cs typeface="Arial Black"/>
                <a:sym typeface="Arial Black"/>
              </a:rPr>
            </a:br>
            <a:br>
              <a:rPr lang="en-US">
                <a:latin typeface="Arial Black"/>
                <a:ea typeface="Arial Black"/>
                <a:cs typeface="Arial Black"/>
                <a:sym typeface="Arial Black"/>
              </a:rPr>
            </a:br>
            <a:endParaRPr>
              <a:latin typeface="Arial Black"/>
              <a:ea typeface="Arial Black"/>
              <a:cs typeface="Arial Black"/>
              <a:sym typeface="Arial Black"/>
            </a:endParaRPr>
          </a:p>
        </p:txBody>
      </p:sp>
      <p:pic>
        <p:nvPicPr>
          <p:cNvPr id="97" name="Google Shape;97;p3"/>
          <p:cNvPicPr preferRelativeResize="0"/>
          <p:nvPr/>
        </p:nvPicPr>
        <p:blipFill rotWithShape="1">
          <a:blip r:embed="rId3">
            <a:alphaModFix/>
          </a:blip>
          <a:srcRect b="0" l="0" r="0" t="0"/>
          <a:stretch/>
        </p:blipFill>
        <p:spPr>
          <a:xfrm>
            <a:off x="733425" y="2920752"/>
            <a:ext cx="10725150" cy="363096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432000" y="431999"/>
            <a:ext cx="11340000" cy="1210369"/>
          </a:xfrm>
          <a:prstGeom prst="rect">
            <a:avLst/>
          </a:prstGeom>
          <a:noFill/>
          <a:ln>
            <a:noFill/>
          </a:ln>
        </p:spPr>
        <p:txBody>
          <a:bodyPr anchorCtr="0" anchor="t" bIns="0" lIns="0" spcFirstLastPara="1" rIns="0" wrap="square" tIns="0">
            <a:normAutofit fontScale="90000"/>
          </a:bodyPr>
          <a:lstStyle/>
          <a:p>
            <a:pPr indent="0" lvl="0" marL="0" rtl="0" algn="l">
              <a:lnSpc>
                <a:spcPct val="90000"/>
              </a:lnSpc>
              <a:spcBef>
                <a:spcPts val="0"/>
              </a:spcBef>
              <a:spcAft>
                <a:spcPts val="0"/>
              </a:spcAft>
              <a:buClr>
                <a:schemeClr val="dk1"/>
              </a:buClr>
              <a:buSzPct val="145454"/>
              <a:buFont typeface="Trebuchet MS"/>
              <a:buNone/>
            </a:pPr>
            <a:r>
              <a:rPr b="1" lang="en-US"/>
              <a:t>      </a:t>
            </a:r>
            <a:r>
              <a:rPr b="1" lang="en-US" u="sng"/>
              <a:t>Three Basic Production Decisions and Behavior of Profit–</a:t>
            </a:r>
            <a:br>
              <a:rPr b="1" lang="en-US" u="sng"/>
            </a:br>
            <a:r>
              <a:rPr b="1" lang="en-US"/>
              <a:t>                                   </a:t>
            </a:r>
            <a:r>
              <a:rPr b="1" lang="en-US" u="sng"/>
              <a:t>Maximizing Firms</a:t>
            </a:r>
            <a:br>
              <a:rPr b="1" lang="en-US" u="sng"/>
            </a:br>
            <a:br>
              <a:rPr b="1" lang="en-US" u="sng"/>
            </a:br>
            <a:br>
              <a:rPr b="1" lang="en-US"/>
            </a:br>
            <a:r>
              <a:rPr b="1" lang="en-US" sz="2200">
                <a:latin typeface="Arial Black"/>
                <a:ea typeface="Arial Black"/>
                <a:cs typeface="Arial Black"/>
                <a:sym typeface="Arial Black"/>
              </a:rPr>
              <a:t>1. </a:t>
            </a:r>
            <a:r>
              <a:rPr lang="en-US" sz="2200">
                <a:latin typeface="Arial Black"/>
                <a:ea typeface="Arial Black"/>
                <a:cs typeface="Arial Black"/>
                <a:sym typeface="Arial Black"/>
              </a:rPr>
              <a:t>How much output of a product to produce and supply in the market?</a:t>
            </a:r>
            <a:br>
              <a:rPr lang="en-US" sz="2200">
                <a:latin typeface="Arial Black"/>
                <a:ea typeface="Arial Black"/>
                <a:cs typeface="Arial Black"/>
                <a:sym typeface="Arial Black"/>
              </a:rPr>
            </a:br>
            <a:br>
              <a:rPr lang="en-US" sz="2200">
                <a:latin typeface="Arial Black"/>
                <a:ea typeface="Arial Black"/>
                <a:cs typeface="Arial Black"/>
                <a:sym typeface="Arial Black"/>
              </a:rPr>
            </a:br>
            <a:r>
              <a:rPr lang="en-US" sz="2200">
                <a:latin typeface="Arial Black"/>
                <a:ea typeface="Arial Black"/>
                <a:cs typeface="Arial Black"/>
                <a:sym typeface="Arial Black"/>
              </a:rPr>
              <a:t>2. How to produce the product , that is , which technique or combination of factors of production be used for producing the quantity of product that has been decided to be produced?</a:t>
            </a:r>
            <a:br>
              <a:rPr lang="en-US" sz="2200">
                <a:latin typeface="Arial Black"/>
                <a:ea typeface="Arial Black"/>
                <a:cs typeface="Arial Black"/>
                <a:sym typeface="Arial Black"/>
              </a:rPr>
            </a:br>
            <a:br>
              <a:rPr lang="en-US" sz="2200">
                <a:latin typeface="Arial Black"/>
                <a:ea typeface="Arial Black"/>
                <a:cs typeface="Arial Black"/>
                <a:sym typeface="Arial Black"/>
              </a:rPr>
            </a:br>
            <a:r>
              <a:rPr lang="en-US" sz="2200">
                <a:latin typeface="Arial Black"/>
                <a:ea typeface="Arial Black"/>
                <a:cs typeface="Arial Black"/>
                <a:sym typeface="Arial Black"/>
              </a:rPr>
              <a:t>3. How much quantity of each input is demanded to produce the output of the product?</a:t>
            </a:r>
            <a:br>
              <a:rPr lang="en-US" sz="2200">
                <a:latin typeface="Arial Black"/>
                <a:ea typeface="Arial Black"/>
                <a:cs typeface="Arial Black"/>
                <a:sym typeface="Arial Black"/>
              </a:rPr>
            </a:br>
            <a:br>
              <a:rPr lang="en-US" sz="2200">
                <a:latin typeface="Arial Black"/>
                <a:ea typeface="Arial Black"/>
                <a:cs typeface="Arial Black"/>
                <a:sym typeface="Arial Black"/>
              </a:rPr>
            </a:br>
            <a:r>
              <a:rPr lang="en-US" sz="2200">
                <a:latin typeface="Arial Black"/>
                <a:ea typeface="Arial Black"/>
                <a:cs typeface="Arial Black"/>
                <a:sym typeface="Arial Black"/>
              </a:rPr>
              <a:t>The above three basic decisions are made with the goal of maximizing profits.</a:t>
            </a:r>
            <a:br>
              <a:rPr lang="en-US" sz="2200">
                <a:latin typeface="Arial Black"/>
                <a:ea typeface="Arial Black"/>
                <a:cs typeface="Arial Black"/>
                <a:sym typeface="Arial Black"/>
              </a:rPr>
            </a:br>
            <a:br>
              <a:rPr lang="en-US" sz="2200">
                <a:latin typeface="Arial Black"/>
                <a:ea typeface="Arial Black"/>
                <a:cs typeface="Arial Black"/>
                <a:sym typeface="Arial Black"/>
              </a:rPr>
            </a:br>
            <a:r>
              <a:rPr lang="en-US" sz="2200">
                <a:latin typeface="Arial Black"/>
                <a:ea typeface="Arial Black"/>
                <a:cs typeface="Arial Black"/>
                <a:sym typeface="Arial Black"/>
              </a:rPr>
              <a:t>                                                 Profits = Total Revenue – Total Cost</a:t>
            </a:r>
            <a:br>
              <a:rPr lang="en-US" sz="2200">
                <a:latin typeface="Arial Black"/>
                <a:ea typeface="Arial Black"/>
                <a:cs typeface="Arial Black"/>
                <a:sym typeface="Arial Black"/>
              </a:rPr>
            </a:br>
            <a:r>
              <a:rPr lang="en-US" sz="2200">
                <a:latin typeface="Arial Black"/>
                <a:ea typeface="Arial Black"/>
                <a:cs typeface="Arial Black"/>
                <a:sym typeface="Arial Black"/>
              </a:rPr>
              <a:t>                                                       (P  = TR – TC )</a:t>
            </a:r>
            <a:br>
              <a:rPr lang="en-US" sz="2200">
                <a:latin typeface="Arial Black"/>
                <a:ea typeface="Arial Black"/>
                <a:cs typeface="Arial Black"/>
                <a:sym typeface="Arial Black"/>
              </a:rPr>
            </a:br>
            <a:br>
              <a:rPr lang="en-US" sz="2200">
                <a:latin typeface="Arial Black"/>
                <a:ea typeface="Arial Black"/>
                <a:cs typeface="Arial Black"/>
                <a:sym typeface="Arial Black"/>
              </a:rPr>
            </a:br>
            <a:endParaRPr sz="2200">
              <a:latin typeface="Arial Black"/>
              <a:ea typeface="Arial Black"/>
              <a:cs typeface="Arial Black"/>
              <a:sym typeface="Arial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ph type="title"/>
          </p:nvPr>
        </p:nvSpPr>
        <p:spPr>
          <a:xfrm>
            <a:off x="432000" y="432000"/>
            <a:ext cx="11340000" cy="540000"/>
          </a:xfrm>
          <a:prstGeom prst="rect">
            <a:avLst/>
          </a:prstGeom>
          <a:noFill/>
          <a:ln>
            <a:noFill/>
          </a:ln>
        </p:spPr>
        <p:txBody>
          <a:bodyPr anchorCtr="0" anchor="t" bIns="0" lIns="0" spcFirstLastPara="1" rIns="0" wrap="square" tIns="0">
            <a:normAutofit fontScale="90000"/>
          </a:bodyPr>
          <a:lstStyle/>
          <a:p>
            <a:pPr indent="0" lvl="0" marL="0" rtl="0" algn="l">
              <a:lnSpc>
                <a:spcPct val="90000"/>
              </a:lnSpc>
              <a:spcBef>
                <a:spcPts val="0"/>
              </a:spcBef>
              <a:spcAft>
                <a:spcPts val="0"/>
              </a:spcAft>
              <a:buClr>
                <a:schemeClr val="dk1"/>
              </a:buClr>
              <a:buSzPct val="72727"/>
              <a:buFont typeface="Trebuchet MS"/>
              <a:buNone/>
            </a:pPr>
            <a:r>
              <a:rPr lang="en-US"/>
              <a:t>                                  </a:t>
            </a:r>
            <a:r>
              <a:rPr lang="en-US" sz="4400">
                <a:latin typeface="Arial Black"/>
                <a:ea typeface="Arial Black"/>
                <a:cs typeface="Arial Black"/>
                <a:sym typeface="Arial Black"/>
              </a:rPr>
              <a:t>What is Profit?</a:t>
            </a:r>
            <a:endParaRPr sz="4400">
              <a:latin typeface="Arial Black"/>
              <a:ea typeface="Arial Black"/>
              <a:cs typeface="Arial Black"/>
              <a:sym typeface="Arial Black"/>
            </a:endParaRPr>
          </a:p>
        </p:txBody>
      </p:sp>
      <p:pic>
        <p:nvPicPr>
          <p:cNvPr id="108" name="Google Shape;108;p5"/>
          <p:cNvPicPr preferRelativeResize="0"/>
          <p:nvPr/>
        </p:nvPicPr>
        <p:blipFill rotWithShape="1">
          <a:blip r:embed="rId3">
            <a:alphaModFix/>
          </a:blip>
          <a:srcRect b="0" l="0" r="0" t="0"/>
          <a:stretch/>
        </p:blipFill>
        <p:spPr>
          <a:xfrm>
            <a:off x="692458" y="1109709"/>
            <a:ext cx="10830758" cy="53162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type="title"/>
          </p:nvPr>
        </p:nvSpPr>
        <p:spPr>
          <a:xfrm>
            <a:off x="432000" y="432000"/>
            <a:ext cx="11340000" cy="540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4400"/>
              <a:buFont typeface="Trebuchet MS"/>
              <a:buNone/>
            </a:pPr>
            <a:r>
              <a:rPr b="1" lang="en-US" sz="4400"/>
              <a:t>        TOTAL REVENUE AND TOTAL COST</a:t>
            </a:r>
            <a:br>
              <a:rPr b="1" lang="en-US" sz="4400"/>
            </a:br>
            <a:br>
              <a:rPr b="1" lang="en-US" sz="4400"/>
            </a:br>
            <a:br>
              <a:rPr b="1" lang="en-US" sz="4400"/>
            </a:br>
            <a:br>
              <a:rPr b="1" lang="en-US" sz="4400"/>
            </a:br>
            <a:endParaRPr b="1" sz="4400"/>
          </a:p>
        </p:txBody>
      </p:sp>
      <p:pic>
        <p:nvPicPr>
          <p:cNvPr id="114" name="Google Shape;114;p6"/>
          <p:cNvPicPr preferRelativeResize="0"/>
          <p:nvPr/>
        </p:nvPicPr>
        <p:blipFill rotWithShape="1">
          <a:blip r:embed="rId3">
            <a:alphaModFix/>
          </a:blip>
          <a:srcRect b="0" l="0" r="0" t="0"/>
          <a:stretch/>
        </p:blipFill>
        <p:spPr>
          <a:xfrm>
            <a:off x="432000" y="1523999"/>
            <a:ext cx="3675864" cy="3619500"/>
          </a:xfrm>
          <a:prstGeom prst="rect">
            <a:avLst/>
          </a:prstGeom>
          <a:noFill/>
          <a:ln>
            <a:noFill/>
          </a:ln>
        </p:spPr>
      </p:pic>
      <p:pic>
        <p:nvPicPr>
          <p:cNvPr id="115" name="Google Shape;115;p6"/>
          <p:cNvPicPr preferRelativeResize="0"/>
          <p:nvPr/>
        </p:nvPicPr>
        <p:blipFill rotWithShape="1">
          <a:blip r:embed="rId4">
            <a:alphaModFix/>
          </a:blip>
          <a:srcRect b="0" l="0" r="0" t="0"/>
          <a:stretch/>
        </p:blipFill>
        <p:spPr>
          <a:xfrm>
            <a:off x="4345281" y="2260845"/>
            <a:ext cx="3501438" cy="3619500"/>
          </a:xfrm>
          <a:prstGeom prst="rect">
            <a:avLst/>
          </a:prstGeom>
          <a:noFill/>
          <a:ln>
            <a:noFill/>
          </a:ln>
        </p:spPr>
      </p:pic>
      <p:pic>
        <p:nvPicPr>
          <p:cNvPr id="116" name="Google Shape;116;p6"/>
          <p:cNvPicPr preferRelativeResize="0"/>
          <p:nvPr/>
        </p:nvPicPr>
        <p:blipFill rotWithShape="1">
          <a:blip r:embed="rId5">
            <a:alphaModFix/>
          </a:blip>
          <a:srcRect b="0" l="0" r="0" t="0"/>
          <a:stretch/>
        </p:blipFill>
        <p:spPr>
          <a:xfrm>
            <a:off x="8084136" y="2806501"/>
            <a:ext cx="3829697" cy="36194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432000" y="432000"/>
            <a:ext cx="11340000" cy="540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4400"/>
              <a:buFont typeface="Arial Black"/>
              <a:buNone/>
            </a:pPr>
            <a:r>
              <a:rPr lang="en-US" sz="4400">
                <a:latin typeface="Arial Black"/>
                <a:ea typeface="Arial Black"/>
                <a:cs typeface="Arial Black"/>
                <a:sym typeface="Arial Black"/>
              </a:rPr>
              <a:t>                   What is Firm?</a:t>
            </a:r>
            <a:endParaRPr sz="4400">
              <a:latin typeface="Arial Black"/>
              <a:ea typeface="Arial Black"/>
              <a:cs typeface="Arial Black"/>
              <a:sym typeface="Arial Black"/>
            </a:endParaRPr>
          </a:p>
        </p:txBody>
      </p:sp>
      <p:pic>
        <p:nvPicPr>
          <p:cNvPr id="122" name="Google Shape;122;p7"/>
          <p:cNvPicPr preferRelativeResize="0"/>
          <p:nvPr/>
        </p:nvPicPr>
        <p:blipFill rotWithShape="1">
          <a:blip r:embed="rId3">
            <a:alphaModFix/>
          </a:blip>
          <a:srcRect b="0" l="0" r="0" t="0"/>
          <a:stretch/>
        </p:blipFill>
        <p:spPr>
          <a:xfrm>
            <a:off x="870012" y="1333500"/>
            <a:ext cx="5060271" cy="4898624"/>
          </a:xfrm>
          <a:prstGeom prst="rect">
            <a:avLst/>
          </a:prstGeom>
          <a:noFill/>
          <a:ln>
            <a:noFill/>
          </a:ln>
        </p:spPr>
      </p:pic>
      <p:sp>
        <p:nvSpPr>
          <p:cNvPr id="123" name="Google Shape;123;p7"/>
          <p:cNvSpPr txBox="1"/>
          <p:nvPr/>
        </p:nvSpPr>
        <p:spPr>
          <a:xfrm>
            <a:off x="5930283" y="1624379"/>
            <a:ext cx="6094520" cy="415498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4400" u="none" cap="none" strike="noStrike">
                <a:solidFill>
                  <a:srgbClr val="202124"/>
                </a:solidFill>
                <a:latin typeface="Arial Black"/>
                <a:ea typeface="Arial Black"/>
                <a:cs typeface="Arial Black"/>
                <a:sym typeface="Arial Black"/>
              </a:rPr>
              <a:t>A firm is a business or organization that sells goods or services on a for-profit basis.</a:t>
            </a:r>
            <a:endParaRPr b="0" i="0" sz="44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432000" y="432000"/>
            <a:ext cx="11340000" cy="540000"/>
          </a:xfrm>
          <a:prstGeom prst="rect">
            <a:avLst/>
          </a:prstGeom>
          <a:noFill/>
          <a:ln>
            <a:noFill/>
          </a:ln>
        </p:spPr>
        <p:txBody>
          <a:bodyPr anchorCtr="0" anchor="t" bIns="0" lIns="0" spcFirstLastPara="1" rIns="0" wrap="square" tIns="0">
            <a:normAutofit fontScale="90000"/>
          </a:bodyPr>
          <a:lstStyle/>
          <a:p>
            <a:pPr indent="0" lvl="0" marL="0" rtl="0" algn="just">
              <a:lnSpc>
                <a:spcPct val="90000"/>
              </a:lnSpc>
              <a:spcBef>
                <a:spcPts val="0"/>
              </a:spcBef>
              <a:spcAft>
                <a:spcPts val="0"/>
              </a:spcAft>
              <a:buClr>
                <a:schemeClr val="dk1"/>
              </a:buClr>
              <a:buSzPct val="100000"/>
              <a:buFont typeface="Arial Black"/>
              <a:buNone/>
            </a:pPr>
            <a:r>
              <a:rPr lang="en-US" sz="3200">
                <a:latin typeface="Arial Black"/>
                <a:ea typeface="Arial Black"/>
                <a:cs typeface="Arial Black"/>
                <a:sym typeface="Arial Black"/>
              </a:rPr>
              <a:t>          Behaviour of Profit Maximizing Firms</a:t>
            </a:r>
            <a:br>
              <a:rPr lang="en-US" sz="3200">
                <a:latin typeface="Arial Black"/>
                <a:ea typeface="Arial Black"/>
                <a:cs typeface="Arial Black"/>
                <a:sym typeface="Arial Black"/>
              </a:rPr>
            </a:br>
            <a:br>
              <a:rPr lang="en-US" sz="3200">
                <a:latin typeface="Arial Black"/>
                <a:ea typeface="Arial Black"/>
                <a:cs typeface="Arial Black"/>
                <a:sym typeface="Arial Black"/>
              </a:rPr>
            </a:br>
            <a:r>
              <a:rPr b="1" lang="en-US" sz="2000">
                <a:latin typeface="Arial Black"/>
                <a:ea typeface="Arial Black"/>
                <a:cs typeface="Arial Black"/>
                <a:sym typeface="Arial Black"/>
              </a:rPr>
              <a:t>Profit maximization by a firm is graphically illustrated in figure given where TR represents </a:t>
            </a:r>
            <a:br>
              <a:rPr b="1" lang="en-US" sz="2000">
                <a:latin typeface="Arial Black"/>
                <a:ea typeface="Arial Black"/>
                <a:cs typeface="Arial Black"/>
                <a:sym typeface="Arial Black"/>
              </a:rPr>
            </a:br>
            <a:r>
              <a:rPr b="1" lang="en-US" sz="2000">
                <a:latin typeface="Arial Black"/>
                <a:ea typeface="Arial Black"/>
                <a:cs typeface="Arial Black"/>
                <a:sym typeface="Arial Black"/>
              </a:rPr>
              <a:t>total revenue curve and TC represents total cost curve. Total revenue curve starts from origin which  means that when no output is produced when the total revenue is zero. As output is increased total revenue goes on increasing at a constant rate. Total revenue curve TR is a straight line from the origin. However, it will be noticed that the total cost curve TC starts from a point A which lies above the origin. It means that OA is the fixed cost which the firm has to incur even if it stops production. It will be further seen that TC increases at an increasing rate beyond the break even point C. It will be observed from figure that upto the level OX, TC lies above TR curve showing that as the firm raises its output in the initial stages total cost is greater than total revenue and the firm is incurring loses. When the firm produces OX level of output , total revenue equals total cost and the firm neither making profits nor loses. Thus, point C or output level OX is called break-even point.</a:t>
            </a:r>
            <a:br>
              <a:rPr b="1" lang="en-US" sz="2000">
                <a:latin typeface="Arial Black"/>
                <a:ea typeface="Arial Black"/>
                <a:cs typeface="Arial Black"/>
                <a:sym typeface="Arial Black"/>
              </a:rPr>
            </a:br>
            <a:r>
              <a:rPr b="1" lang="en-US" sz="2000">
                <a:latin typeface="Arial Black"/>
                <a:ea typeface="Arial Black"/>
                <a:cs typeface="Arial Black"/>
                <a:sym typeface="Arial Black"/>
              </a:rPr>
              <a:t>When the firm increases its output beyond OX total revenue becomes larger than total cost and therefore profits begin accrue to the firm. It will be noticed from the figure that profits are increasing as the firm increases production to output OY, since the distance between the TR and TC curves is widening. At OY capital of output the distance between TR and TC curves is the greatest and therefore profits will be maximum. If the firm expands output beyond OY, the gap between TR and TC  goes on narrowing down and therefore the total profits are declining. Its is therefore clear that the firm will be maximising profits at OY level of output where total revenue exceeds total cost by the largest amount. It will be observed from the figure that at the output level OZ, total revenue is again equal to the total cost at point D corresponding to output OZ.</a:t>
            </a:r>
            <a:br>
              <a:rPr lang="en-US" sz="3200">
                <a:latin typeface="Arial Black"/>
                <a:ea typeface="Arial Black"/>
                <a:cs typeface="Arial Black"/>
                <a:sym typeface="Arial Black"/>
              </a:rPr>
            </a:br>
            <a:br>
              <a:rPr lang="en-US" sz="3200">
                <a:latin typeface="Arial Black"/>
                <a:ea typeface="Arial Black"/>
                <a:cs typeface="Arial Black"/>
                <a:sym typeface="Arial Black"/>
              </a:rPr>
            </a:br>
            <a:br>
              <a:rPr lang="en-US" sz="3200">
                <a:latin typeface="Arial Black"/>
                <a:ea typeface="Arial Black"/>
                <a:cs typeface="Arial Black"/>
                <a:sym typeface="Arial Black"/>
              </a:rPr>
            </a:br>
            <a:br>
              <a:rPr lang="en-US" sz="3200">
                <a:latin typeface="Arial Black"/>
                <a:ea typeface="Arial Black"/>
                <a:cs typeface="Arial Black"/>
                <a:sym typeface="Arial Black"/>
              </a:rPr>
            </a:br>
            <a:br>
              <a:rPr lang="en-US" sz="3200">
                <a:latin typeface="Arial Black"/>
                <a:ea typeface="Arial Black"/>
                <a:cs typeface="Arial Black"/>
                <a:sym typeface="Arial Black"/>
              </a:rPr>
            </a:b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9"/>
          <p:cNvPicPr preferRelativeResize="0"/>
          <p:nvPr/>
        </p:nvPicPr>
        <p:blipFill rotWithShape="1">
          <a:blip r:embed="rId3">
            <a:alphaModFix/>
          </a:blip>
          <a:srcRect b="0" l="0" r="0" t="0"/>
          <a:stretch/>
        </p:blipFill>
        <p:spPr>
          <a:xfrm>
            <a:off x="4954602" y="12"/>
            <a:ext cx="4144945" cy="587701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432000" y="431999"/>
            <a:ext cx="11340000" cy="2399977"/>
          </a:xfrm>
          <a:prstGeom prst="rect">
            <a:avLst/>
          </a:prstGeom>
          <a:noFill/>
          <a:ln>
            <a:noFill/>
          </a:ln>
        </p:spPr>
        <p:txBody>
          <a:bodyPr anchorCtr="0" anchor="t" bIns="0" lIns="0" spcFirstLastPara="1" rIns="0" wrap="square" tIns="0">
            <a:normAutofit/>
          </a:bodyPr>
          <a:lstStyle/>
          <a:p>
            <a:pPr indent="0" lvl="0" marL="0" rtl="0" algn="just">
              <a:lnSpc>
                <a:spcPct val="90000"/>
              </a:lnSpc>
              <a:spcBef>
                <a:spcPts val="0"/>
              </a:spcBef>
              <a:spcAft>
                <a:spcPts val="0"/>
              </a:spcAft>
              <a:buClr>
                <a:schemeClr val="dk1"/>
              </a:buClr>
              <a:buSzPts val="1800"/>
              <a:buFont typeface="Arial Black"/>
              <a:buNone/>
            </a:pPr>
            <a:r>
              <a:rPr lang="en-US" sz="1800">
                <a:latin typeface="Arial Black"/>
                <a:ea typeface="Arial Black"/>
                <a:cs typeface="Arial Black"/>
                <a:sym typeface="Arial Black"/>
              </a:rPr>
              <a:t>Thus, point D is called as upper break-even point and is not much relevant as it lies beyond firms profit maximising level. In the lower panel of the figure, that up to the output level OP profit curve lies below x-axis making losses. At output level P the firms profit is zero. Profit curve is rising until it reaches its maximum point corresponding to the level of output Q. Beyond level of output Q profit curve slopes downward indicating that profits decline beyond Q. At point Q the firm maximises economic profits. At a higher level output R , profits are again zero indicating the upper break-even point. Hence, this way a firm maximizes its profit.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17">
      <a:dk1>
        <a:srgbClr val="000000"/>
      </a:dk1>
      <a:lt1>
        <a:srgbClr val="FFFFFF"/>
      </a:lt1>
      <a:dk2>
        <a:srgbClr val="12121E"/>
      </a:dk2>
      <a:lt2>
        <a:srgbClr val="F2F2F2"/>
      </a:lt2>
      <a:accent1>
        <a:srgbClr val="00B0F0"/>
      </a:accent1>
      <a:accent2>
        <a:srgbClr val="5ECCF3"/>
      </a:accent2>
      <a:accent3>
        <a:srgbClr val="A7EA52"/>
      </a:accent3>
      <a:accent4>
        <a:srgbClr val="5DCEAF"/>
      </a:accent4>
      <a:accent5>
        <a:srgbClr val="FF8021"/>
      </a:accent5>
      <a:accent6>
        <a:srgbClr val="F14124"/>
      </a:accent6>
      <a:hlink>
        <a:srgbClr val="5ECCF3"/>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2023-03-09T15:31:03Z</dcterms:created>
  <dc:creator>Amrita Priyam EMP107</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