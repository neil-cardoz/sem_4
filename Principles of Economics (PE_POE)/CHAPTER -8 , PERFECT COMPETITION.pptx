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4" r:id="rId4"/>
  </p:sldMasterIdLst>
  <p:notesMasterIdLst>
    <p:notesMasterId r:id="rId20"/>
  </p:notesMasterIdLst>
  <p:handoutMasterIdLst>
    <p:handoutMasterId r:id="rId21"/>
  </p:handoutMasterIdLst>
  <p:sldIdLst>
    <p:sldId id="256" r:id="rId5"/>
    <p:sldId id="261" r:id="rId6"/>
    <p:sldId id="275" r:id="rId7"/>
    <p:sldId id="265" r:id="rId8"/>
    <p:sldId id="263" r:id="rId9"/>
    <p:sldId id="274" r:id="rId10"/>
    <p:sldId id="264" r:id="rId11"/>
    <p:sldId id="266" r:id="rId12"/>
    <p:sldId id="268" r:id="rId13"/>
    <p:sldId id="267" r:id="rId14"/>
    <p:sldId id="270" r:id="rId15"/>
    <p:sldId id="269"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2"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9A7646-64A1-4BED-BA0B-77C27DE51A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BEFC0-5AA8-4302-B8B2-9ACD77A2E1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82F98B-3DC8-431B-BBBF-B7C2B94E730B}" type="datetimeFigureOut">
              <a:rPr lang="en-US" smtClean="0"/>
              <a:t>3/5/2024</a:t>
            </a:fld>
            <a:endParaRPr lang="en-US" dirty="0"/>
          </a:p>
        </p:txBody>
      </p:sp>
      <p:sp>
        <p:nvSpPr>
          <p:cNvPr id="4" name="Footer Placeholder 3">
            <a:extLst>
              <a:ext uri="{FF2B5EF4-FFF2-40B4-BE49-F238E27FC236}">
                <a16:creationId xmlns:a16="http://schemas.microsoft.com/office/drawing/2014/main" id="{016656EA-4150-44D1-821F-53CA0DBA1A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6184F06-C917-4D16-B46F-633E54CA49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1F4691-38BC-4357-BA2E-AC7731A10A45}" type="slidenum">
              <a:rPr lang="en-US" smtClean="0"/>
              <a:t>‹#›</a:t>
            </a:fld>
            <a:endParaRPr lang="en-US" dirty="0"/>
          </a:p>
        </p:txBody>
      </p:sp>
    </p:spTree>
    <p:extLst>
      <p:ext uri="{BB962C8B-B14F-4D97-AF65-F5344CB8AC3E}">
        <p14:creationId xmlns:p14="http://schemas.microsoft.com/office/powerpoint/2010/main" val="3290060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7300D2-6E0D-49B5-9AB1-C6683F5C846D}" type="datetimeFigureOut">
              <a:rPr lang="en-US" smtClean="0"/>
              <a:t>3/5/2024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025FD9-6782-4777-BD37-B8EEBEF1E497}" type="slidenum">
              <a:rPr lang="en-US" smtClean="0"/>
              <a:t>‹#›</a:t>
            </a:fld>
            <a:endParaRPr lang="en-US" dirty="0"/>
          </a:p>
        </p:txBody>
      </p:sp>
    </p:spTree>
    <p:extLst>
      <p:ext uri="{BB962C8B-B14F-4D97-AF65-F5344CB8AC3E}">
        <p14:creationId xmlns:p14="http://schemas.microsoft.com/office/powerpoint/2010/main" val="3720810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25FD9-6782-4777-BD37-B8EEBEF1E497}" type="slidenum">
              <a:rPr lang="en-US" smtClean="0"/>
              <a:t>1</a:t>
            </a:fld>
            <a:endParaRPr lang="en-US" dirty="0"/>
          </a:p>
        </p:txBody>
      </p:sp>
    </p:spTree>
    <p:extLst>
      <p:ext uri="{BB962C8B-B14F-4D97-AF65-F5344CB8AC3E}">
        <p14:creationId xmlns:p14="http://schemas.microsoft.com/office/powerpoint/2010/main" val="279383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25FD9-6782-4777-BD37-B8EEBEF1E497}" type="slidenum">
              <a:rPr lang="en-US" smtClean="0"/>
              <a:t>2</a:t>
            </a:fld>
            <a:endParaRPr lang="en-US" dirty="0"/>
          </a:p>
        </p:txBody>
      </p:sp>
    </p:spTree>
    <p:extLst>
      <p:ext uri="{BB962C8B-B14F-4D97-AF65-F5344CB8AC3E}">
        <p14:creationId xmlns:p14="http://schemas.microsoft.com/office/powerpoint/2010/main" val="2822790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5466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81794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066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13777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9466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3204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64920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906981"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
        <p:nvSpPr>
          <p:cNvPr id="11" name="Content Placeholder 2">
            <a:extLst>
              <a:ext uri="{FF2B5EF4-FFF2-40B4-BE49-F238E27FC236}">
                <a16:creationId xmlns:a16="http://schemas.microsoft.com/office/drawing/2014/main" id="{87B0DF2F-DAFD-4616-9E25-0C28D75BF306}"/>
              </a:ext>
            </a:extLst>
          </p:cNvPr>
          <p:cNvSpPr>
            <a:spLocks noGrp="1"/>
          </p:cNvSpPr>
          <p:nvPr>
            <p:ph idx="13"/>
          </p:nvPr>
        </p:nvSpPr>
        <p:spPr>
          <a:xfrm>
            <a:off x="6491805"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336DA0F9-D851-437C-A45B-EC125A3D3DB3}"/>
              </a:ext>
            </a:extLst>
          </p:cNvPr>
          <p:cNvSpPr>
            <a:spLocks noGrp="1"/>
          </p:cNvSpPr>
          <p:nvPr>
            <p:ph idx="14"/>
          </p:nvPr>
        </p:nvSpPr>
        <p:spPr>
          <a:xfrm>
            <a:off x="9076629"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0FF0BA98-3AB4-4D88-B1C2-6279BCACFAD9}"/>
              </a:ext>
            </a:extLst>
          </p:cNvPr>
          <p:cNvSpPr>
            <a:spLocks noGrp="1"/>
          </p:cNvSpPr>
          <p:nvPr>
            <p:ph type="body" sz="quarter" idx="15"/>
          </p:nvPr>
        </p:nvSpPr>
        <p:spPr>
          <a:xfrm>
            <a:off x="3887792" y="3971924"/>
            <a:ext cx="2477419"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D9DEF72B-B924-4A0D-8C83-3B370632C0D3}"/>
              </a:ext>
            </a:extLst>
          </p:cNvPr>
          <p:cNvSpPr>
            <a:spLocks noGrp="1"/>
          </p:cNvSpPr>
          <p:nvPr>
            <p:ph type="body" sz="quarter" idx="16"/>
          </p:nvPr>
        </p:nvSpPr>
        <p:spPr>
          <a:xfrm>
            <a:off x="6472616" y="3971925"/>
            <a:ext cx="2477419"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a:extLst>
              <a:ext uri="{FF2B5EF4-FFF2-40B4-BE49-F238E27FC236}">
                <a16:creationId xmlns:a16="http://schemas.microsoft.com/office/drawing/2014/main" id="{E9D30C54-E9E8-4300-8DA4-352DB3A71A4F}"/>
              </a:ext>
            </a:extLst>
          </p:cNvPr>
          <p:cNvSpPr>
            <a:spLocks noGrp="1"/>
          </p:cNvSpPr>
          <p:nvPr>
            <p:ph type="body" sz="quarter" idx="17"/>
          </p:nvPr>
        </p:nvSpPr>
        <p:spPr>
          <a:xfrm>
            <a:off x="9070240" y="3971924"/>
            <a:ext cx="2458230"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080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9410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3974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9719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3/5/2024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593969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69841E-71E7-4F51-8E6F-5E8A5E375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Plans">
            <a:extLst>
              <a:ext uri="{FF2B5EF4-FFF2-40B4-BE49-F238E27FC236}">
                <a16:creationId xmlns:a16="http://schemas.microsoft.com/office/drawing/2014/main" id="{A3A2E0DA-DA21-447D-AD1F-3DB915DD051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
            <a:ext cx="12188932" cy="6858000"/>
          </a:xfrm>
          <a:prstGeom prst="rect">
            <a:avLst/>
          </a:prstGeom>
        </p:spPr>
      </p:pic>
      <p:sp>
        <p:nvSpPr>
          <p:cNvPr id="12" name="Rectangle 11">
            <a:extLst>
              <a:ext uri="{FF2B5EF4-FFF2-40B4-BE49-F238E27FC236}">
                <a16:creationId xmlns:a16="http://schemas.microsoft.com/office/drawing/2014/main" id="{594B067E-A161-4B29-A8FA-FEEB19449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D6CA50C-1A88-4B3F-A34F-FE199F4205A2}"/>
              </a:ext>
            </a:extLst>
          </p:cNvPr>
          <p:cNvSpPr>
            <a:spLocks noGrp="1"/>
          </p:cNvSpPr>
          <p:nvPr>
            <p:ph type="ctrTitle"/>
          </p:nvPr>
        </p:nvSpPr>
        <p:spPr>
          <a:xfrm>
            <a:off x="643467" y="1298448"/>
            <a:ext cx="3685070" cy="3255264"/>
          </a:xfrm>
        </p:spPr>
        <p:txBody>
          <a:bodyPr>
            <a:normAutofit/>
          </a:bodyPr>
          <a:lstStyle/>
          <a:p>
            <a:r>
              <a:rPr lang="en-US" sz="4400" b="1" dirty="0">
                <a:latin typeface="Algerian" panose="04020705040A02060702" pitchFamily="82" charset="0"/>
              </a:rPr>
              <a:t>PERFECT COMPETITION</a:t>
            </a:r>
          </a:p>
        </p:txBody>
      </p:sp>
      <p:sp>
        <p:nvSpPr>
          <p:cNvPr id="3" name="Subtitle 2">
            <a:extLst>
              <a:ext uri="{FF2B5EF4-FFF2-40B4-BE49-F238E27FC236}">
                <a16:creationId xmlns:a16="http://schemas.microsoft.com/office/drawing/2014/main" id="{C9CC2D51-705E-403A-AC0E-9157DC5513A8}"/>
              </a:ext>
            </a:extLst>
          </p:cNvPr>
          <p:cNvSpPr>
            <a:spLocks noGrp="1"/>
          </p:cNvSpPr>
          <p:nvPr>
            <p:ph type="subTitle" idx="1"/>
          </p:nvPr>
        </p:nvSpPr>
        <p:spPr>
          <a:xfrm>
            <a:off x="643467" y="4670246"/>
            <a:ext cx="3685070" cy="914400"/>
          </a:xfrm>
        </p:spPr>
        <p:txBody>
          <a:bodyPr>
            <a:normAutofit/>
          </a:bodyPr>
          <a:lstStyle/>
          <a:p>
            <a:r>
              <a:rPr lang="en-US" b="1" dirty="0"/>
              <a:t>CHAPTER – 8 </a:t>
            </a:r>
          </a:p>
        </p:txBody>
      </p:sp>
      <p:sp>
        <p:nvSpPr>
          <p:cNvPr id="14" name="Rectangle 13">
            <a:extLst>
              <a:ext uri="{FF2B5EF4-FFF2-40B4-BE49-F238E27FC236}">
                <a16:creationId xmlns:a16="http://schemas.microsoft.com/office/drawing/2014/main" id="{C20C741F-0826-4AB6-A92E-AB4EB50216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45828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4A7FC5-56F0-4FE3-8383-04EE92963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Working">
            <a:extLst>
              <a:ext uri="{FF2B5EF4-FFF2-40B4-BE49-F238E27FC236}">
                <a16:creationId xmlns:a16="http://schemas.microsoft.com/office/drawing/2014/main" id="{BC829010-59E7-4B6E-AE76-EEE7D0ED0D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
            <a:ext cx="12188932" cy="6858000"/>
          </a:xfrm>
          <a:prstGeom prst="rect">
            <a:avLst/>
          </a:prstGeom>
        </p:spPr>
      </p:pic>
      <p:sp>
        <p:nvSpPr>
          <p:cNvPr id="12" name="Rectangle 11">
            <a:extLst>
              <a:ext uri="{FF2B5EF4-FFF2-40B4-BE49-F238E27FC236}">
                <a16:creationId xmlns:a16="http://schemas.microsoft.com/office/drawing/2014/main" id="{DE6BEBC3-6A99-4A53-9835-9875E0841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993299F-3E8A-4BF7-9C3D-B9F22CF94C4E}"/>
              </a:ext>
            </a:extLst>
          </p:cNvPr>
          <p:cNvSpPr>
            <a:spLocks noGrp="1"/>
          </p:cNvSpPr>
          <p:nvPr>
            <p:ph type="ctrTitle"/>
          </p:nvPr>
        </p:nvSpPr>
        <p:spPr>
          <a:xfrm>
            <a:off x="1069848" y="1298448"/>
            <a:ext cx="7315200" cy="2130552"/>
          </a:xfrm>
        </p:spPr>
        <p:txBody>
          <a:bodyPr>
            <a:normAutofit/>
          </a:bodyPr>
          <a:lstStyle/>
          <a:p>
            <a:pPr algn="just"/>
            <a:r>
              <a:rPr lang="en-US" sz="6000" b="1" dirty="0"/>
              <a:t>Market structure</a:t>
            </a:r>
            <a:endParaRPr lang="en-IN" sz="6000" b="1" dirty="0"/>
          </a:p>
        </p:txBody>
      </p:sp>
      <p:sp>
        <p:nvSpPr>
          <p:cNvPr id="3" name="Subtitle 2">
            <a:extLst>
              <a:ext uri="{FF2B5EF4-FFF2-40B4-BE49-F238E27FC236}">
                <a16:creationId xmlns:a16="http://schemas.microsoft.com/office/drawing/2014/main" id="{EF6083A9-53C1-4358-80D7-727411C121D9}"/>
              </a:ext>
            </a:extLst>
          </p:cNvPr>
          <p:cNvSpPr>
            <a:spLocks noGrp="1"/>
          </p:cNvSpPr>
          <p:nvPr>
            <p:ph type="subTitle" idx="1"/>
          </p:nvPr>
        </p:nvSpPr>
        <p:spPr>
          <a:xfrm>
            <a:off x="1100015" y="3454094"/>
            <a:ext cx="7315200" cy="2130552"/>
          </a:xfrm>
        </p:spPr>
        <p:txBody>
          <a:bodyPr>
            <a:normAutofit/>
          </a:bodyPr>
          <a:lstStyle/>
          <a:p>
            <a:pPr algn="just"/>
            <a:r>
              <a:rPr lang="en-US" sz="2400" b="1" dirty="0"/>
              <a:t>Market structure refers to the way that various industries are classified and differentiated in accordance with their degree and nature of competition for products and services. It consists of four types: perfect competition, oligopolistic markets, monopolistic markets, and monopolistic competition</a:t>
            </a:r>
            <a:endParaRPr lang="en-US" b="1" dirty="0"/>
          </a:p>
        </p:txBody>
      </p:sp>
      <p:sp>
        <p:nvSpPr>
          <p:cNvPr id="14" name="Rectangle 13">
            <a:extLst>
              <a:ext uri="{FF2B5EF4-FFF2-40B4-BE49-F238E27FC236}">
                <a16:creationId xmlns:a16="http://schemas.microsoft.com/office/drawing/2014/main" id="{D1006911-EDB8-4CDF-AEAA-A3FA06085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81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F3A387-3C62-B74B-1FB0-461AC4546AAF}"/>
              </a:ext>
            </a:extLst>
          </p:cNvPr>
          <p:cNvPicPr>
            <a:picLocks noGrp="1" noChangeAspect="1"/>
          </p:cNvPicPr>
          <p:nvPr>
            <p:ph idx="1"/>
          </p:nvPr>
        </p:nvPicPr>
        <p:blipFill rotWithShape="1">
          <a:blip r:embed="rId2"/>
          <a:srcRect t="31744"/>
          <a:stretch/>
        </p:blipFill>
        <p:spPr>
          <a:xfrm>
            <a:off x="3454400" y="792479"/>
            <a:ext cx="8341360" cy="4086575"/>
          </a:xfrm>
        </p:spPr>
      </p:pic>
      <p:sp>
        <p:nvSpPr>
          <p:cNvPr id="6" name="Title 1">
            <a:extLst>
              <a:ext uri="{FF2B5EF4-FFF2-40B4-BE49-F238E27FC236}">
                <a16:creationId xmlns:a16="http://schemas.microsoft.com/office/drawing/2014/main" id="{5FD4BEDA-F87C-80D9-5500-BEE571F5B084}"/>
              </a:ext>
            </a:extLst>
          </p:cNvPr>
          <p:cNvSpPr>
            <a:spLocks noGrp="1"/>
          </p:cNvSpPr>
          <p:nvPr>
            <p:ph type="title"/>
          </p:nvPr>
        </p:nvSpPr>
        <p:spPr>
          <a:xfrm>
            <a:off x="252919" y="1123837"/>
            <a:ext cx="2947482" cy="4601183"/>
          </a:xfrm>
        </p:spPr>
        <p:txBody>
          <a:bodyPr>
            <a:normAutofit/>
          </a:bodyPr>
          <a:lstStyle/>
          <a:p>
            <a:r>
              <a:rPr lang="en-US" sz="2800" dirty="0"/>
              <a:t>Types of Market Structure</a:t>
            </a:r>
            <a:endParaRPr lang="en-IN" sz="2800" dirty="0"/>
          </a:p>
        </p:txBody>
      </p:sp>
    </p:spTree>
    <p:extLst>
      <p:ext uri="{BB962C8B-B14F-4D97-AF65-F5344CB8AC3E}">
        <p14:creationId xmlns:p14="http://schemas.microsoft.com/office/powerpoint/2010/main" val="3986186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3B712-3F10-86E6-30AB-2FCFFE115D14}"/>
              </a:ext>
            </a:extLst>
          </p:cNvPr>
          <p:cNvSpPr>
            <a:spLocks noGrp="1"/>
          </p:cNvSpPr>
          <p:nvPr>
            <p:ph type="title"/>
          </p:nvPr>
        </p:nvSpPr>
        <p:spPr/>
        <p:txBody>
          <a:bodyPr>
            <a:normAutofit/>
          </a:bodyPr>
          <a:lstStyle/>
          <a:p>
            <a:r>
              <a:rPr lang="en-US" sz="2800" dirty="0"/>
              <a:t>PERFECT COMPETITION </a:t>
            </a:r>
            <a:endParaRPr lang="en-IN" sz="2800" dirty="0"/>
          </a:p>
        </p:txBody>
      </p:sp>
      <p:pic>
        <p:nvPicPr>
          <p:cNvPr id="1026" name="Picture 2" descr="Absent in perfect competition">
            <a:extLst>
              <a:ext uri="{FF2B5EF4-FFF2-40B4-BE49-F238E27FC236}">
                <a16:creationId xmlns:a16="http://schemas.microsoft.com/office/drawing/2014/main" id="{9DE1C524-8804-3401-AD05-96F5330FB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1518" y="412013"/>
            <a:ext cx="5705346" cy="6033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915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D58-1AB6-D9AA-531B-96259C6A4246}"/>
              </a:ext>
            </a:extLst>
          </p:cNvPr>
          <p:cNvSpPr>
            <a:spLocks noGrp="1"/>
          </p:cNvSpPr>
          <p:nvPr>
            <p:ph type="title"/>
          </p:nvPr>
        </p:nvSpPr>
        <p:spPr/>
        <p:txBody>
          <a:bodyPr>
            <a:normAutofit/>
          </a:bodyPr>
          <a:lstStyle/>
          <a:p>
            <a:r>
              <a:rPr lang="en-US" sz="3200" dirty="0"/>
              <a:t>MONOPOLY</a:t>
            </a:r>
            <a:endParaRPr lang="en-IN" sz="3200" dirty="0"/>
          </a:p>
        </p:txBody>
      </p:sp>
      <p:pic>
        <p:nvPicPr>
          <p:cNvPr id="5" name="Content Placeholder 4">
            <a:extLst>
              <a:ext uri="{FF2B5EF4-FFF2-40B4-BE49-F238E27FC236}">
                <a16:creationId xmlns:a16="http://schemas.microsoft.com/office/drawing/2014/main" id="{43397D49-4B9C-F91E-35E3-F880986A3B39}"/>
              </a:ext>
            </a:extLst>
          </p:cNvPr>
          <p:cNvPicPr>
            <a:picLocks noGrp="1" noChangeAspect="1"/>
          </p:cNvPicPr>
          <p:nvPr>
            <p:ph idx="1"/>
          </p:nvPr>
        </p:nvPicPr>
        <p:blipFill>
          <a:blip r:embed="rId2"/>
          <a:stretch>
            <a:fillRect/>
          </a:stretch>
        </p:blipFill>
        <p:spPr>
          <a:xfrm>
            <a:off x="3915052" y="772357"/>
            <a:ext cx="7324077" cy="5450890"/>
          </a:xfrm>
        </p:spPr>
      </p:pic>
    </p:spTree>
    <p:extLst>
      <p:ext uri="{BB962C8B-B14F-4D97-AF65-F5344CB8AC3E}">
        <p14:creationId xmlns:p14="http://schemas.microsoft.com/office/powerpoint/2010/main" val="318646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6947-22FB-076A-98DD-48231CC1EFB6}"/>
              </a:ext>
            </a:extLst>
          </p:cNvPr>
          <p:cNvSpPr>
            <a:spLocks noGrp="1"/>
          </p:cNvSpPr>
          <p:nvPr>
            <p:ph type="title"/>
          </p:nvPr>
        </p:nvSpPr>
        <p:spPr/>
        <p:txBody>
          <a:bodyPr>
            <a:normAutofit/>
          </a:bodyPr>
          <a:lstStyle/>
          <a:p>
            <a:r>
              <a:rPr lang="en-US" sz="3200" dirty="0"/>
              <a:t>IMPERFECT COMPETITION</a:t>
            </a:r>
            <a:endParaRPr lang="en-IN" sz="3200" dirty="0"/>
          </a:p>
        </p:txBody>
      </p:sp>
      <p:pic>
        <p:nvPicPr>
          <p:cNvPr id="5" name="Content Placeholder 4">
            <a:extLst>
              <a:ext uri="{FF2B5EF4-FFF2-40B4-BE49-F238E27FC236}">
                <a16:creationId xmlns:a16="http://schemas.microsoft.com/office/drawing/2014/main" id="{8CDA4014-5235-C195-4E2B-74BBDF40B018}"/>
              </a:ext>
            </a:extLst>
          </p:cNvPr>
          <p:cNvPicPr>
            <a:picLocks noGrp="1" noChangeAspect="1"/>
          </p:cNvPicPr>
          <p:nvPr>
            <p:ph idx="1"/>
          </p:nvPr>
        </p:nvPicPr>
        <p:blipFill>
          <a:blip r:embed="rId2"/>
          <a:stretch>
            <a:fillRect/>
          </a:stretch>
        </p:blipFill>
        <p:spPr>
          <a:xfrm>
            <a:off x="4101483" y="985421"/>
            <a:ext cx="6835806" cy="5033639"/>
          </a:xfrm>
        </p:spPr>
      </p:pic>
    </p:spTree>
    <p:extLst>
      <p:ext uri="{BB962C8B-B14F-4D97-AF65-F5344CB8AC3E}">
        <p14:creationId xmlns:p14="http://schemas.microsoft.com/office/powerpoint/2010/main" val="8722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7C5C-A563-A534-5412-98AA84EE7678}"/>
              </a:ext>
            </a:extLst>
          </p:cNvPr>
          <p:cNvSpPr>
            <a:spLocks noGrp="1"/>
          </p:cNvSpPr>
          <p:nvPr>
            <p:ph type="title"/>
          </p:nvPr>
        </p:nvSpPr>
        <p:spPr/>
        <p:txBody>
          <a:bodyPr>
            <a:normAutofit/>
          </a:bodyPr>
          <a:lstStyle/>
          <a:p>
            <a:r>
              <a:rPr lang="en-US" sz="2800" dirty="0"/>
              <a:t>OLIGOPOLISTIC MARKET</a:t>
            </a:r>
            <a:endParaRPr lang="en-IN" sz="2800" dirty="0"/>
          </a:p>
        </p:txBody>
      </p:sp>
      <p:pic>
        <p:nvPicPr>
          <p:cNvPr id="5" name="Content Placeholder 4">
            <a:extLst>
              <a:ext uri="{FF2B5EF4-FFF2-40B4-BE49-F238E27FC236}">
                <a16:creationId xmlns:a16="http://schemas.microsoft.com/office/drawing/2014/main" id="{B695F01C-6EAC-94F5-4E97-6836CE880CB2}"/>
              </a:ext>
            </a:extLst>
          </p:cNvPr>
          <p:cNvPicPr>
            <a:picLocks noGrp="1" noChangeAspect="1"/>
          </p:cNvPicPr>
          <p:nvPr>
            <p:ph idx="1"/>
          </p:nvPr>
        </p:nvPicPr>
        <p:blipFill>
          <a:blip r:embed="rId2"/>
          <a:stretch>
            <a:fillRect/>
          </a:stretch>
        </p:blipFill>
        <p:spPr>
          <a:xfrm>
            <a:off x="3950563" y="843379"/>
            <a:ext cx="6613864" cy="5149048"/>
          </a:xfrm>
        </p:spPr>
      </p:pic>
    </p:spTree>
    <p:extLst>
      <p:ext uri="{BB962C8B-B14F-4D97-AF65-F5344CB8AC3E}">
        <p14:creationId xmlns:p14="http://schemas.microsoft.com/office/powerpoint/2010/main" val="2671384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6BAE-E63C-D5F9-0599-C9FEABACDC8F}"/>
              </a:ext>
            </a:extLst>
          </p:cNvPr>
          <p:cNvSpPr>
            <a:spLocks noGrp="1"/>
          </p:cNvSpPr>
          <p:nvPr>
            <p:ph type="title"/>
          </p:nvPr>
        </p:nvSpPr>
        <p:spPr/>
        <p:txBody>
          <a:bodyPr>
            <a:normAutofit/>
          </a:bodyPr>
          <a:lstStyle/>
          <a:p>
            <a:r>
              <a:rPr lang="en-US" sz="3200" dirty="0"/>
              <a:t>MONOPOLISTIC COMPETITION</a:t>
            </a:r>
            <a:endParaRPr lang="en-IN" sz="3200" dirty="0"/>
          </a:p>
        </p:txBody>
      </p:sp>
      <p:pic>
        <p:nvPicPr>
          <p:cNvPr id="5" name="Content Placeholder 4">
            <a:extLst>
              <a:ext uri="{FF2B5EF4-FFF2-40B4-BE49-F238E27FC236}">
                <a16:creationId xmlns:a16="http://schemas.microsoft.com/office/drawing/2014/main" id="{F2FA99CF-3D88-7CEF-87E2-622E32FD3B4A}"/>
              </a:ext>
            </a:extLst>
          </p:cNvPr>
          <p:cNvPicPr>
            <a:picLocks noGrp="1" noChangeAspect="1"/>
          </p:cNvPicPr>
          <p:nvPr>
            <p:ph idx="1"/>
          </p:nvPr>
        </p:nvPicPr>
        <p:blipFill>
          <a:blip r:embed="rId2"/>
          <a:stretch>
            <a:fillRect/>
          </a:stretch>
        </p:blipFill>
        <p:spPr>
          <a:xfrm>
            <a:off x="3868738" y="639191"/>
            <a:ext cx="7315200" cy="5566299"/>
          </a:xfrm>
        </p:spPr>
      </p:pic>
    </p:spTree>
    <p:extLst>
      <p:ext uri="{BB962C8B-B14F-4D97-AF65-F5344CB8AC3E}">
        <p14:creationId xmlns:p14="http://schemas.microsoft.com/office/powerpoint/2010/main" val="347724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0BB5-20E1-853A-3159-94627F29066C}"/>
              </a:ext>
            </a:extLst>
          </p:cNvPr>
          <p:cNvSpPr>
            <a:spLocks noGrp="1"/>
          </p:cNvSpPr>
          <p:nvPr>
            <p:ph type="title"/>
          </p:nvPr>
        </p:nvSpPr>
        <p:spPr/>
        <p:txBody>
          <a:bodyPr/>
          <a:lstStyle/>
          <a:p>
            <a:r>
              <a:rPr lang="en-US" dirty="0"/>
              <a:t>PERFECTLY COMPETITIVE MARKETS</a:t>
            </a:r>
            <a:endParaRPr lang="en-IN" dirty="0"/>
          </a:p>
        </p:txBody>
      </p:sp>
      <p:pic>
        <p:nvPicPr>
          <p:cNvPr id="4" name="Content Placeholder 3">
            <a:extLst>
              <a:ext uri="{FF2B5EF4-FFF2-40B4-BE49-F238E27FC236}">
                <a16:creationId xmlns:a16="http://schemas.microsoft.com/office/drawing/2014/main" id="{8B022EE2-56CF-E6A6-92EE-2F6F84F36A4D}"/>
              </a:ext>
            </a:extLst>
          </p:cNvPr>
          <p:cNvPicPr>
            <a:picLocks noGrp="1" noChangeAspect="1"/>
          </p:cNvPicPr>
          <p:nvPr>
            <p:ph idx="1"/>
          </p:nvPr>
        </p:nvPicPr>
        <p:blipFill>
          <a:blip r:embed="rId2"/>
          <a:stretch>
            <a:fillRect/>
          </a:stretch>
        </p:blipFill>
        <p:spPr>
          <a:xfrm>
            <a:off x="3868738" y="880454"/>
            <a:ext cx="7315200" cy="5174117"/>
          </a:xfrm>
          <a:prstGeom prst="rect">
            <a:avLst/>
          </a:prstGeom>
        </p:spPr>
      </p:pic>
    </p:spTree>
    <p:extLst>
      <p:ext uri="{BB962C8B-B14F-4D97-AF65-F5344CB8AC3E}">
        <p14:creationId xmlns:p14="http://schemas.microsoft.com/office/powerpoint/2010/main" val="180213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AACA-F1CF-048A-F1D6-E1573A997DA0}"/>
              </a:ext>
            </a:extLst>
          </p:cNvPr>
          <p:cNvSpPr>
            <a:spLocks noGrp="1"/>
          </p:cNvSpPr>
          <p:nvPr>
            <p:ph type="title"/>
          </p:nvPr>
        </p:nvSpPr>
        <p:spPr/>
        <p:txBody>
          <a:bodyPr/>
          <a:lstStyle/>
          <a:p>
            <a:r>
              <a:rPr lang="en-US" dirty="0"/>
              <a:t>Assumptions of Perfectly Competitive Markets</a:t>
            </a:r>
            <a:endParaRPr lang="en-IN" dirty="0"/>
          </a:p>
        </p:txBody>
      </p:sp>
      <p:pic>
        <p:nvPicPr>
          <p:cNvPr id="9" name="Content Placeholder 8">
            <a:extLst>
              <a:ext uri="{FF2B5EF4-FFF2-40B4-BE49-F238E27FC236}">
                <a16:creationId xmlns:a16="http://schemas.microsoft.com/office/drawing/2014/main" id="{09A241E3-B77A-8BA3-BE4A-7EBDE1295C2A}"/>
              </a:ext>
            </a:extLst>
          </p:cNvPr>
          <p:cNvPicPr>
            <a:picLocks noGrp="1" noChangeAspect="1"/>
          </p:cNvPicPr>
          <p:nvPr>
            <p:ph idx="1"/>
          </p:nvPr>
        </p:nvPicPr>
        <p:blipFill>
          <a:blip r:embed="rId2"/>
          <a:stretch>
            <a:fillRect/>
          </a:stretch>
        </p:blipFill>
        <p:spPr>
          <a:xfrm>
            <a:off x="4061921" y="781235"/>
            <a:ext cx="6928834" cy="5228948"/>
          </a:xfrm>
        </p:spPr>
      </p:pic>
    </p:spTree>
    <p:extLst>
      <p:ext uri="{BB962C8B-B14F-4D97-AF65-F5344CB8AC3E}">
        <p14:creationId xmlns:p14="http://schemas.microsoft.com/office/powerpoint/2010/main" val="115129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0CF11-3904-F503-8EB8-A661D7AEA980}"/>
              </a:ext>
            </a:extLst>
          </p:cNvPr>
          <p:cNvSpPr>
            <a:spLocks noGrp="1"/>
          </p:cNvSpPr>
          <p:nvPr>
            <p:ph type="title"/>
          </p:nvPr>
        </p:nvSpPr>
        <p:spPr/>
        <p:txBody>
          <a:bodyPr/>
          <a:lstStyle/>
          <a:p>
            <a:r>
              <a:rPr lang="en-US" dirty="0"/>
              <a:t>AVERAGE AND MARGINAL REVENUE</a:t>
            </a:r>
            <a:endParaRPr lang="en-IN" dirty="0"/>
          </a:p>
        </p:txBody>
      </p:sp>
      <p:pic>
        <p:nvPicPr>
          <p:cNvPr id="5" name="Content Placeholder 4">
            <a:extLst>
              <a:ext uri="{FF2B5EF4-FFF2-40B4-BE49-F238E27FC236}">
                <a16:creationId xmlns:a16="http://schemas.microsoft.com/office/drawing/2014/main" id="{0D37FD64-B512-4192-D2FC-E1DF510D1E78}"/>
              </a:ext>
            </a:extLst>
          </p:cNvPr>
          <p:cNvPicPr>
            <a:picLocks noGrp="1" noChangeAspect="1"/>
          </p:cNvPicPr>
          <p:nvPr>
            <p:ph idx="1"/>
          </p:nvPr>
        </p:nvPicPr>
        <p:blipFill>
          <a:blip r:embed="rId2"/>
          <a:stretch>
            <a:fillRect/>
          </a:stretch>
        </p:blipFill>
        <p:spPr>
          <a:xfrm>
            <a:off x="8221221" y="1301792"/>
            <a:ext cx="3048491" cy="2698812"/>
          </a:xfrm>
        </p:spPr>
      </p:pic>
      <p:pic>
        <p:nvPicPr>
          <p:cNvPr id="9" name="Picture 8">
            <a:extLst>
              <a:ext uri="{FF2B5EF4-FFF2-40B4-BE49-F238E27FC236}">
                <a16:creationId xmlns:a16="http://schemas.microsoft.com/office/drawing/2014/main" id="{F5293557-3EB9-1192-916D-3A69C4511540}"/>
              </a:ext>
            </a:extLst>
          </p:cNvPr>
          <p:cNvPicPr>
            <a:picLocks noChangeAspect="1"/>
          </p:cNvPicPr>
          <p:nvPr/>
        </p:nvPicPr>
        <p:blipFill>
          <a:blip r:embed="rId3"/>
          <a:stretch>
            <a:fillRect/>
          </a:stretch>
        </p:blipFill>
        <p:spPr>
          <a:xfrm>
            <a:off x="3559946" y="1301792"/>
            <a:ext cx="4527612" cy="2698812"/>
          </a:xfrm>
          <a:prstGeom prst="rect">
            <a:avLst/>
          </a:prstGeom>
        </p:spPr>
      </p:pic>
      <p:pic>
        <p:nvPicPr>
          <p:cNvPr id="11" name="Picture 10">
            <a:extLst>
              <a:ext uri="{FF2B5EF4-FFF2-40B4-BE49-F238E27FC236}">
                <a16:creationId xmlns:a16="http://schemas.microsoft.com/office/drawing/2014/main" id="{1631E32A-52D4-9429-F646-70DE2318E8EE}"/>
              </a:ext>
            </a:extLst>
          </p:cNvPr>
          <p:cNvPicPr>
            <a:picLocks noChangeAspect="1"/>
          </p:cNvPicPr>
          <p:nvPr/>
        </p:nvPicPr>
        <p:blipFill>
          <a:blip r:embed="rId4"/>
          <a:stretch>
            <a:fillRect/>
          </a:stretch>
        </p:blipFill>
        <p:spPr>
          <a:xfrm>
            <a:off x="3939966" y="4551017"/>
            <a:ext cx="3541690" cy="1005191"/>
          </a:xfrm>
          <a:prstGeom prst="rect">
            <a:avLst/>
          </a:prstGeom>
        </p:spPr>
      </p:pic>
      <p:pic>
        <p:nvPicPr>
          <p:cNvPr id="12" name="Picture 11">
            <a:extLst>
              <a:ext uri="{FF2B5EF4-FFF2-40B4-BE49-F238E27FC236}">
                <a16:creationId xmlns:a16="http://schemas.microsoft.com/office/drawing/2014/main" id="{F6D3ED75-A3CF-11B7-310B-E8B472B4A67D}"/>
              </a:ext>
            </a:extLst>
          </p:cNvPr>
          <p:cNvPicPr>
            <a:picLocks noChangeAspect="1"/>
          </p:cNvPicPr>
          <p:nvPr/>
        </p:nvPicPr>
        <p:blipFill>
          <a:blip r:embed="rId5"/>
          <a:stretch>
            <a:fillRect/>
          </a:stretch>
        </p:blipFill>
        <p:spPr>
          <a:xfrm>
            <a:off x="8398274" y="4223698"/>
            <a:ext cx="2672179" cy="1501321"/>
          </a:xfrm>
          <a:prstGeom prst="rect">
            <a:avLst/>
          </a:prstGeom>
        </p:spPr>
      </p:pic>
    </p:spTree>
    <p:extLst>
      <p:ext uri="{BB962C8B-B14F-4D97-AF65-F5344CB8AC3E}">
        <p14:creationId xmlns:p14="http://schemas.microsoft.com/office/powerpoint/2010/main" val="176156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D32A-F565-9B2C-A7A5-5AC6735D6015}"/>
              </a:ext>
            </a:extLst>
          </p:cNvPr>
          <p:cNvSpPr>
            <a:spLocks noGrp="1"/>
          </p:cNvSpPr>
          <p:nvPr>
            <p:ph type="title"/>
          </p:nvPr>
        </p:nvSpPr>
        <p:spPr/>
        <p:txBody>
          <a:bodyPr>
            <a:normAutofit/>
          </a:bodyPr>
          <a:lstStyle/>
          <a:p>
            <a:pPr algn="just"/>
            <a:r>
              <a:rPr lang="en-US" sz="3200" dirty="0"/>
              <a:t>SHORT-RUN EQUILIBRIUM UNDER PERFECT COMPETITION</a:t>
            </a:r>
            <a:endParaRPr lang="en-IN" sz="3200" dirty="0"/>
          </a:p>
        </p:txBody>
      </p:sp>
      <p:pic>
        <p:nvPicPr>
          <p:cNvPr id="15" name="Content Placeholder 14">
            <a:extLst>
              <a:ext uri="{FF2B5EF4-FFF2-40B4-BE49-F238E27FC236}">
                <a16:creationId xmlns:a16="http://schemas.microsoft.com/office/drawing/2014/main" id="{CB4F8BDF-4C5F-92D0-D0E8-784C17DC4E97}"/>
              </a:ext>
            </a:extLst>
          </p:cNvPr>
          <p:cNvPicPr>
            <a:picLocks noGrp="1" noChangeAspect="1"/>
          </p:cNvPicPr>
          <p:nvPr>
            <p:ph idx="1"/>
          </p:nvPr>
        </p:nvPicPr>
        <p:blipFill>
          <a:blip r:embed="rId2"/>
          <a:stretch>
            <a:fillRect/>
          </a:stretch>
        </p:blipFill>
        <p:spPr>
          <a:xfrm>
            <a:off x="4376691" y="852256"/>
            <a:ext cx="6320901" cy="5291091"/>
          </a:xfrm>
        </p:spPr>
      </p:pic>
    </p:spTree>
    <p:extLst>
      <p:ext uri="{BB962C8B-B14F-4D97-AF65-F5344CB8AC3E}">
        <p14:creationId xmlns:p14="http://schemas.microsoft.com/office/powerpoint/2010/main" val="1412565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B83E-E223-46E0-4BCD-1169A53852BA}"/>
              </a:ext>
            </a:extLst>
          </p:cNvPr>
          <p:cNvSpPr>
            <a:spLocks noGrp="1"/>
          </p:cNvSpPr>
          <p:nvPr>
            <p:ph type="title"/>
          </p:nvPr>
        </p:nvSpPr>
        <p:spPr/>
        <p:txBody>
          <a:bodyPr/>
          <a:lstStyle/>
          <a:p>
            <a:r>
              <a:rPr lang="en-US" dirty="0"/>
              <a:t>LONG</a:t>
            </a:r>
            <a:r>
              <a:rPr lang="en-US" sz="3600" dirty="0"/>
              <a:t>-RUN EQUILIBRIUM UNDER PERFECT COMPETITION</a:t>
            </a:r>
            <a:endParaRPr lang="en-IN" dirty="0"/>
          </a:p>
        </p:txBody>
      </p:sp>
      <p:pic>
        <p:nvPicPr>
          <p:cNvPr id="5" name="Content Placeholder 4">
            <a:extLst>
              <a:ext uri="{FF2B5EF4-FFF2-40B4-BE49-F238E27FC236}">
                <a16:creationId xmlns:a16="http://schemas.microsoft.com/office/drawing/2014/main" id="{D453DBB4-0696-32B8-3645-7321F90C6E64}"/>
              </a:ext>
            </a:extLst>
          </p:cNvPr>
          <p:cNvPicPr>
            <a:picLocks noGrp="1" noChangeAspect="1"/>
          </p:cNvPicPr>
          <p:nvPr>
            <p:ph idx="1"/>
          </p:nvPr>
        </p:nvPicPr>
        <p:blipFill>
          <a:blip r:embed="rId2"/>
          <a:stretch>
            <a:fillRect/>
          </a:stretch>
        </p:blipFill>
        <p:spPr>
          <a:xfrm>
            <a:off x="4116093" y="976330"/>
            <a:ext cx="7167425" cy="5042730"/>
          </a:xfrm>
        </p:spPr>
      </p:pic>
    </p:spTree>
    <p:extLst>
      <p:ext uri="{BB962C8B-B14F-4D97-AF65-F5344CB8AC3E}">
        <p14:creationId xmlns:p14="http://schemas.microsoft.com/office/powerpoint/2010/main" val="380445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DA5C-591E-3258-82D6-38976A37D470}"/>
              </a:ext>
            </a:extLst>
          </p:cNvPr>
          <p:cNvSpPr>
            <a:spLocks noGrp="1"/>
          </p:cNvSpPr>
          <p:nvPr>
            <p:ph type="title"/>
          </p:nvPr>
        </p:nvSpPr>
        <p:spPr/>
        <p:txBody>
          <a:bodyPr/>
          <a:lstStyle/>
          <a:p>
            <a:r>
              <a:rPr lang="en-US" dirty="0"/>
              <a:t>ALLOCATIVE EFFICIENCY</a:t>
            </a:r>
            <a:br>
              <a:rPr lang="en-US" dirty="0"/>
            </a:br>
            <a:endParaRPr lang="en-IN" dirty="0"/>
          </a:p>
        </p:txBody>
      </p:sp>
      <p:sp>
        <p:nvSpPr>
          <p:cNvPr id="3" name="Content Placeholder 2">
            <a:extLst>
              <a:ext uri="{FF2B5EF4-FFF2-40B4-BE49-F238E27FC236}">
                <a16:creationId xmlns:a16="http://schemas.microsoft.com/office/drawing/2014/main" id="{7B914039-64DC-6009-4736-7306F4D5F7FC}"/>
              </a:ext>
            </a:extLst>
          </p:cNvPr>
          <p:cNvSpPr>
            <a:spLocks noGrp="1"/>
          </p:cNvSpPr>
          <p:nvPr>
            <p:ph idx="1"/>
          </p:nvPr>
        </p:nvSpPr>
        <p:spPr>
          <a:xfrm>
            <a:off x="3869268" y="864108"/>
            <a:ext cx="2416122" cy="5120640"/>
          </a:xfrm>
        </p:spPr>
        <p:txBody>
          <a:bodyPr>
            <a:normAutofit/>
          </a:bodyPr>
          <a:lstStyle/>
          <a:p>
            <a:pPr algn="just"/>
            <a:r>
              <a:rPr lang="en-US" sz="1600" dirty="0"/>
              <a:t>Allocative efficiency is a state of the economy in which production is aligned with consumer preferences; in particular, every good or service is produced up to the point where the last unit provides a marginal benefit to consumers equal to the marginal cost of producing.</a:t>
            </a:r>
            <a:endParaRPr lang="en-IN" sz="1600" dirty="0"/>
          </a:p>
        </p:txBody>
      </p:sp>
      <p:pic>
        <p:nvPicPr>
          <p:cNvPr id="7" name="Picture 6">
            <a:extLst>
              <a:ext uri="{FF2B5EF4-FFF2-40B4-BE49-F238E27FC236}">
                <a16:creationId xmlns:a16="http://schemas.microsoft.com/office/drawing/2014/main" id="{E4631D60-B52E-ADBF-91AD-B02074F17027}"/>
              </a:ext>
            </a:extLst>
          </p:cNvPr>
          <p:cNvPicPr>
            <a:picLocks noChangeAspect="1"/>
          </p:cNvPicPr>
          <p:nvPr/>
        </p:nvPicPr>
        <p:blipFill>
          <a:blip r:embed="rId2"/>
          <a:stretch>
            <a:fillRect/>
          </a:stretch>
        </p:blipFill>
        <p:spPr>
          <a:xfrm>
            <a:off x="6712153" y="1411550"/>
            <a:ext cx="4225135" cy="3950563"/>
          </a:xfrm>
          <a:prstGeom prst="rect">
            <a:avLst/>
          </a:prstGeom>
        </p:spPr>
      </p:pic>
    </p:spTree>
    <p:extLst>
      <p:ext uri="{BB962C8B-B14F-4D97-AF65-F5344CB8AC3E}">
        <p14:creationId xmlns:p14="http://schemas.microsoft.com/office/powerpoint/2010/main" val="2428513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D5843-8B40-DE10-B98D-F0969E84EDA1}"/>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20C9018D-1131-88C3-4D09-9CD7BA2F6251}"/>
              </a:ext>
            </a:extLst>
          </p:cNvPr>
          <p:cNvSpPr>
            <a:spLocks noGrp="1"/>
          </p:cNvSpPr>
          <p:nvPr>
            <p:ph idx="1"/>
          </p:nvPr>
        </p:nvSpPr>
        <p:spPr/>
        <p:txBody>
          <a:bodyPr>
            <a:normAutofit/>
          </a:bodyPr>
          <a:lstStyle/>
          <a:p>
            <a:pPr algn="just"/>
            <a:r>
              <a:rPr lang="en-US" sz="4800" dirty="0"/>
              <a:t>In conclusion, the concept of market structure is central to both economics and marketing.</a:t>
            </a:r>
            <a:endParaRPr lang="en-IN" sz="4800" dirty="0"/>
          </a:p>
        </p:txBody>
      </p:sp>
    </p:spTree>
    <p:extLst>
      <p:ext uri="{BB962C8B-B14F-4D97-AF65-F5344CB8AC3E}">
        <p14:creationId xmlns:p14="http://schemas.microsoft.com/office/powerpoint/2010/main" val="3304338779"/>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79D151-6AED-4C4E-9A23-4BEC5BA436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668657-C50E-4365-A5FD-AC07593EBE57}">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EA82F57F-EFCE-45E0-9F75-822371CB5F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Architecture design</Template>
  <TotalTime>150</TotalTime>
  <Words>157</Words>
  <Application>Microsoft Office PowerPoint</Application>
  <PresentationFormat>Widescreen</PresentationFormat>
  <Paragraphs>21</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Algerian</vt:lpstr>
      <vt:lpstr>Arial</vt:lpstr>
      <vt:lpstr>Calibri</vt:lpstr>
      <vt:lpstr>Corbel</vt:lpstr>
      <vt:lpstr>Wingdings 2</vt:lpstr>
      <vt:lpstr>Frame</vt:lpstr>
      <vt:lpstr>PERFECT COMPETITION</vt:lpstr>
      <vt:lpstr>Market structure</vt:lpstr>
      <vt:lpstr>Types of Market Structure</vt:lpstr>
      <vt:lpstr>PERFECT COMPETITION </vt:lpstr>
      <vt:lpstr>MONOPOLY</vt:lpstr>
      <vt:lpstr>IMPERFECT COMPETITION</vt:lpstr>
      <vt:lpstr>OLIGOPOLISTIC MARKET</vt:lpstr>
      <vt:lpstr>MONOPOLISTIC COMPETITION</vt:lpstr>
      <vt:lpstr>PERFECTLY COMPETITIVE MARKETS</vt:lpstr>
      <vt:lpstr>Assumptions of Perfectly Competitive Markets</vt:lpstr>
      <vt:lpstr>AVERAGE AND MARGINAL REVENUE</vt:lpstr>
      <vt:lpstr>SHORT-RUN EQUILIBRIUM UNDER PERFECT COMPETITION</vt:lpstr>
      <vt:lpstr>LONG-RUN EQUILIBRIUM UNDER PERFECT COMPETITION</vt:lpstr>
      <vt:lpstr>ALLOCATIVE EFFICIENCY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PERFECT COMPETITION</dc:title>
  <dc:creator>Amrita Priyam EMP107</dc:creator>
  <cp:lastModifiedBy>Pratibha Sharma</cp:lastModifiedBy>
  <cp:revision>14</cp:revision>
  <dcterms:created xsi:type="dcterms:W3CDTF">2023-03-26T09:11:57Z</dcterms:created>
  <dcterms:modified xsi:type="dcterms:W3CDTF">2024-03-05T09:28:20Z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