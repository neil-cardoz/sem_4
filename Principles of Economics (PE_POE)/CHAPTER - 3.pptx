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84" r:id="rId5"/>
    <p:sldId id="287" r:id="rId6"/>
    <p:sldId id="261" r:id="rId7"/>
    <p:sldId id="285" r:id="rId8"/>
    <p:sldId id="307" r:id="rId9"/>
    <p:sldId id="297" r:id="rId10"/>
    <p:sldId id="262" r:id="rId11"/>
    <p:sldId id="304" r:id="rId12"/>
    <p:sldId id="294" r:id="rId13"/>
    <p:sldId id="288" r:id="rId14"/>
    <p:sldId id="298" r:id="rId15"/>
    <p:sldId id="299" r:id="rId16"/>
    <p:sldId id="301" r:id="rId17"/>
    <p:sldId id="302" r:id="rId18"/>
    <p:sldId id="3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E9C46A"/>
    <a:srgbClr val="97EFD3"/>
    <a:srgbClr val="F15574"/>
    <a:srgbClr val="F4EBE8"/>
    <a:srgbClr val="ECC4BF"/>
    <a:srgbClr val="C9A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63" d="100"/>
          <a:sy n="63" d="100"/>
        </p:scale>
        <p:origin x="804" y="56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teris_paribus" TargetMode="External"/><Relationship Id="rId2" Type="http://schemas.openxmlformats.org/officeDocument/2006/relationships/hyperlink" Target="https://en.wikipedia.org/wiki/Microeconomic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hyperlink" Target="https://en.wikipedia.org/wiki/Demand_curve" TargetMode="External"/><Relationship Id="rId4" Type="http://schemas.openxmlformats.org/officeDocument/2006/relationships/hyperlink" Target="https://en.wikipedia.org/wiki/Good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DEMAND, SUPPLY AND DETERMINATION OF PRICE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                      Meaning and Concept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9A1EB-0FEA-7A44-AC44-130C474B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356" y="3639349"/>
            <a:ext cx="3689473" cy="2011605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B03965D-FA8B-6D04-8BED-7BA5C9F070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7B1102-C8D7-E036-3D77-05B7130AE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356" y="914400"/>
            <a:ext cx="3689474" cy="26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B981C-F1B0-90B0-A48E-3CF0C93F0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278" y="976544"/>
            <a:ext cx="6409677" cy="4643022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804EFC8-21AD-2845-3B21-1ECB52AE3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623" y="852256"/>
            <a:ext cx="3929823" cy="516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         Types of Demand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AE64-060D-5DA2-F1C8-F32CD829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4037D-4CE3-17DC-7A2A-64E8120A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7F9DE-790E-73FB-5997-D2866752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3EF79-693C-E332-F813-739BEEAF64AA}"/>
              </a:ext>
            </a:extLst>
          </p:cNvPr>
          <p:cNvSpPr txBox="1"/>
          <p:nvPr/>
        </p:nvSpPr>
        <p:spPr>
          <a:xfrm>
            <a:off x="408374" y="1763800"/>
            <a:ext cx="114433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or individual demand: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the individual demand is defined as the demand for products or services by an individual consumer. The market demand can be defined as a demand for a product made by a bunch of consumers who buy that product. Therefore, it is a collective demand of each individual’s demand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demand: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derived demand is defined when the goods manufactured are related to the demand for other products . For example, the demand for silk yarn is the result of the demand for silk cloth. However, the direct demand for goods can be defined when the demand for a product is independent. For example, there is an autonomous demand for cotton cloth.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demand: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price demand refers to the number of goods or services an individual is eager to buy at a given price.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Income demand: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income demand means the eagerness of a person to buy a definite quantity at a given income level.</a:t>
            </a:r>
          </a:p>
        </p:txBody>
      </p:sp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23" y="190248"/>
            <a:ext cx="3017520" cy="1938528"/>
          </a:xfrm>
        </p:spPr>
        <p:txBody>
          <a:bodyPr/>
          <a:lstStyle/>
          <a:p>
            <a:pPr algn="ctr"/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LAW OF DEMAND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C5FD85-E72E-D48C-0D76-91EA62829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399" y="1800301"/>
            <a:ext cx="2980944" cy="4991115"/>
          </a:xfrm>
        </p:spPr>
        <p:txBody>
          <a:bodyPr/>
          <a:lstStyle/>
          <a:p>
            <a:pPr algn="just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MEANING - </a:t>
            </a:r>
            <a:r>
              <a:rPr lang="en-US" sz="16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</a:t>
            </a:r>
            <a:r>
              <a:rPr lang="en-US" sz="1600" b="1" i="0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tooltip="Microeconom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microeconomics</a:t>
            </a:r>
            <a:r>
              <a:rPr lang="en-US" sz="16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 law of demand is a fundamental principle which states that there is an inverse relationship between price and quantity demanded. In other words, "conditional on </a:t>
            </a:r>
            <a:r>
              <a:rPr lang="en-US" sz="1600" b="1" i="0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Ceteris parib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else being equal</a:t>
            </a:r>
            <a:r>
              <a:rPr lang="en-US" sz="16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the price of a </a:t>
            </a:r>
            <a:r>
              <a:rPr lang="en-US" sz="1600" b="1" i="0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Go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</a:t>
            </a:r>
            <a:r>
              <a:rPr lang="en-US" sz="16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increases (↑), quantity demanded will decrease (↓); conversely, as the price of a good decreases (↓), quantity demanded will increase (↑)".</a:t>
            </a:r>
            <a:r>
              <a:rPr lang="en-US" sz="1400" b="1" i="0">
                <a:effectLst/>
                <a:latin typeface="Arial" panose="020B0604020202020204" pitchFamily="34" charset="0"/>
              </a:rPr>
              <a:t> The law of demand is represented by a graph called the </a:t>
            </a:r>
            <a:r>
              <a:rPr lang="en-US" sz="1400" b="1" i="0" strike="noStrike">
                <a:effectLst/>
                <a:latin typeface="Arial" panose="020B0604020202020204" pitchFamily="34" charset="0"/>
                <a:hlinkClick r:id="rId5" tooltip="Demand cur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demand curve</a:t>
            </a:r>
            <a:r>
              <a:rPr lang="en-US" sz="1400" b="1" i="0">
                <a:effectLst/>
                <a:latin typeface="Arial" panose="020B0604020202020204" pitchFamily="34" charset="0"/>
              </a:rPr>
              <a:t>, with quantity demanded on the x-axis and price on the y-axis. Demand curves are downward sloping by definition of the law of demand.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0890AE-7971-3BC7-3B35-F2D99E038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810" y="1961966"/>
            <a:ext cx="4989250" cy="32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E3C60-980B-7D9A-617F-96E763B0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1AF02-3D60-65AD-AB47-485C1DF6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E7AECC-3483-539B-14B9-B193B945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E14D8E-4361-1E43-ED60-5FE732AB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640" y="74972"/>
            <a:ext cx="7772400" cy="575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3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EEA639-B2BF-E5A0-9B9E-300D1B87A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357" y="381740"/>
            <a:ext cx="10901779" cy="56550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CCBAB-9906-BC64-107B-B401E69B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E30F5-01FF-A0A3-5707-EC48FA01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47B7A5-CB54-010E-813B-415D798A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4484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78C42C-5CDF-5319-6D82-FEABEA28A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783" y="426127"/>
            <a:ext cx="11176986" cy="57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AC37-AEB6-EAD2-4DB2-227122DD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SUPPLY CURVE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BBA7ED-CB70-E40D-3432-2ADEC14F0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99" y="1527048"/>
            <a:ext cx="8096435" cy="4616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CD98E-6667-3893-D5E9-46BDE2F8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FB1A9-9956-3448-CD27-11B49E1E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1A9B96-3814-52BD-6C0B-C543AE7E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40513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7EF4C6-B786-2F0F-DE80-99663C93A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3134" y="1154097"/>
            <a:ext cx="5663953" cy="4367814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02FC-1940-72AB-8671-0839E2CF0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C47-3017-DA16-F8BF-CBFF553CB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7AC1F3-FBD2-24FF-608E-1D301D2792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C00235-80DB-8E65-4FFA-23DF4C0DE0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480" y="6400904"/>
            <a:ext cx="1463040" cy="24688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0E4D9-A114-4773-6B3B-37FA10EAB08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29145" y="6400904"/>
            <a:ext cx="640080" cy="246888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D5CE64-F99E-2687-7804-8B7BFD70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74" y="1455939"/>
            <a:ext cx="6418555" cy="379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7120-A89F-4770-006F-EB741FEA8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1132968"/>
            <a:ext cx="6473952" cy="1901952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DETERMINATION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OF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PRICE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4A55F0-B557-B5A2-E805-A9DBFFDB5A7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F5B2E4-F475-4720-835D-1408C3E09F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93C116-1E73-545A-1CCD-D0E3A1F3B92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11</a:t>
            </a:fld>
            <a:endParaRPr lang="en-US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239D55-1344-B45C-8928-2AFA3797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421" y="1854189"/>
            <a:ext cx="5308847" cy="36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0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9ABA1-650F-ED68-FAC0-C66EFCD188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3FA1F-0257-3A04-76F5-ED0265C1FB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1B727D-D888-7CB0-E57D-E0131928A2E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7C1243-46BF-1AA0-B39C-EF8AAB98FE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A34ACC-5537-323B-FC84-50B2F8D8B2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12</a:t>
            </a:fld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22F02F-15FB-D0EB-21F3-E70F47E4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28" y="1038687"/>
            <a:ext cx="5988728" cy="45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8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0DF98B-E87C-03D0-BA3D-9B262CB527E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874EAB-D4A5-6344-C334-530C2D87EFF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E6BE97-B109-1E6D-F0FB-2349164A4F9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13</a:t>
            </a:fld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4C2A11-B56D-93B4-0702-C9F931AD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93" y="1091953"/>
            <a:ext cx="9075552" cy="448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A624-F792-BEA8-70B5-F55BDE37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0CFCDB-AB24-E53C-D35D-E403E4DCAF7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457695-5F0A-A92A-CCBE-563C9F6BBBB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005481-F963-2DC7-AE5F-C13D618F9BE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14</a:t>
            </a:fld>
            <a:endParaRPr lang="en-US" noProof="0"/>
          </a:p>
        </p:txBody>
      </p:sp>
      <p:pic>
        <p:nvPicPr>
          <p:cNvPr id="2050" name="Picture 2" descr="Topic 10: Demand and Supply - Price Determination - EconoMaldives ERROR 404  - EconoMaldives">
            <a:extLst>
              <a:ext uri="{FF2B5EF4-FFF2-40B4-BE49-F238E27FC236}">
                <a16:creationId xmlns:a16="http://schemas.microsoft.com/office/drawing/2014/main" id="{1CEE98AD-4F7C-662D-7EBE-81A4C5BC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65" y="952500"/>
            <a:ext cx="9774314" cy="468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32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A865-6E6D-4B36-41CF-4913CF47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544" y="777862"/>
            <a:ext cx="6473952" cy="1901952"/>
          </a:xfrm>
        </p:spPr>
        <p:txBody>
          <a:bodyPr/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0F87EF-DA80-5320-9570-14DD030E97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F30B7D-DB55-40E5-B1B1-D0FE84BC3A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9480E1-9D09-4EE7-3726-1228F3FD30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15</a:t>
            </a:fld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E9BE44-8E84-3D7E-9C2F-03B9CBD5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1775533"/>
            <a:ext cx="9520265" cy="372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8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{9F3BDF39-D1B7-4162-AE12-70C71FA2F255}tf11429527_win32</Template>
  <TotalTime>93</TotalTime>
  <Words>370</Words>
  <Application>Microsoft Office PowerPoint</Application>
  <PresentationFormat>Widescreen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Algerian</vt:lpstr>
      <vt:lpstr>Arial</vt:lpstr>
      <vt:lpstr>Calibri</vt:lpstr>
      <vt:lpstr>Century Gothic</vt:lpstr>
      <vt:lpstr>Karla</vt:lpstr>
      <vt:lpstr>Roboto</vt:lpstr>
      <vt:lpstr>Times New Roman</vt:lpstr>
      <vt:lpstr>Univers Condensed Light</vt:lpstr>
      <vt:lpstr>Office Theme</vt:lpstr>
      <vt:lpstr>DEMAND, SUPPLY AND DETERMINATION OF PRICE</vt:lpstr>
      <vt:lpstr>PowerPoint Presentation</vt:lpstr>
      <vt:lpstr>         Types of Demand</vt:lpstr>
      <vt:lpstr>LAW OF DEMAND</vt:lpstr>
      <vt:lpstr>PowerPoint Presentation</vt:lpstr>
      <vt:lpstr>PowerPoint Presentation</vt:lpstr>
      <vt:lpstr>PowerPoint Presentation</vt:lpstr>
      <vt:lpstr>SUPPLY CURVE</vt:lpstr>
      <vt:lpstr>PowerPoint Presentation</vt:lpstr>
      <vt:lpstr>PowerPoint Presentation</vt:lpstr>
      <vt:lpstr>   DETERMINATION                   OF                PRICE</vt:lpstr>
      <vt:lpstr>PowerPoint Presentation</vt:lpstr>
      <vt:lpstr>PowerPoint Presentation</vt:lpstr>
      <vt:lpstr>PowerPoint Presentation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Amrita Priyam EMP107</dc:creator>
  <cp:lastModifiedBy>Pratibha Sharma</cp:lastModifiedBy>
  <cp:revision>17</cp:revision>
  <dcterms:created xsi:type="dcterms:W3CDTF">2023-02-15T13:14:35Z</dcterms:created>
  <dcterms:modified xsi:type="dcterms:W3CDTF">2024-07-30T14:25:02Z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