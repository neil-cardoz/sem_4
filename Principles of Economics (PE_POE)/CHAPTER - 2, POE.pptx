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4" r:id="rId1"/>
  </p:sldMasterIdLst>
  <p:notesMasterIdLst>
    <p:notesMasterId r:id="rId14"/>
  </p:notesMasterIdLst>
  <p:handoutMasterIdLst>
    <p:handoutMasterId r:id="rId15"/>
  </p:handoutMasterIdLst>
  <p:sldIdLst>
    <p:sldId id="258" r:id="rId2"/>
    <p:sldId id="270" r:id="rId3"/>
    <p:sldId id="268" r:id="rId4"/>
    <p:sldId id="269" r:id="rId5"/>
    <p:sldId id="259" r:id="rId6"/>
    <p:sldId id="261" r:id="rId7"/>
    <p:sldId id="272" r:id="rId8"/>
    <p:sldId id="271" r:id="rId9"/>
    <p:sldId id="264" r:id="rId10"/>
    <p:sldId id="265" r:id="rId11"/>
    <p:sldId id="266" r:id="rId12"/>
    <p:sldId id="267" r:id="rId13"/>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182" autoAdjust="0"/>
  </p:normalViewPr>
  <p:slideViewPr>
    <p:cSldViewPr showGuides="1">
      <p:cViewPr varScale="1">
        <p:scale>
          <a:sx n="86" d="100"/>
          <a:sy n="86" d="100"/>
        </p:scale>
        <p:origin x="562" y="67"/>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3198"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2/13/2023</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2/13/2023</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BBF81A0-ADA6-4623-BE4F-40CFB8BBCB3D}" type="slidenum">
              <a:rPr lang="en-US" smtClean="0"/>
              <a:t>1</a:t>
            </a:fld>
            <a:endParaRPr lang="en-US"/>
          </a:p>
        </p:txBody>
      </p:sp>
    </p:spTree>
    <p:extLst>
      <p:ext uri="{BB962C8B-B14F-4D97-AF65-F5344CB8AC3E}">
        <p14:creationId xmlns:p14="http://schemas.microsoft.com/office/powerpoint/2010/main" val="2855903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descr="Stack of books"/>
          <p:cNvGrpSpPr/>
          <p:nvPr userDrawn="1"/>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26044" cy="6858000"/>
              <a:chOff x="0" y="0"/>
              <a:chExt cx="4726044" cy="6858000"/>
            </a:xfrm>
          </p:grpSpPr>
          <p:pic>
            <p:nvPicPr>
              <p:cNvPr id="9" name="Picture 8" descr="Stack of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588884"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42E3C847-D284-421D-B330-2D43513B0F9C}" type="datetime1">
              <a:rPr lang="en-US" smtClean="0"/>
              <a:t>2/13/2023</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44051740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5785147-19A6-4970-A04E-ED9B1D83C0F1}" type="datetime1">
              <a:rPr lang="en-US" smtClean="0"/>
              <a:t>2/13/2023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35897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 of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E8F41008-E89D-49CD-9BF4-E6F3FE09F7AC}" type="datetime1">
              <a:rPr lang="en-US" smtClean="0"/>
              <a:t>2/13/2023</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7272354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6C9E199F-4583-41EB-929F-5865E95EECAA}" type="datetime1">
              <a:rPr lang="en-US" smtClean="0"/>
              <a:t>2/13/2023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701748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011328">
              <a:defRPr sz="1800"/>
            </a:lvl6pPr>
            <a:lvl7pPr marL="2011328">
              <a:defRPr sz="1800"/>
            </a:lvl7pPr>
            <a:lvl8pPr marL="2011328">
              <a:defRPr sz="1800"/>
            </a:lvl8pPr>
            <a:lvl9pPr marL="2011328">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ADE652EB-356C-4482-B27C-7C8E08F5D88F}" type="datetime1">
              <a:rPr lang="en-US" smtClean="0"/>
              <a:t>2/13/2023</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147465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1B0895E-43C3-4560-B59A-90049317E860}" type="datetime1">
              <a:rPr lang="en-US" smtClean="0"/>
              <a:t>2/13/2023</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1810248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778C32-B81D-4A68-A851-5185C690F024}" type="datetime1">
              <a:rPr lang="en-US" smtClean="0"/>
              <a:t>2/13/2023</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66448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11765D79-EF31-4E8F-A1BE-AF31805C2859}" type="datetime1">
              <a:rPr lang="en-US" smtClean="0"/>
              <a:t>2/13/2023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280129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32FBA3B-941F-4778-A0CB-865223FDAE69}" type="datetime1">
              <a:rPr lang="en-US" smtClean="0"/>
              <a:t>2/13/2023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147819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F6987518-40ED-4895-8580-DE2A722FC423}" type="datetime1">
              <a:rPr lang="en-US" smtClean="0"/>
              <a:t>2/13/2023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2960223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dirty="0"/>
          </a:p>
        </p:txBody>
      </p:sp>
      <p:sp>
        <p:nvSpPr>
          <p:cNvPr id="3" name="Vertical Text Placeholder 2"/>
          <p:cNvSpPr>
            <a:spLocks noGrp="1"/>
          </p:cNvSpPr>
          <p:nvPr>
            <p:ph type="body" orient="vert" idx="1"/>
          </p:nvPr>
        </p:nvSpPr>
        <p:spPr>
          <a:xfrm>
            <a:off x="1117309" y="274638"/>
            <a:ext cx="8532178" cy="589756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CA8D9F34-BDBC-4273-B9BC-22458F940BE7}" type="datetime1">
              <a:rPr lang="en-US" smtClean="0"/>
              <a:t>2/13/2023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23982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72EBFD46-0FD3-4428-ADEC-1DFD6489930D}" type="datetime1">
              <a:rPr lang="en-US" smtClean="0"/>
              <a:t>2/13/2023</a:t>
            </a:fld>
            <a:endParaRPr lang="en-US"/>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dirty="0"/>
              <a:t>Add a footer</a:t>
            </a:r>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4142785951"/>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437973"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6pPr>
      <a:lvl7pPr marL="2864619"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7pPr>
      <a:lvl8pPr marL="3291264" indent="-304747" algn="l" defTabSz="1218987" rtl="0" eaLnBrk="1" latinLnBrk="0" hangingPunct="1">
        <a:lnSpc>
          <a:spcPct val="95000"/>
        </a:lnSpc>
        <a:spcBef>
          <a:spcPts val="1066"/>
        </a:spcBef>
        <a:buClr>
          <a:schemeClr val="accent6">
            <a:lumMod val="50000"/>
          </a:schemeClr>
        </a:buClr>
        <a:buSzPct val="90000"/>
        <a:buFont typeface="Century Gothic" pitchFamily="34" charset="0"/>
        <a:buChar char="–"/>
        <a:defRPr sz="1800" kern="1200">
          <a:solidFill>
            <a:schemeClr val="tx2">
              <a:lumMod val="50000"/>
            </a:schemeClr>
          </a:solidFill>
          <a:latin typeface="+mn-lt"/>
          <a:ea typeface="+mn-ea"/>
          <a:cs typeface="+mn-cs"/>
        </a:defRPr>
      </a:lvl8pPr>
      <a:lvl9pPr marL="3474112" indent="0" algn="l" defTabSz="1218987" rtl="0" eaLnBrk="1" latinLnBrk="0" hangingPunct="1">
        <a:lnSpc>
          <a:spcPct val="95000"/>
        </a:lnSpc>
        <a:spcBef>
          <a:spcPts val="1066"/>
        </a:spcBef>
        <a:buClr>
          <a:schemeClr val="accent6">
            <a:lumMod val="50000"/>
          </a:schemeClr>
        </a:buClr>
        <a:buSzPct val="90000"/>
        <a:buFont typeface="Century Gothic" pitchFamily="34" charset="0"/>
        <a:buNone/>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014292" y="1196752"/>
            <a:ext cx="7008574" cy="4320754"/>
          </a:xfrm>
        </p:spPr>
        <p:txBody>
          <a:bodyPr>
            <a:noAutofit/>
          </a:bodyPr>
          <a:lstStyle/>
          <a:p>
            <a:pPr algn="ctr"/>
            <a:r>
              <a:rPr lang="en-US" sz="4800" dirty="0">
                <a:latin typeface="Algerian" panose="04020705040A02060702" pitchFamily="82" charset="0"/>
              </a:rPr>
              <a:t>ECONOMIC Theorizing,</a:t>
            </a:r>
            <a:br>
              <a:rPr lang="en-US" sz="4800" dirty="0">
                <a:latin typeface="Algerian" panose="04020705040A02060702" pitchFamily="82" charset="0"/>
              </a:rPr>
            </a:br>
            <a:r>
              <a:rPr lang="en-US" sz="4800" dirty="0">
                <a:latin typeface="Algerian" panose="04020705040A02060702" pitchFamily="82" charset="0"/>
              </a:rPr>
              <a:t>Economic Relationship</a:t>
            </a:r>
            <a:br>
              <a:rPr lang="en-US" sz="4800" dirty="0">
                <a:latin typeface="Algerian" panose="04020705040A02060702" pitchFamily="82" charset="0"/>
              </a:rPr>
            </a:br>
            <a:r>
              <a:rPr lang="en-US" sz="4800" dirty="0">
                <a:latin typeface="Algerian" panose="04020705040A02060702" pitchFamily="82" charset="0"/>
              </a:rPr>
              <a:t> and</a:t>
            </a:r>
            <a:br>
              <a:rPr lang="en-US" sz="4800" dirty="0">
                <a:latin typeface="Algerian" panose="04020705040A02060702" pitchFamily="82" charset="0"/>
              </a:rPr>
            </a:br>
            <a:r>
              <a:rPr lang="en-US" sz="4800" dirty="0">
                <a:latin typeface="Algerian" panose="04020705040A02060702" pitchFamily="82" charset="0"/>
              </a:rPr>
              <a:t> Economic tool to handle data</a:t>
            </a:r>
          </a:p>
        </p:txBody>
      </p:sp>
    </p:spTree>
    <p:extLst>
      <p:ext uri="{BB962C8B-B14F-4D97-AF65-F5344CB8AC3E}">
        <p14:creationId xmlns:p14="http://schemas.microsoft.com/office/powerpoint/2010/main" val="173668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F2B71-149C-55E4-2A39-45E407FCAA60}"/>
              </a:ext>
            </a:extLst>
          </p:cNvPr>
          <p:cNvSpPr>
            <a:spLocks noGrp="1"/>
          </p:cNvSpPr>
          <p:nvPr>
            <p:ph type="title"/>
          </p:nvPr>
        </p:nvSpPr>
        <p:spPr>
          <a:xfrm>
            <a:off x="765820" y="2348880"/>
            <a:ext cx="10157354" cy="1397000"/>
          </a:xfrm>
        </p:spPr>
        <p:txBody>
          <a:bodyPr/>
          <a:lstStyle/>
          <a:p>
            <a:r>
              <a:rPr lang="en-US" b="1" dirty="0"/>
              <a:t>      </a:t>
            </a:r>
            <a:r>
              <a:rPr lang="en-US" sz="5400" b="1" dirty="0"/>
              <a:t>ECONOMIC THEORIZING</a:t>
            </a:r>
            <a:endParaRPr lang="en-IN" sz="5400" b="1" dirty="0"/>
          </a:p>
        </p:txBody>
      </p:sp>
    </p:spTree>
    <p:extLst>
      <p:ext uri="{BB962C8B-B14F-4D97-AF65-F5344CB8AC3E}">
        <p14:creationId xmlns:p14="http://schemas.microsoft.com/office/powerpoint/2010/main" val="4127174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CA1CEE5-4C16-1C27-3F7D-3CC05CE34532}"/>
              </a:ext>
            </a:extLst>
          </p:cNvPr>
          <p:cNvPicPr>
            <a:picLocks noGrp="1" noChangeAspect="1"/>
          </p:cNvPicPr>
          <p:nvPr>
            <p:ph idx="1"/>
          </p:nvPr>
        </p:nvPicPr>
        <p:blipFill>
          <a:blip r:embed="rId2"/>
          <a:stretch>
            <a:fillRect/>
          </a:stretch>
        </p:blipFill>
        <p:spPr>
          <a:xfrm>
            <a:off x="837828" y="836712"/>
            <a:ext cx="10441160" cy="5616623"/>
          </a:xfrm>
        </p:spPr>
      </p:pic>
    </p:spTree>
    <p:extLst>
      <p:ext uri="{BB962C8B-B14F-4D97-AF65-F5344CB8AC3E}">
        <p14:creationId xmlns:p14="http://schemas.microsoft.com/office/powerpoint/2010/main" val="12482741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D74B727-50E4-662D-EC7D-DC970B65D484}"/>
              </a:ext>
            </a:extLst>
          </p:cNvPr>
          <p:cNvPicPr>
            <a:picLocks noGrp="1" noChangeAspect="1"/>
          </p:cNvPicPr>
          <p:nvPr>
            <p:ph idx="1"/>
          </p:nvPr>
        </p:nvPicPr>
        <p:blipFill>
          <a:blip r:embed="rId2"/>
          <a:stretch>
            <a:fillRect/>
          </a:stretch>
        </p:blipFill>
        <p:spPr>
          <a:xfrm>
            <a:off x="1485900" y="620688"/>
            <a:ext cx="9217024" cy="5904656"/>
          </a:xfrm>
          <a:prstGeom prst="rect">
            <a:avLst/>
          </a:prstGeom>
        </p:spPr>
      </p:pic>
    </p:spTree>
    <p:extLst>
      <p:ext uri="{BB962C8B-B14F-4D97-AF65-F5344CB8AC3E}">
        <p14:creationId xmlns:p14="http://schemas.microsoft.com/office/powerpoint/2010/main" val="254103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b="1" dirty="0"/>
              <a:t>      ECONOMIC THEORIZING</a:t>
            </a:r>
          </a:p>
        </p:txBody>
      </p:sp>
      <p:sp>
        <p:nvSpPr>
          <p:cNvPr id="3" name="Content Placeholder 2"/>
          <p:cNvSpPr>
            <a:spLocks noGrp="1"/>
          </p:cNvSpPr>
          <p:nvPr>
            <p:ph idx="1"/>
          </p:nvPr>
        </p:nvSpPr>
        <p:spPr/>
        <p:txBody>
          <a:bodyPr>
            <a:normAutofit/>
          </a:bodyPr>
          <a:lstStyle/>
          <a:p>
            <a:pPr algn="just"/>
            <a:r>
              <a:rPr lang="en-US" sz="3200" i="0" dirty="0">
                <a:solidFill>
                  <a:srgbClr val="202124"/>
                </a:solidFill>
                <a:effectLst/>
                <a:latin typeface="Arial" panose="020B0604020202020204" pitchFamily="34" charset="0"/>
                <a:cs typeface="Arial" panose="020B0604020202020204" pitchFamily="34" charset="0"/>
              </a:rPr>
              <a:t>Economic theorizing begins with economists' considerations of the main features of a certain class of phenomena. These considerations are then formulated into theoretical models. Economic laws are derived from these models and are then used to explain the class of phenomena in question.</a:t>
            </a:r>
          </a:p>
          <a:p>
            <a:pPr algn="just"/>
            <a:r>
              <a:rPr lang="en-US" sz="3200" i="0" dirty="0">
                <a:solidFill>
                  <a:srgbClr val="202124"/>
                </a:solidFill>
                <a:effectLst/>
                <a:latin typeface="Arial" panose="020B0604020202020204" pitchFamily="34" charset="0"/>
                <a:cs typeface="Arial" panose="020B0604020202020204" pitchFamily="34" charset="0"/>
              </a:rPr>
              <a:t>Its purpose is to analyze and explain the behavior of the various economic elements.</a:t>
            </a:r>
          </a:p>
          <a:p>
            <a:pPr marL="0" indent="0" algn="just">
              <a:buNone/>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307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860" y="2564904"/>
            <a:ext cx="10157354" cy="1397000"/>
          </a:xfrm>
        </p:spPr>
        <p:txBody>
          <a:bodyPr>
            <a:normAutofit/>
          </a:bodyPr>
          <a:lstStyle/>
          <a:p>
            <a:r>
              <a:rPr lang="en-US" sz="6000" b="1" dirty="0"/>
              <a:t>ECONOMIC RELATIONSHIP</a:t>
            </a:r>
          </a:p>
        </p:txBody>
      </p:sp>
    </p:spTree>
    <p:extLst>
      <p:ext uri="{BB962C8B-B14F-4D97-AF65-F5344CB8AC3E}">
        <p14:creationId xmlns:p14="http://schemas.microsoft.com/office/powerpoint/2010/main" val="310570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95172DD-953C-7B87-6716-D47AB341721C}"/>
              </a:ext>
            </a:extLst>
          </p:cNvPr>
          <p:cNvPicPr>
            <a:picLocks noGrp="1" noChangeAspect="1"/>
          </p:cNvPicPr>
          <p:nvPr>
            <p:ph idx="1"/>
          </p:nvPr>
        </p:nvPicPr>
        <p:blipFill>
          <a:blip r:embed="rId2"/>
          <a:stretch>
            <a:fillRect/>
          </a:stretch>
        </p:blipFill>
        <p:spPr>
          <a:xfrm>
            <a:off x="2422004" y="1052736"/>
            <a:ext cx="7632848" cy="4968551"/>
          </a:xfrm>
        </p:spPr>
      </p:pic>
    </p:spTree>
    <p:extLst>
      <p:ext uri="{BB962C8B-B14F-4D97-AF65-F5344CB8AC3E}">
        <p14:creationId xmlns:p14="http://schemas.microsoft.com/office/powerpoint/2010/main" val="548385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486B-F172-54B0-67D9-FC53866911B9}"/>
              </a:ext>
            </a:extLst>
          </p:cNvPr>
          <p:cNvSpPr>
            <a:spLocks noGrp="1"/>
          </p:cNvSpPr>
          <p:nvPr>
            <p:ph type="title"/>
          </p:nvPr>
        </p:nvSpPr>
        <p:spPr/>
        <p:txBody>
          <a:bodyPr/>
          <a:lstStyle/>
          <a:p>
            <a:r>
              <a:rPr lang="en-US" b="1" dirty="0"/>
              <a:t>                    MEANING</a:t>
            </a:r>
            <a:endParaRPr lang="en-IN" b="1" dirty="0"/>
          </a:p>
        </p:txBody>
      </p:sp>
      <p:sp>
        <p:nvSpPr>
          <p:cNvPr id="3" name="Content Placeholder 2">
            <a:extLst>
              <a:ext uri="{FF2B5EF4-FFF2-40B4-BE49-F238E27FC236}">
                <a16:creationId xmlns:a16="http://schemas.microsoft.com/office/drawing/2014/main" id="{12FC06FC-B393-50AE-14D4-C270420D47DC}"/>
              </a:ext>
            </a:extLst>
          </p:cNvPr>
          <p:cNvSpPr>
            <a:spLocks noGrp="1"/>
          </p:cNvSpPr>
          <p:nvPr>
            <p:ph idx="1"/>
          </p:nvPr>
        </p:nvSpPr>
        <p:spPr/>
        <p:txBody>
          <a:bodyPr>
            <a:normAutofit fontScale="92500" lnSpcReduction="20000"/>
          </a:bodyPr>
          <a:lstStyle/>
          <a:p>
            <a:pPr algn="just"/>
            <a:r>
              <a:rPr lang="en-US" sz="3000" i="0" dirty="0">
                <a:solidFill>
                  <a:srgbClr val="202124"/>
                </a:solidFill>
                <a:effectLst/>
                <a:latin typeface="arial" panose="020B0604020202020204" pitchFamily="34" charset="0"/>
              </a:rPr>
              <a:t>Economic Relationship means any financial dealing, business relationship or client representation.</a:t>
            </a:r>
          </a:p>
          <a:p>
            <a:pPr algn="just"/>
            <a:r>
              <a:rPr lang="en-US" sz="3000" i="0" dirty="0">
                <a:solidFill>
                  <a:srgbClr val="202124"/>
                </a:solidFill>
                <a:effectLst/>
                <a:latin typeface="arial" panose="020B0604020202020204" pitchFamily="34" charset="0"/>
              </a:rPr>
              <a:t>Here's a list of five key economic relationships for a business owner or policymaker to remember when making decisions:</a:t>
            </a:r>
          </a:p>
          <a:p>
            <a:pPr algn="just">
              <a:buFont typeface="Wingdings" panose="05000000000000000000" pitchFamily="2" charset="2"/>
              <a:buChar char="ü"/>
            </a:pPr>
            <a:r>
              <a:rPr lang="en-US" sz="3000" b="1" i="0" dirty="0">
                <a:solidFill>
                  <a:srgbClr val="202124"/>
                </a:solidFill>
                <a:effectLst/>
                <a:latin typeface="arial" panose="020B0604020202020204" pitchFamily="34" charset="0"/>
              </a:rPr>
              <a:t>Price Up, Demand Down. </a:t>
            </a:r>
            <a:endParaRPr lang="en-US" sz="3000" b="1" dirty="0">
              <a:solidFill>
                <a:srgbClr val="202124"/>
              </a:solidFill>
              <a:latin typeface="arial" panose="020B0604020202020204" pitchFamily="34" charset="0"/>
            </a:endParaRPr>
          </a:p>
          <a:p>
            <a:pPr algn="just">
              <a:buFont typeface="Wingdings" panose="05000000000000000000" pitchFamily="2" charset="2"/>
              <a:buChar char="ü"/>
            </a:pPr>
            <a:r>
              <a:rPr lang="en-US" sz="3000" b="1" i="0" dirty="0">
                <a:solidFill>
                  <a:srgbClr val="202124"/>
                </a:solidFill>
                <a:effectLst/>
                <a:latin typeface="arial" panose="020B0604020202020204" pitchFamily="34" charset="0"/>
              </a:rPr>
              <a:t>Price Up, Supply Up.</a:t>
            </a:r>
          </a:p>
          <a:p>
            <a:pPr algn="just">
              <a:buFont typeface="Wingdings" panose="05000000000000000000" pitchFamily="2" charset="2"/>
              <a:buChar char="ü"/>
            </a:pPr>
            <a:r>
              <a:rPr lang="en-US" sz="3000" b="1" i="0" dirty="0">
                <a:solidFill>
                  <a:srgbClr val="202124"/>
                </a:solidFill>
                <a:effectLst/>
                <a:latin typeface="arial" panose="020B0604020202020204" pitchFamily="34" charset="0"/>
              </a:rPr>
              <a:t>Interest Rates Up, Investment Up.</a:t>
            </a:r>
          </a:p>
          <a:p>
            <a:pPr algn="just">
              <a:buFont typeface="Wingdings" panose="05000000000000000000" pitchFamily="2" charset="2"/>
              <a:buChar char="ü"/>
            </a:pPr>
            <a:r>
              <a:rPr lang="en-US" sz="3000" b="1" i="0" dirty="0">
                <a:solidFill>
                  <a:srgbClr val="202124"/>
                </a:solidFill>
                <a:effectLst/>
                <a:latin typeface="arial" panose="020B0604020202020204" pitchFamily="34" charset="0"/>
              </a:rPr>
              <a:t>Money Supply Up, Interest Rates Down.</a:t>
            </a:r>
          </a:p>
          <a:p>
            <a:pPr algn="just">
              <a:buFont typeface="Wingdings" panose="05000000000000000000" pitchFamily="2" charset="2"/>
              <a:buChar char="ü"/>
            </a:pPr>
            <a:r>
              <a:rPr lang="en-US" sz="3000" b="1" i="0" dirty="0">
                <a:solidFill>
                  <a:srgbClr val="202124"/>
                </a:solidFill>
                <a:effectLst/>
                <a:latin typeface="arial" panose="020B0604020202020204" pitchFamily="34" charset="0"/>
              </a:rPr>
              <a:t>Economic Growth Up, Unemployment Down.</a:t>
            </a:r>
          </a:p>
          <a:p>
            <a:endParaRPr lang="en-US" sz="3600" i="0" dirty="0">
              <a:solidFill>
                <a:srgbClr val="202124"/>
              </a:solidFill>
              <a:effectLst/>
              <a:latin typeface="arial" panose="020B0604020202020204" pitchFamily="34" charset="0"/>
            </a:endParaRPr>
          </a:p>
          <a:p>
            <a:pPr marL="0" indent="0">
              <a:buNone/>
            </a:pPr>
            <a:endParaRPr lang="en-IN" sz="3600" dirty="0"/>
          </a:p>
        </p:txBody>
      </p:sp>
    </p:spTree>
    <p:extLst>
      <p:ext uri="{BB962C8B-B14F-4D97-AF65-F5344CB8AC3E}">
        <p14:creationId xmlns:p14="http://schemas.microsoft.com/office/powerpoint/2010/main" val="200962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dirty="0">
                <a:latin typeface="Algerian" panose="04020705040A02060702" pitchFamily="82" charset="0"/>
              </a:rPr>
              <a:t>   Economic tool to handle data</a:t>
            </a:r>
            <a:endParaRPr lang="en-US" dirty="0"/>
          </a:p>
        </p:txBody>
      </p:sp>
      <p:pic>
        <p:nvPicPr>
          <p:cNvPr id="1026" name="Picture 2" descr="Major Tools For Economic Analysis (Explained) - Bscholarly">
            <a:extLst>
              <a:ext uri="{FF2B5EF4-FFF2-40B4-BE49-F238E27FC236}">
                <a16:creationId xmlns:a16="http://schemas.microsoft.com/office/drawing/2014/main" id="{C80E3F0C-5222-9B76-07A6-D829A471EA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7948" y="1772816"/>
            <a:ext cx="8280920" cy="48245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618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gn="just"/>
            <a:r>
              <a:rPr lang="en-US" sz="2800" b="0" i="0" dirty="0">
                <a:solidFill>
                  <a:srgbClr val="3A3A3A"/>
                </a:solidFill>
                <a:effectLst/>
                <a:latin typeface="Arial" panose="020B0604020202020204" pitchFamily="34" charset="0"/>
                <a:cs typeface="Arial" panose="020B0604020202020204" pitchFamily="34" charset="0"/>
              </a:rPr>
              <a:t>Economic tools (or tools of economic analysis) facilitate the preparation of a robust decision. </a:t>
            </a:r>
          </a:p>
          <a:p>
            <a:pPr algn="just"/>
            <a:r>
              <a:rPr lang="en-US" sz="2800" b="0" i="0" dirty="0">
                <a:solidFill>
                  <a:srgbClr val="3A3A3A"/>
                </a:solidFill>
                <a:effectLst/>
                <a:latin typeface="Arial" panose="020B0604020202020204" pitchFamily="34" charset="0"/>
                <a:cs typeface="Arial" panose="020B0604020202020204" pitchFamily="34" charset="0"/>
              </a:rPr>
              <a:t>An economic assessment basically deals with the following: benefits and costs, usually measured in monetary terms.</a:t>
            </a:r>
          </a:p>
          <a:p>
            <a:pPr algn="just"/>
            <a:r>
              <a:rPr lang="en-US" sz="2800" i="0" dirty="0">
                <a:solidFill>
                  <a:srgbClr val="202124"/>
                </a:solidFill>
                <a:effectLst/>
                <a:latin typeface="arial" panose="020B0604020202020204" pitchFamily="34" charset="0"/>
              </a:rPr>
              <a:t>Economists use many tools to test their models, including case studies, lab-based experimental studies, and statistics.</a:t>
            </a: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976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25860" y="980728"/>
            <a:ext cx="10157354" cy="4470400"/>
          </a:xfrm>
        </p:spPr>
        <p:txBody>
          <a:bodyPr>
            <a:normAutofit fontScale="70000" lnSpcReduction="20000"/>
          </a:bodyPr>
          <a:lstStyle/>
          <a:p>
            <a:pPr marL="0" indent="0" algn="l">
              <a:buNone/>
            </a:pPr>
            <a:r>
              <a:rPr lang="en-US" sz="4600" b="1" dirty="0">
                <a:solidFill>
                  <a:srgbClr val="202124"/>
                </a:solidFill>
                <a:latin typeface="arial" panose="020B0604020202020204" pitchFamily="34" charset="0"/>
              </a:rPr>
              <a:t>           </a:t>
            </a:r>
            <a:r>
              <a:rPr lang="en-US" sz="4600" b="1" i="0" u="sng" dirty="0">
                <a:solidFill>
                  <a:srgbClr val="202124"/>
                </a:solidFill>
                <a:effectLst/>
                <a:latin typeface="arial" panose="020B0604020202020204" pitchFamily="34" charset="0"/>
              </a:rPr>
              <a:t>Basic Tools in Economic Analysis</a:t>
            </a:r>
          </a:p>
          <a:p>
            <a:pPr algn="just">
              <a:buFont typeface="Arial" panose="020B0604020202020204" pitchFamily="34" charset="0"/>
              <a:buChar char="•"/>
            </a:pPr>
            <a:r>
              <a:rPr lang="en-US" sz="2900" b="1" i="0" dirty="0">
                <a:solidFill>
                  <a:srgbClr val="202124"/>
                </a:solidFill>
                <a:effectLst/>
                <a:latin typeface="arial" panose="020B0604020202020204" pitchFamily="34" charset="0"/>
              </a:rPr>
              <a:t>VARIABLES.(The measurable variables in economics are quantity, quality and distribution.)</a:t>
            </a:r>
          </a:p>
          <a:p>
            <a:pPr algn="just">
              <a:buFont typeface="Arial" panose="020B0604020202020204" pitchFamily="34" charset="0"/>
              <a:buChar char="•"/>
            </a:pPr>
            <a:r>
              <a:rPr lang="en-US" sz="2900" b="1" i="0" dirty="0">
                <a:solidFill>
                  <a:srgbClr val="202124"/>
                </a:solidFill>
                <a:effectLst/>
                <a:latin typeface="arial" panose="020B0604020202020204" pitchFamily="34" charset="0"/>
              </a:rPr>
              <a:t>CETERIS PARIBUS.(This commonly-used phrase stands for 'all other things being unchanged or constant’.)</a:t>
            </a:r>
          </a:p>
          <a:p>
            <a:pPr algn="just">
              <a:buFont typeface="Arial" panose="020B0604020202020204" pitchFamily="34" charset="0"/>
              <a:buChar char="•"/>
            </a:pPr>
            <a:r>
              <a:rPr lang="en-US" sz="2900" b="1" i="0" dirty="0">
                <a:solidFill>
                  <a:srgbClr val="202124"/>
                </a:solidFill>
                <a:effectLst/>
                <a:latin typeface="arial" panose="020B0604020202020204" pitchFamily="34" charset="0"/>
              </a:rPr>
              <a:t>FUNCTION.(Function means the dependent variable is determined by the independent variable(s).)</a:t>
            </a:r>
          </a:p>
          <a:p>
            <a:pPr algn="just">
              <a:buFont typeface="Arial" panose="020B0604020202020204" pitchFamily="34" charset="0"/>
              <a:buChar char="•"/>
            </a:pPr>
            <a:r>
              <a:rPr lang="en-US" sz="2900" b="1" i="0" dirty="0">
                <a:solidFill>
                  <a:srgbClr val="202124"/>
                </a:solidFill>
                <a:effectLst/>
                <a:latin typeface="arial" panose="020B0604020202020204" pitchFamily="34" charset="0"/>
              </a:rPr>
              <a:t>EQUATIONS.(An equation is made up of two expressions connected by an equal sign. )</a:t>
            </a:r>
          </a:p>
          <a:p>
            <a:pPr algn="just">
              <a:buFont typeface="Arial" panose="020B0604020202020204" pitchFamily="34" charset="0"/>
              <a:buChar char="•"/>
            </a:pPr>
            <a:r>
              <a:rPr lang="en-US" sz="2900" b="1" i="0" dirty="0">
                <a:solidFill>
                  <a:srgbClr val="202124"/>
                </a:solidFill>
                <a:effectLst/>
                <a:latin typeface="arial" panose="020B0604020202020204" pitchFamily="34" charset="0"/>
              </a:rPr>
              <a:t>IDENTITIES. (the idea that people make economic choices.)</a:t>
            </a:r>
          </a:p>
          <a:p>
            <a:pPr algn="just">
              <a:buFont typeface="Arial" panose="020B0604020202020204" pitchFamily="34" charset="0"/>
              <a:buChar char="•"/>
            </a:pPr>
            <a:r>
              <a:rPr lang="en-US" sz="2900" b="1" i="0" dirty="0">
                <a:solidFill>
                  <a:srgbClr val="202124"/>
                </a:solidFill>
                <a:effectLst/>
                <a:latin typeface="arial" panose="020B0604020202020204" pitchFamily="34" charset="0"/>
              </a:rPr>
              <a:t>GRAPHS AND DIAGRAMS.(They show the relationship between two variables in economics.)</a:t>
            </a:r>
          </a:p>
          <a:p>
            <a:endParaRPr lang="en-US" dirty="0"/>
          </a:p>
        </p:txBody>
      </p:sp>
    </p:spTree>
    <p:extLst>
      <p:ext uri="{BB962C8B-B14F-4D97-AF65-F5344CB8AC3E}">
        <p14:creationId xmlns:p14="http://schemas.microsoft.com/office/powerpoint/2010/main" val="3596815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Summary</a:t>
            </a:r>
          </a:p>
        </p:txBody>
      </p:sp>
      <p:sp>
        <p:nvSpPr>
          <p:cNvPr id="3" name="Content Placeholder 2"/>
          <p:cNvSpPr>
            <a:spLocks noGrp="1"/>
          </p:cNvSpPr>
          <p:nvPr>
            <p:ph idx="1"/>
          </p:nvPr>
        </p:nvSpPr>
        <p:spPr/>
        <p:txBody>
          <a:bodyPr>
            <a:normAutofit/>
          </a:bodyPr>
          <a:lstStyle/>
          <a:p>
            <a:pPr algn="just"/>
            <a:r>
              <a:rPr lang="en-US" b="1" i="0" dirty="0">
                <a:solidFill>
                  <a:srgbClr val="202124"/>
                </a:solidFill>
                <a:effectLst/>
                <a:latin typeface="Arial" panose="020B0604020202020204" pitchFamily="34" charset="0"/>
                <a:cs typeface="Arial" panose="020B0604020202020204" pitchFamily="34" charset="0"/>
              </a:rPr>
              <a:t>An economic theory is a set of concepts and principles that define how various economies work. </a:t>
            </a:r>
          </a:p>
          <a:p>
            <a:pPr algn="just"/>
            <a:r>
              <a:rPr lang="en-US" b="1" i="0" dirty="0">
                <a:solidFill>
                  <a:srgbClr val="202124"/>
                </a:solidFill>
                <a:effectLst/>
                <a:latin typeface="Arial" panose="020B0604020202020204" pitchFamily="34" charset="0"/>
                <a:cs typeface="Arial" panose="020B0604020202020204" pitchFamily="34" charset="0"/>
              </a:rPr>
              <a:t>Economic relations are one fundamental key for understanding the workings of an economy.</a:t>
            </a:r>
          </a:p>
          <a:p>
            <a:pPr algn="just"/>
            <a:r>
              <a:rPr lang="en-US" b="1" i="0" dirty="0">
                <a:solidFill>
                  <a:srgbClr val="16191F"/>
                </a:solidFill>
                <a:effectLst/>
                <a:latin typeface="Arial" panose="020B0604020202020204" pitchFamily="34" charset="0"/>
                <a:cs typeface="Arial" panose="020B0604020202020204" pitchFamily="34" charset="0"/>
              </a:rPr>
              <a:t>As more and more data is generated and collected, data analysis requires scalable, flexible, and high performing tools to provide insights in a timely fashion.</a:t>
            </a:r>
            <a:endParaRPr lang="en-US" b="1" i="0" dirty="0">
              <a:solidFill>
                <a:srgbClr val="202124"/>
              </a:solidFill>
              <a:effectLst/>
              <a:latin typeface="Arial" panose="020B0604020202020204" pitchFamily="34" charset="0"/>
              <a:cs typeface="Arial" panose="020B0604020202020204" pitchFamily="34" charset="0"/>
            </a:endParaRPr>
          </a:p>
          <a:p>
            <a:pPr algn="just"/>
            <a:r>
              <a:rPr lang="en-US" b="1" i="0" dirty="0">
                <a:solidFill>
                  <a:srgbClr val="202124"/>
                </a:solidFill>
                <a:effectLst/>
                <a:latin typeface="Arial" panose="020B0604020202020204" pitchFamily="34" charset="0"/>
                <a:cs typeface="Arial" panose="020B0604020202020204" pitchFamily="34" charset="0"/>
              </a:rPr>
              <a:t>In conclusion, all economic systems are designed to manage the production, consumption, and distribution of goods and services.</a:t>
            </a:r>
            <a:endParaRPr lang="en-US"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4067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Welcome back to school presentation">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Welcome back to school presentation.potx" id="{CE426E4B-AEF0-4DB0-AA06-9B9EF2E62E1A}" vid="{EB2D3276-CBF5-48AD-B47E-C2D79CA4C86F}"/>
    </a:ext>
  </a:extLst>
</a:theme>
</file>

<file path=ppt/theme/theme2.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Welcome back to school</Template>
  <TotalTime>67</TotalTime>
  <Words>396</Words>
  <Application>Microsoft Office PowerPoint</Application>
  <PresentationFormat>Custom</PresentationFormat>
  <Paragraphs>31</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Algerian</vt:lpstr>
      <vt:lpstr>Arial</vt:lpstr>
      <vt:lpstr>Arial</vt:lpstr>
      <vt:lpstr>Century Gothic</vt:lpstr>
      <vt:lpstr>Wingdings</vt:lpstr>
      <vt:lpstr>Welcome back to school presentation</vt:lpstr>
      <vt:lpstr>ECONOMIC Theorizing, Economic Relationship  and  Economic tool to handle data</vt:lpstr>
      <vt:lpstr>      ECONOMIC THEORIZING</vt:lpstr>
      <vt:lpstr>PowerPoint Presentation</vt:lpstr>
      <vt:lpstr>PowerPoint Presentation</vt:lpstr>
      <vt:lpstr>      ECONOMIC THEORIZING</vt:lpstr>
      <vt:lpstr>ECONOMIC RELATIONSHIP</vt:lpstr>
      <vt:lpstr>PowerPoint Presentation</vt:lpstr>
      <vt:lpstr>                    MEANING</vt:lpstr>
      <vt:lpstr>   Economic tool to handle data</vt:lpstr>
      <vt:lpstr>PowerPoint Presentation</vt:lpstr>
      <vt:lpstr>PowerPoint Presentation</vt:lpstr>
      <vt:lpstr>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ECONOMIC Theorizing, Economic Relationship  and  Economic tool to handle data</dc:title>
  <dc:creator>Amrita Priyam EMP107</dc:creator>
  <cp:lastModifiedBy>Amrita Priyam EMP107</cp:lastModifiedBy>
  <cp:revision>14</cp:revision>
  <dcterms:created xsi:type="dcterms:W3CDTF">2023-02-13T14:35:12Z</dcterms:created>
  <dcterms:modified xsi:type="dcterms:W3CDTF">2023-02-13T15:42:52Z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74068100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